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91440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1C7293">
              <a:alpha val="18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46920" y="91440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1C7293">
              <a:alpha val="18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91440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1C7293">
              <a:alpha val="18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178308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1C7293">
              <a:alpha val="18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46920" y="178308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1C7293">
              <a:alpha val="18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0" y="178308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1C7293">
              <a:alpha val="18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265176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1C7293">
              <a:alpha val="18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46920" y="265176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1C7293">
              <a:alpha val="18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0" y="265176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1C7293">
              <a:alpha val="18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352044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1C7293">
              <a:alpha val="18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46920" y="352044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1C7293">
              <a:alpha val="18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0" y="352044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1C7293">
              <a:alpha val="18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1965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ENGINEERING — HANDS-ON LAB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33172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Kafka Practice Lab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822960" y="34290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Hadoop to Kafka: brokers, topics, producers, consumers,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consumer groups — with extra command examples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663440"/>
            <a:ext cx="932688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663440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Hadoop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920240" y="466344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20240" y="46634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ZooKeeper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319272" y="4663440"/>
            <a:ext cx="932688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9272" y="4663440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416552" y="4663440"/>
            <a:ext cx="932688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16552" y="4663440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13832" y="4663440"/>
            <a:ext cx="1133856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4663440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812280" y="4663440"/>
            <a:ext cx="1133856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12280" y="4663440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10728" y="4663440"/>
            <a:ext cx="932688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10728" y="4663440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22960" y="6126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F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 ·  Apache Kafka + ZooKeeper  ·  Hadoop-based environment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pipeline we'll practice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at a time — verify each layer before moving to the next.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065A82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1901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" y="2157984"/>
            <a:ext cx="23865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Hadoop (HDFS + YARN)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55848" y="182880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065A82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65576" y="1901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65576" y="2157984"/>
            <a:ext cx="23865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ZooKeeper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63056" y="182880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065A82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72784" y="1901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72784" y="2157984"/>
            <a:ext cx="23865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Broker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70264" y="182880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79992" y="1901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079992" y="2157984"/>
            <a:ext cx="23865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Topic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044952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" y="3118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" y="3374136"/>
            <a:ext cx="23865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Topics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55848" y="3044952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65576" y="3118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65576" y="3374136"/>
            <a:ext cx="23865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Topic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63056" y="3044952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72784" y="3118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72784" y="3374136"/>
            <a:ext cx="23865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 → Send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970264" y="3044952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079992" y="3118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079992" y="3374136"/>
            <a:ext cx="23865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→ Read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261104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065A82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8368" y="43342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4590288"/>
            <a:ext cx="23865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Groups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355848" y="4261104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465576" y="43342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465576" y="4590288"/>
            <a:ext cx="23865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Topic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163056" y="4261104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272784" y="43342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72784" y="4590288"/>
            <a:ext cx="23865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Kafka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970264" y="4261104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9079992" y="43342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079992" y="4590288"/>
            <a:ext cx="23865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ZooKeeper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Practice Lab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the Hadoop environment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Java, Hadoop, and running daemons before touching Kafka.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943600" cy="3703320"/>
          </a:xfrm>
          <a:prstGeom prst="roundRect">
            <a:avLst>
              <a:gd name="adj" fmla="val 2222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71907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71907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171907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166420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hadoop-check.sh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4672" y="2057400"/>
            <a:ext cx="543153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7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Confirm Java is installed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java -version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7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Confirm Hadoop is installed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hadoop version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7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Confirm Hadoop daemons are up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jps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NameNode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DataNode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SecondaryNameNode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ResourceManager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NodeManager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720840" y="1554480"/>
            <a:ext cx="493776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95160" y="17373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nothing is running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995160" y="2148840"/>
            <a:ext cx="4389120" cy="137160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96328" y="231343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6" name="Shape 14"/>
          <p:cNvSpPr/>
          <p:nvPr/>
        </p:nvSpPr>
        <p:spPr>
          <a:xfrm>
            <a:off x="7415784" y="231343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5"/>
          <p:cNvSpPr/>
          <p:nvPr/>
        </p:nvSpPr>
        <p:spPr>
          <a:xfrm>
            <a:off x="7635240" y="231343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8" name="Text 16"/>
          <p:cNvSpPr/>
          <p:nvPr/>
        </p:nvSpPr>
        <p:spPr>
          <a:xfrm>
            <a:off x="7818120" y="225856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start-hadoop.sh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251192" y="2651760"/>
            <a:ext cx="3877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start-dfs.sh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start-yarn.sh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jps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995160" y="37033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example — check ports in use:
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netstat -tulpn | grep -E "9000|8088"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Practice Lab · Step 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ZooKeeper (Terminal 1)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88720" y="1051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brokers register themselves in ZooKeeper — it must be up first.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6309360" cy="3383280"/>
          </a:xfrm>
          <a:prstGeom prst="roundRect">
            <a:avLst>
              <a:gd name="adj" fmla="val 2432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71907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71907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171907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16642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terminal-1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4672" y="2057400"/>
            <a:ext cx="5797296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~/kafka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  config  libs  logs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7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Start the ZooKeeper server — keep this terminal open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bin/zookeeper-server-start.sh config/zookeeper.properties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...binding to port 0.0.0.0/0.0.0.0:2181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040880" y="1554480"/>
            <a:ext cx="461772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0" y="1737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 examples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0" y="2148840"/>
            <a:ext cx="4114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1F33"/>
                </a:solidFill>
              </a:rPr>
              <a:t>Change the client port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 clientPort=2181 in config/zookeeper.properties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1F33"/>
                </a:solidFill>
              </a:rPr>
              <a:t>Run ZooKeeper in the background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bin/zookeeper-server-start.sh -daemon config/zookeeper.properties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1F33"/>
                </a:solidFill>
              </a:rPr>
              <a:t>View ZooKeeper logs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 -f logs/zookeeper.out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Practice Lab · Step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ZooKeeper (Terminal 2)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00" cy="1920240"/>
          </a:xfrm>
          <a:prstGeom prst="roundRect">
            <a:avLst>
              <a:gd name="adj" fmla="val 4286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58191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58191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58191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52704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terminal-2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4672" y="1920240"/>
            <a:ext cx="49743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jps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QuorumPeerMain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548640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3703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QuorumPeerMain confirms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1148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ZooKeeper is up and coordinating cluster metadata: broker registration, controller election, and topic/partition configuration — all of which Kafka reads from ZooKeeper before it can accept connections.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09360" y="1417320"/>
            <a:ext cx="534924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0" y="16002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 example — inspect ZooKeeper directly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83680" y="2011680"/>
            <a:ext cx="4800600" cy="4160520"/>
          </a:xfrm>
          <a:prstGeom prst="roundRect">
            <a:avLst>
              <a:gd name="adj" fmla="val 1978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84848" y="217627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6"/>
          <p:cNvSpPr/>
          <p:nvPr/>
        </p:nvSpPr>
        <p:spPr>
          <a:xfrm>
            <a:off x="7004304" y="217627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7"/>
          <p:cNvSpPr/>
          <p:nvPr/>
        </p:nvSpPr>
        <p:spPr>
          <a:xfrm>
            <a:off x="7223760" y="217627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8"/>
          <p:cNvSpPr/>
          <p:nvPr/>
        </p:nvSpPr>
        <p:spPr>
          <a:xfrm>
            <a:off x="7406640" y="2121408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zookeeper-shell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839712" y="2514600"/>
            <a:ext cx="428853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bin/zookeeper-shell.sh localhost:2181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7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List registered broker IDs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/brokers/ids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[0]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7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See broker connection details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/brokers/ids/0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{"listener_security_protocol_map"...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7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List all topics known to ZK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/brokers/topics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Practice Lab · Step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&amp; verify the Kafka broker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669280" cy="2103120"/>
          </a:xfrm>
          <a:prstGeom prst="roundRect">
            <a:avLst>
              <a:gd name="adj" fmla="val 3913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53619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53619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53619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4813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terminal-2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4672" y="1874520"/>
            <a:ext cx="51572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7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Terminal 2 — start the broker, keep it open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~/kafka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bin/kafka-server-start.sh config/server.properties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...[KafkaServer id=0] started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5669280" cy="2788920"/>
          </a:xfrm>
          <a:prstGeom prst="roundRect">
            <a:avLst>
              <a:gd name="adj" fmla="val 2951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9808" y="382219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3" name="Shape 11"/>
          <p:cNvSpPr/>
          <p:nvPr/>
        </p:nvSpPr>
        <p:spPr>
          <a:xfrm>
            <a:off x="969264" y="382219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2"/>
          <p:cNvSpPr/>
          <p:nvPr/>
        </p:nvSpPr>
        <p:spPr>
          <a:xfrm>
            <a:off x="1188720" y="382219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37673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terminal-3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04672" y="4160520"/>
            <a:ext cx="515721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7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Terminal 3 — confirm broker + ZooKeeper + Hadoop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jps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Kafka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QuorumPeerMain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NameNode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DataNode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SecondaryNameNode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ResourceManager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NodeManager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83680" y="1371600"/>
            <a:ext cx="5074920" cy="1005840"/>
          </a:xfrm>
          <a:prstGeom prst="roundRect">
            <a:avLst>
              <a:gd name="adj" fmla="val 7273"/>
            </a:avLst>
          </a:prstGeom>
          <a:solidFill>
            <a:srgbClr val="1C7293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0" y="1371600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Hadoop — HDFS + YARN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938260" y="2377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76"/>
                </a:solidFill>
              </a:rPr>
              <a:t>▼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583680" y="2651760"/>
            <a:ext cx="5074920" cy="1005840"/>
          </a:xfrm>
          <a:prstGeom prst="roundRect">
            <a:avLst>
              <a:gd name="adj" fmla="val 7273"/>
            </a:avLst>
          </a:prstGeom>
          <a:solidFill>
            <a:srgbClr val="065A82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0" y="2651760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ZooKeeper — coordination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938260" y="3657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76"/>
                </a:solidFill>
              </a:rPr>
              <a:t>▼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583680" y="3931920"/>
            <a:ext cx="5074920" cy="1005840"/>
          </a:xfrm>
          <a:prstGeom prst="roundRect">
            <a:avLst>
              <a:gd name="adj" fmla="val 7273"/>
            </a:avLst>
          </a:prstGeom>
          <a:solidFill>
            <a:srgbClr val="0B1F33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583680" y="3931920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Kafka Broker — :9092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583680" y="525780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example — verify port is listening: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83680" y="5577840"/>
            <a:ext cx="5074920" cy="1188720"/>
          </a:xfrm>
          <a:prstGeom prst="roundRect">
            <a:avLst>
              <a:gd name="adj" fmla="val 6923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84848" y="574243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8" name="Shape 26"/>
          <p:cNvSpPr/>
          <p:nvPr/>
        </p:nvSpPr>
        <p:spPr>
          <a:xfrm>
            <a:off x="7004304" y="574243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9" name="Shape 27"/>
          <p:cNvSpPr/>
          <p:nvPr/>
        </p:nvSpPr>
        <p:spPr>
          <a:xfrm>
            <a:off x="7223760" y="574243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30" name="Text 28"/>
          <p:cNvSpPr/>
          <p:nvPr/>
        </p:nvSpPr>
        <p:spPr>
          <a:xfrm>
            <a:off x="7406640" y="568756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check-broker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839712" y="6080760"/>
            <a:ext cx="4562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nc -zv localhost 9092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 to localhost 9092 port succeeded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Practice Lab · Steps 4–5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topics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806440" cy="2331720"/>
          </a:xfrm>
          <a:prstGeom prst="roundRect">
            <a:avLst>
              <a:gd name="adj" fmla="val 3529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53619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53619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53619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481328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create-orders.sh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4672" y="1874520"/>
            <a:ext cx="52943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7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Base exercise: topic "orders"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bin/kafka-topics.sh --create \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--bootstrap-server localhost:9092 \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--topic orders \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--partitions 3 \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--replication-factor 1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 topic orders.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580644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40233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orders — layout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4434840"/>
            <a:ext cx="1691640" cy="1737360"/>
          </a:xfrm>
          <a:prstGeom prst="roundRect">
            <a:avLst>
              <a:gd name="adj" fmla="val 4324"/>
            </a:avLst>
          </a:prstGeom>
          <a:solidFill>
            <a:srgbClr val="1C7293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4434840"/>
            <a:ext cx="1691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0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651760" y="4434840"/>
            <a:ext cx="1691640" cy="1737360"/>
          </a:xfrm>
          <a:prstGeom prst="roundRect">
            <a:avLst>
              <a:gd name="adj" fmla="val 4324"/>
            </a:avLst>
          </a:prstGeom>
          <a:solidFill>
            <a:srgbClr val="1C7293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651760" y="4434840"/>
            <a:ext cx="1691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1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480560" y="4434840"/>
            <a:ext cx="1691640" cy="1737360"/>
          </a:xfrm>
          <a:prstGeom prst="roundRect">
            <a:avLst>
              <a:gd name="adj" fmla="val 4324"/>
            </a:avLst>
          </a:prstGeom>
          <a:solidFill>
            <a:srgbClr val="1C7293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80560" y="4434840"/>
            <a:ext cx="1691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2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83680" y="1371600"/>
            <a:ext cx="5074920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0" y="1554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 examples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858000" y="1965960"/>
            <a:ext cx="4572000" cy="4434840"/>
          </a:xfrm>
          <a:prstGeom prst="roundRect">
            <a:avLst>
              <a:gd name="adj" fmla="val 1856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059168" y="213055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3" name="Shape 21"/>
          <p:cNvSpPr/>
          <p:nvPr/>
        </p:nvSpPr>
        <p:spPr>
          <a:xfrm>
            <a:off x="7278624" y="213055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4" name="Shape 22"/>
          <p:cNvSpPr/>
          <p:nvPr/>
        </p:nvSpPr>
        <p:spPr>
          <a:xfrm>
            <a:off x="7498080" y="213055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5" name="Text 23"/>
          <p:cNvSpPr/>
          <p:nvPr/>
        </p:nvSpPr>
        <p:spPr>
          <a:xfrm>
            <a:off x="7680960" y="20756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more-topics.sh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114032" y="2468880"/>
            <a:ext cx="405993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7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"payments" — more partitions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bin/kafka-topics.sh --create \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--bootstrap-server localhost:9092 \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--topic payments \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--partitions 5 --replication-factor 1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7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"app-logs" — with a retention config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bin/kafka-topics.sh --create \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--bootstrap-server localhost:9092 \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--topic app-logs --partitions 2 \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--replication-factor 1 \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--config retention.ms=3600000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7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 partitions later (can't decrease)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bin/kafka-topics.sh --alter \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--bootstrap-server localhost:9092 \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--topic orders --partitions 6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Practice Lab · Step 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&amp; describe topics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669280" cy="1417320"/>
          </a:xfrm>
          <a:prstGeom prst="roundRect">
            <a:avLst>
              <a:gd name="adj" fmla="val 5806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53619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53619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53619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4813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list-topics.sh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4672" y="1874520"/>
            <a:ext cx="5157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bin/kafka-topics.sh --list \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--bootstrap-server localhost:9092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5669280" cy="3337560"/>
          </a:xfrm>
          <a:prstGeom prst="roundRect">
            <a:avLst>
              <a:gd name="adj" fmla="val 2466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9808" y="313639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3" name="Shape 11"/>
          <p:cNvSpPr/>
          <p:nvPr/>
        </p:nvSpPr>
        <p:spPr>
          <a:xfrm>
            <a:off x="969264" y="313639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2"/>
          <p:cNvSpPr/>
          <p:nvPr/>
        </p:nvSpPr>
        <p:spPr>
          <a:xfrm>
            <a:off x="1188720" y="313639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30815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describe-topic.sh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04672" y="3474720"/>
            <a:ext cx="515721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bin/kafka-topics.sh --describe \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--bootstrap-server localhost:9092 \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--topic orders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Topic: orders   PartitionCount: 3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ReplicationFactor: 1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Partition: 0  Leader: 0  Replicas: 0  Isr: 0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Partition: 1  Leader: 0  Replicas: 0  Isr: 0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Partition: 2  Leader: 0  Replicas: 0  Isr: 0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83680" y="1371600"/>
            <a:ext cx="507492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0" y="1554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 examples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0" y="1965960"/>
            <a:ext cx="4572000" cy="4160520"/>
          </a:xfrm>
          <a:prstGeom prst="roundRect">
            <a:avLst>
              <a:gd name="adj" fmla="val 1978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59168" y="213055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1" name="Shape 19"/>
          <p:cNvSpPr/>
          <p:nvPr/>
        </p:nvSpPr>
        <p:spPr>
          <a:xfrm>
            <a:off x="7278624" y="213055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2" name="Shape 20"/>
          <p:cNvSpPr/>
          <p:nvPr/>
        </p:nvSpPr>
        <p:spPr>
          <a:xfrm>
            <a:off x="7498080" y="213055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3" name="Text 21"/>
          <p:cNvSpPr/>
          <p:nvPr/>
        </p:nvSpPr>
        <p:spPr>
          <a:xfrm>
            <a:off x="7680960" y="20756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topic-inspect.sh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114032" y="2468880"/>
            <a:ext cx="405993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7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Describe every topic at once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bin/kafka-topics.sh --describe \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--bootstrap-server localhost:9092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7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Only under-replicated partitions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bin/kafka-topics.sh --describe \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--bootstrap-server localhost:9092 \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--under-replicated-partitions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7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Read a topic's configs only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bin/kafka-configs.sh --describe \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--bootstrap-server localhost:9092 \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--entity-type topics \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--entity-name orders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Practice Lab · Steps 7–8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Producer — send messages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669280" cy="2743200"/>
          </a:xfrm>
          <a:prstGeom prst="roundRect">
            <a:avLst>
              <a:gd name="adj" fmla="val 3000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53619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53619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53619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4813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producer.sh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4672" y="1874520"/>
            <a:ext cx="515721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bin/kafka-console-producer.sh \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--bootstrap-server localhost:9092 \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--topic orders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&gt;Order 1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&gt;Order 2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&gt;Order 3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&gt;Order 4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7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Ctrl+C to exit the producer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297680"/>
            <a:ext cx="56692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4434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Producer → Broker → Topic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80060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48006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377440" y="4800600"/>
            <a:ext cx="27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76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651760" y="480060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651760" y="48006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Broker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206240" y="4800600"/>
            <a:ext cx="27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76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80560" y="480060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F2A65A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480560" y="48006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topic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83680" y="1371600"/>
            <a:ext cx="5074920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58000" y="1554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 examples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858000" y="1965960"/>
            <a:ext cx="4572000" cy="4434840"/>
          </a:xfrm>
          <a:prstGeom prst="roundRect">
            <a:avLst>
              <a:gd name="adj" fmla="val 1856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059168" y="213055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5" name="Shape 23"/>
          <p:cNvSpPr/>
          <p:nvPr/>
        </p:nvSpPr>
        <p:spPr>
          <a:xfrm>
            <a:off x="7278624" y="213055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6" name="Shape 24"/>
          <p:cNvSpPr/>
          <p:nvPr/>
        </p:nvSpPr>
        <p:spPr>
          <a:xfrm>
            <a:off x="7498080" y="213055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7" name="Text 25"/>
          <p:cNvSpPr/>
          <p:nvPr/>
        </p:nvSpPr>
        <p:spPr>
          <a:xfrm>
            <a:off x="7680960" y="20756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producer-extra.sh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114032" y="2468880"/>
            <a:ext cx="405993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7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Send key:value pairs (key sets partition)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bin/kafka-console-producer.sh \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--bootstrap-server localhost:9092 \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--topic orders \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--property "parse.key=true" \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--property "key.separator=:"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&gt;1001:Order 1 - Cairo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&gt;1002:Order 2 - Giza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7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Produce a JSON message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&gt;{"order_id":1003,"amount":49.90}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7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Produce from a file instead of typing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bin/kafka-console-producer.sh \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--bootstrap-server localhost:9092 \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--topic orders &lt; orders.txt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Practice Lab · Step 9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 — read messages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669280" cy="2926080"/>
          </a:xfrm>
          <a:prstGeom prst="roundRect">
            <a:avLst>
              <a:gd name="adj" fmla="val 2813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53619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53619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53619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4813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consumer.sh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4672" y="1874520"/>
            <a:ext cx="5157216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bin/kafka-console-consumer.sh \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--bootstrap-server localhost:9092 \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--topic orders \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--from-beginning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1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2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3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4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7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Ctrl+C to stop consuming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480560"/>
            <a:ext cx="56692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46177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--from-beginning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493776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every retained message in the topic, starting at the earliest offset. Without this flag, the consumer only sees messages produced after it connects.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0" y="1371600"/>
            <a:ext cx="5074920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0" y="1554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 examples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58000" y="1965960"/>
            <a:ext cx="4572000" cy="3703320"/>
          </a:xfrm>
          <a:prstGeom prst="roundRect">
            <a:avLst>
              <a:gd name="adj" fmla="val 2222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59168" y="213055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6"/>
          <p:cNvSpPr/>
          <p:nvPr/>
        </p:nvSpPr>
        <p:spPr>
          <a:xfrm>
            <a:off x="7278624" y="213055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7"/>
          <p:cNvSpPr/>
          <p:nvPr/>
        </p:nvSpPr>
        <p:spPr>
          <a:xfrm>
            <a:off x="7498080" y="213055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8"/>
          <p:cNvSpPr/>
          <p:nvPr/>
        </p:nvSpPr>
        <p:spPr>
          <a:xfrm>
            <a:off x="7680960" y="20756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consumer-extra.sh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114032" y="2468880"/>
            <a:ext cx="405993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7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Show keys alongside values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bin/kafka-console-consumer.sh \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--bootstrap-server localhost:9092 \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--topic orders --from-beginning \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--property print.key=true \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--property key.separator=: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1001:Order 1 - Cairo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7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Stop automatically after N messages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bin/kafka-console-consumer.sh \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--bootstrap-server localhost:9092 \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--topic orders --from-beginning \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--max-messages 2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858000" y="5806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useful: add --partition 0 to read a single partition only.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Practice Lab · Step 10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STEPS 10 &amp; 11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 groups in action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consumer group splits a topic's partitions across its members — no two members in the same group read the same partition.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669280" cy="2560320"/>
          </a:xfrm>
          <a:prstGeom prst="roundRect">
            <a:avLst>
              <a:gd name="adj" fmla="val 3214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9339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99339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99339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9385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consumer-group.sh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4672" y="2331720"/>
            <a:ext cx="515721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7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Join topic "orders" (3 partitions) as group "billing"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bin/kafka-console-consumer.sh \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--bootstrap-server localhost:9092 \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--topic orders \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--group billing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7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 this again in a 2nd terminal — same group.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7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Kafka rebalances: partitions split across both.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572000"/>
            <a:ext cx="56692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46817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Rebalanced assignment (2 consumers, 3 partitions)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5010912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1C7293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5010912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A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0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29000" y="5010912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065A82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29000" y="5010912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B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0" y="1828800"/>
            <a:ext cx="507492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 examples — kafka-consumer-groups.sh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58000" y="2377440"/>
            <a:ext cx="4572000" cy="3977640"/>
          </a:xfrm>
          <a:prstGeom prst="roundRect">
            <a:avLst>
              <a:gd name="adj" fmla="val 2069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59168" y="254203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1" name="Shape 19"/>
          <p:cNvSpPr/>
          <p:nvPr/>
        </p:nvSpPr>
        <p:spPr>
          <a:xfrm>
            <a:off x="7278624" y="254203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2" name="Shape 20"/>
          <p:cNvSpPr/>
          <p:nvPr/>
        </p:nvSpPr>
        <p:spPr>
          <a:xfrm>
            <a:off x="7498080" y="254203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3" name="Text 21"/>
          <p:cNvSpPr/>
          <p:nvPr/>
        </p:nvSpPr>
        <p:spPr>
          <a:xfrm>
            <a:off x="7680960" y="24871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consumer-groups.sh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114032" y="2880360"/>
            <a:ext cx="405993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7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List groups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bin/kafka-consumer-groups.sh --list \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--bootstrap-server localhost:9092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billing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7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Describe lag per partition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bin/kafka-consumer-groups.sh \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--describe --group billing \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--bootstrap-server localhost:9092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   PARTITION  LAG  CONSUMER-ID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  0          0    consumer-A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  2          0    consumer-B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8580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offsets: --reset-offsets --to-earliest --execute (add --group/--topic).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Practice Lab · Consumer Groups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 a topic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806440" cy="3977640"/>
          </a:xfrm>
          <a:prstGeom prst="roundRect">
            <a:avLst>
              <a:gd name="adj" fmla="val 2069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53619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53619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53619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481328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delete-topic.sh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4672" y="1874520"/>
            <a:ext cx="529437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7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Confirm it exists first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bin/kafka-topics.sh --list \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--bootstrap-server localhost:9092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7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Delete it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bin/kafka-topics.sh --delete \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--bootstrap-server localhost:9092 \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--topic orders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 orders is marked for deletion.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bin/kafka-topics.sh --list \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--bootstrap-server localhost:9092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(orders no longer listed)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83680" y="1371600"/>
            <a:ext cx="5074920" cy="3108960"/>
          </a:xfrm>
          <a:prstGeom prst="roundRect">
            <a:avLst>
              <a:gd name="adj" fmla="val 2353"/>
            </a:avLst>
          </a:prstGeom>
          <a:solidFill>
            <a:srgbClr val="F2A65A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0" y="1554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Gotcha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0" y="201168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deletion silently fails, delete.topic.enable may be set to false in config/server.properties. Set it to true and restart the broker for --delete to actually remove the topic instead of just marking it.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0" y="4663440"/>
            <a:ext cx="50749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0" y="4846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example — delete more than one topic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58000" y="51663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t in payments app-logs; do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bin/kafka-topics.sh --delete --bootstrap-server localhost:9092 --topic $t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Practice Lab · Step 11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Kafka commands worth knowing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36192"/>
            <a:ext cx="1051560" cy="576072"/>
          </a:xfrm>
          <a:prstGeom prst="roundRect">
            <a:avLst>
              <a:gd name="adj" fmla="val 9524"/>
            </a:avLst>
          </a:prstGeom>
          <a:solidFill>
            <a:srgbClr val="065A82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536192"/>
            <a:ext cx="1051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920240" y="1481328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bin/kafka-configs.sh --alter --entity-type topics --entity-name orders --add-config retention.ms=60000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321040" y="1481328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 topic's retention on the fly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11109960" cy="822960"/>
          </a:xfrm>
          <a:prstGeom prst="roundRect">
            <a:avLst>
              <a:gd name="adj" fmla="val 8889"/>
            </a:avLst>
          </a:prstGeom>
          <a:solidFill>
            <a:srgbClr val="F0F4F7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2496312"/>
            <a:ext cx="1051560" cy="576072"/>
          </a:xfrm>
          <a:prstGeom prst="roundRect">
            <a:avLst>
              <a:gd name="adj" fmla="val 9524"/>
            </a:avLst>
          </a:prstGeom>
          <a:solidFill>
            <a:srgbClr val="065A82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2496312"/>
            <a:ext cx="1051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920240" y="2441448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bin/kafka-consumer-groups.sh --bootstrap-server localhost:9092 --describe --all-groups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321040" y="2441448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lag across every consumer group at once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11109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456432"/>
            <a:ext cx="1051560" cy="576072"/>
          </a:xfrm>
          <a:prstGeom prst="roundRect">
            <a:avLst>
              <a:gd name="adj" fmla="val 9524"/>
            </a:avLst>
          </a:prstGeom>
          <a:solidFill>
            <a:srgbClr val="065A82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3456432"/>
            <a:ext cx="1051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920240" y="3401568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bin/kafka-topics.sh --describe --bootstrap-server localhost:9092 --topic orders --exclude-internal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321040" y="3401568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internal __consumer_offsets-style topics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297680"/>
            <a:ext cx="11109960" cy="822960"/>
          </a:xfrm>
          <a:prstGeom prst="roundRect">
            <a:avLst>
              <a:gd name="adj" fmla="val 8889"/>
            </a:avLst>
          </a:prstGeom>
          <a:solidFill>
            <a:srgbClr val="F0F4F7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" y="4416552"/>
            <a:ext cx="1051560" cy="576072"/>
          </a:xfrm>
          <a:prstGeom prst="roundRect">
            <a:avLst>
              <a:gd name="adj" fmla="val 9524"/>
            </a:avLst>
          </a:prstGeom>
          <a:solidFill>
            <a:srgbClr val="065A82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" y="4416552"/>
            <a:ext cx="1051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920240" y="4361688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bin/kafka-producer-perf-test.sh --topic orders --num-records 10000 --record-size 100 --throughput -1 --producer-props bootstrap.servers=localhost:9092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321040" y="4361688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Load-test throughput for a topic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257800"/>
            <a:ext cx="11109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5800" y="5376672"/>
            <a:ext cx="1051560" cy="576072"/>
          </a:xfrm>
          <a:prstGeom prst="roundRect">
            <a:avLst>
              <a:gd name="adj" fmla="val 9524"/>
            </a:avLst>
          </a:prstGeom>
          <a:solidFill>
            <a:srgbClr val="065A82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5800" y="5376672"/>
            <a:ext cx="1051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920240" y="5321808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bin/kafka-broker-api-versions.sh --bootstrap-server localhost:9092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321040" y="5321808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broker is reachable and its API version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Practice Lab · Bonus Commands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SHUTDOWN — STEPS 12 &amp; 13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 Kafka, then ZooKeeper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 layers down in reverse order of how they started — Kafka depends on ZooKeeper, not the other way around.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13055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213055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213055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2075688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stop-kafka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4672" y="2468880"/>
            <a:ext cx="48371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7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 the Kafka broker terminal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Ctrl+C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jps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(Kafka no longer listed)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40690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12 — Stop Kafka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63640" y="19659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64808" y="213055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4" name="Shape 12"/>
          <p:cNvSpPr/>
          <p:nvPr/>
        </p:nvSpPr>
        <p:spPr>
          <a:xfrm>
            <a:off x="6684264" y="213055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5" name="Shape 13"/>
          <p:cNvSpPr/>
          <p:nvPr/>
        </p:nvSpPr>
        <p:spPr>
          <a:xfrm>
            <a:off x="6903720" y="213055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6" name="Text 14"/>
          <p:cNvSpPr/>
          <p:nvPr/>
        </p:nvSpPr>
        <p:spPr>
          <a:xfrm>
            <a:off x="7086600" y="2075688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stop-zookeeper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19672" y="2468880"/>
            <a:ext cx="48371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7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 the ZooKeeper terminal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Ctrl+C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jps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(QuorumPeerMain no longer listed)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63640" y="40690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13 — Stop ZooKeeper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70916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" y="48463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example — clean shutdown script for both: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51389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bin/kafka-server-stop.sh   # graceful stop without needing the original terminal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bin/zookeeper-server-stop.sh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Practice Lab · Steps 12–13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One-page command cheat-sheet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361188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37160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" y="1938528"/>
            <a:ext cx="32826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030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start-dfs.sh / start-yarn.sh</a:t>
            </a:r>
            <a:endParaRPr lang="en-US" sz="103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030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bin/zookeeper-server-start.sh config/zookeeper.properties</a:t>
            </a:r>
            <a:endParaRPr lang="en-US" sz="103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030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bin/kafka-server-start.sh config/server.properties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4343400" y="13716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3400" y="1371600"/>
            <a:ext cx="361188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80560" y="137160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07992" y="1938528"/>
            <a:ext cx="32826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030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--create --partitions N --replication-factor N</a:t>
            </a:r>
            <a:endParaRPr lang="en-US" sz="103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030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--list</a:t>
            </a:r>
            <a:endParaRPr lang="en-US" sz="103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030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--describe</a:t>
            </a:r>
            <a:endParaRPr lang="en-US" sz="103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030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--alter --partitions N</a:t>
            </a:r>
            <a:endParaRPr lang="en-US" sz="103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030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--delete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8138160" y="13716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38160" y="1371600"/>
            <a:ext cx="361188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75320" y="137160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02752" y="1938528"/>
            <a:ext cx="32826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030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kafka-console-producer.sh --topic &lt;t&gt;</a:t>
            </a:r>
            <a:endParaRPr lang="en-US" sz="103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030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--property parse.key=true</a:t>
            </a:r>
            <a:endParaRPr lang="en-US" sz="103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030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--property key.separator=: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931920"/>
            <a:ext cx="361188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39319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3232" y="4498848"/>
            <a:ext cx="32826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030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kafka-console-consumer.sh --topic &lt;t&gt; --from-beginning</a:t>
            </a:r>
            <a:endParaRPr lang="en-US" sz="103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030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--group &lt;g&gt;</a:t>
            </a:r>
            <a:endParaRPr lang="en-US" sz="103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030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--max-messages N</a:t>
            </a:r>
            <a:endParaRPr lang="en-US" sz="103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030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--partition N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4343400" y="393192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43400" y="3931920"/>
            <a:ext cx="361188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480560" y="39319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 Groups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07992" y="4498848"/>
            <a:ext cx="32826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030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kafka-consumer-groups.sh --list</a:t>
            </a:r>
            <a:endParaRPr lang="en-US" sz="103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030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--describe --group &lt;g&gt;</a:t>
            </a:r>
            <a:endParaRPr lang="en-US" sz="103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030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--reset-offsets --to-earliest --execute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8138160" y="393192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38160" y="3931920"/>
            <a:ext cx="361188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 w="12700">
            <a:solidFill>
              <a:srgbClr val="E3E9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6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75320" y="39319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Shutdown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02752" y="4498848"/>
            <a:ext cx="32826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030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Ctrl+C in each terminal (reverse start order)</a:t>
            </a:r>
            <a:endParaRPr lang="en-US" sz="103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030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kafka-server-stop.sh</a:t>
            </a:r>
            <a:endParaRPr lang="en-US" sz="103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030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zookeeper-server-stop.sh</a:t>
            </a:r>
            <a:endParaRPr lang="en-US" sz="103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Practice Lab · Cheat Sheet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822960"/>
            <a:ext cx="685800" cy="685800"/>
          </a:xfrm>
          <a:prstGeom prst="roundRect">
            <a:avLst>
              <a:gd name="adj" fmla="val 8000"/>
            </a:avLst>
          </a:prstGeom>
          <a:solidFill>
            <a:srgbClr val="1C7293">
              <a:alpha val="16000"/>
            </a:srgbClr>
          </a:solidFill>
          <a:ln w="12700">
            <a:solidFill>
              <a:srgbClr val="1C7293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822960"/>
            <a:ext cx="685800" cy="685800"/>
          </a:xfrm>
          <a:prstGeom prst="roundRect">
            <a:avLst>
              <a:gd name="adj" fmla="val 8000"/>
            </a:avLst>
          </a:prstGeom>
          <a:solidFill>
            <a:srgbClr val="1C7293">
              <a:alpha val="16000"/>
            </a:srgbClr>
          </a:solidFill>
          <a:ln w="12700">
            <a:solidFill>
              <a:srgbClr val="1C7293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822960"/>
            <a:ext cx="685800" cy="685800"/>
          </a:xfrm>
          <a:prstGeom prst="roundRect">
            <a:avLst>
              <a:gd name="adj" fmla="val 8000"/>
            </a:avLst>
          </a:prstGeom>
          <a:solidFill>
            <a:srgbClr val="1C7293">
              <a:alpha val="16000"/>
            </a:srgbClr>
          </a:solidFill>
          <a:ln w="12700">
            <a:solidFill>
              <a:srgbClr val="1C7293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0" y="1645920"/>
            <a:ext cx="685800" cy="685800"/>
          </a:xfrm>
          <a:prstGeom prst="roundRect">
            <a:avLst>
              <a:gd name="adj" fmla="val 8000"/>
            </a:avLst>
          </a:prstGeom>
          <a:solidFill>
            <a:srgbClr val="1C7293">
              <a:alpha val="16000"/>
            </a:srgbClr>
          </a:solidFill>
          <a:ln w="12700">
            <a:solidFill>
              <a:srgbClr val="1C7293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0" y="1645920"/>
            <a:ext cx="685800" cy="685800"/>
          </a:xfrm>
          <a:prstGeom prst="roundRect">
            <a:avLst>
              <a:gd name="adj" fmla="val 8000"/>
            </a:avLst>
          </a:prstGeom>
          <a:solidFill>
            <a:srgbClr val="1C7293">
              <a:alpha val="16000"/>
            </a:srgbClr>
          </a:solidFill>
          <a:ln w="12700">
            <a:solidFill>
              <a:srgbClr val="1C7293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0" y="1645920"/>
            <a:ext cx="685800" cy="685800"/>
          </a:xfrm>
          <a:prstGeom prst="roundRect">
            <a:avLst>
              <a:gd name="adj" fmla="val 8000"/>
            </a:avLst>
          </a:prstGeom>
          <a:solidFill>
            <a:srgbClr val="1C7293">
              <a:alpha val="16000"/>
            </a:srgbClr>
          </a:solidFill>
          <a:ln w="12700">
            <a:solidFill>
              <a:srgbClr val="1C7293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9680" y="2468880"/>
            <a:ext cx="685800" cy="685800"/>
          </a:xfrm>
          <a:prstGeom prst="roundRect">
            <a:avLst>
              <a:gd name="adj" fmla="val 8000"/>
            </a:avLst>
          </a:prstGeom>
          <a:solidFill>
            <a:srgbClr val="1C7293">
              <a:alpha val="16000"/>
            </a:srgbClr>
          </a:solidFill>
          <a:ln w="12700">
            <a:solidFill>
              <a:srgbClr val="1C7293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0" y="2468880"/>
            <a:ext cx="685800" cy="685800"/>
          </a:xfrm>
          <a:prstGeom prst="roundRect">
            <a:avLst>
              <a:gd name="adj" fmla="val 8000"/>
            </a:avLst>
          </a:prstGeom>
          <a:solidFill>
            <a:srgbClr val="1C7293">
              <a:alpha val="16000"/>
            </a:srgbClr>
          </a:solidFill>
          <a:ln w="12700">
            <a:solidFill>
              <a:srgbClr val="1C7293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0" y="2468880"/>
            <a:ext cx="685800" cy="685800"/>
          </a:xfrm>
          <a:prstGeom prst="roundRect">
            <a:avLst>
              <a:gd name="adj" fmla="val 8000"/>
            </a:avLst>
          </a:prstGeom>
          <a:solidFill>
            <a:srgbClr val="1C7293">
              <a:alpha val="16000"/>
            </a:srgbClr>
          </a:solidFill>
          <a:ln w="12700">
            <a:solidFill>
              <a:srgbClr val="1C7293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69680" y="3291840"/>
            <a:ext cx="685800" cy="685800"/>
          </a:xfrm>
          <a:prstGeom prst="roundRect">
            <a:avLst>
              <a:gd name="adj" fmla="val 8000"/>
            </a:avLst>
          </a:prstGeom>
          <a:solidFill>
            <a:srgbClr val="1C7293">
              <a:alpha val="16000"/>
            </a:srgbClr>
          </a:solidFill>
          <a:ln w="12700">
            <a:solidFill>
              <a:srgbClr val="1C7293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92640" y="3291840"/>
            <a:ext cx="685800" cy="685800"/>
          </a:xfrm>
          <a:prstGeom prst="roundRect">
            <a:avLst>
              <a:gd name="adj" fmla="val 8000"/>
            </a:avLst>
          </a:prstGeom>
          <a:solidFill>
            <a:srgbClr val="1C7293">
              <a:alpha val="16000"/>
            </a:srgbClr>
          </a:solidFill>
          <a:ln w="12700">
            <a:solidFill>
              <a:srgbClr val="1C7293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0" y="3291840"/>
            <a:ext cx="685800" cy="685800"/>
          </a:xfrm>
          <a:prstGeom prst="roundRect">
            <a:avLst>
              <a:gd name="adj" fmla="val 8000"/>
            </a:avLst>
          </a:prstGeom>
          <a:solidFill>
            <a:srgbClr val="1C7293">
              <a:alpha val="16000"/>
            </a:srgbClr>
          </a:solidFill>
          <a:ln w="12700">
            <a:solidFill>
              <a:srgbClr val="1C7293">
                <a:alpha val="3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1280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16459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Step 1 only</a:t>
            </a:r>
            <a:endParaRPr lang="en-US" sz="3400" dirty="0"/>
          </a:p>
        </p:txBody>
      </p:sp>
      <p:sp>
        <p:nvSpPr>
          <p:cNvPr id="16" name="Shape 14"/>
          <p:cNvSpPr/>
          <p:nvPr/>
        </p:nvSpPr>
        <p:spPr>
          <a:xfrm>
            <a:off x="822960" y="2606040"/>
            <a:ext cx="6675120" cy="1737360"/>
          </a:xfrm>
          <a:prstGeom prst="roundRect">
            <a:avLst>
              <a:gd name="adj" fmla="val 4737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24128" y="277063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6"/>
          <p:cNvSpPr/>
          <p:nvPr/>
        </p:nvSpPr>
        <p:spPr>
          <a:xfrm>
            <a:off x="1243584" y="277063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7"/>
          <p:cNvSpPr/>
          <p:nvPr/>
        </p:nvSpPr>
        <p:spPr>
          <a:xfrm>
            <a:off x="1463040" y="277063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8"/>
          <p:cNvSpPr/>
          <p:nvPr/>
        </p:nvSpPr>
        <p:spPr>
          <a:xfrm>
            <a:off x="1645920" y="271576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your-turn.sh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78992" y="3108960"/>
            <a:ext cx="61630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java -version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hadoop version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jps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22960" y="45720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me the output of jps, and I'll guide you through starting ZooKeeper → Kafka → creating a topic → producer → consumer → deleting the topic → shutting everything down.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Practice Lab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2026-08-17T11:30:31Z</dcterms:created>
  <dcterms:modified xsi:type="dcterms:W3CDTF">2026-08-17T11:30:31Z</dcterms:modified>
</cp:coreProperties>
</file>