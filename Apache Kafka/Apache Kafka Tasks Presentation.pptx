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15" autoAdjust="0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12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94904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349240"/>
            <a:ext cx="3291840" cy="128016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605272"/>
            <a:ext cx="2834640" cy="128016"/>
          </a:xfrm>
          <a:prstGeom prst="rect">
            <a:avLst/>
          </a:prstGeom>
          <a:solidFill>
            <a:srgbClr val="E85D2A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5861304"/>
            <a:ext cx="2377440" cy="128016"/>
          </a:xfrm>
          <a:prstGeom prst="rect">
            <a:avLst/>
          </a:prstGeom>
          <a:solidFill>
            <a:srgbClr val="D6501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3317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KAFKA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2697480"/>
            <a:ext cx="96012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58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Distributed Event</a:t>
            </a:r>
            <a:endParaRPr lang="en-US" sz="5400" dirty="0"/>
          </a:p>
          <a:p>
            <a:pPr marL="0" indent="0">
              <a:lnSpc>
                <a:spcPts val="58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Streaming Platform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548640" y="46177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9B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concepts, architecture, cluster operations, and troubleshooting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646920" y="1005840"/>
            <a:ext cx="1920240" cy="384048"/>
          </a:xfrm>
          <a:prstGeom prst="rect">
            <a:avLst/>
          </a:prstGeom>
          <a:solidFill>
            <a:srgbClr val="232733"/>
          </a:solidFill>
          <a:ln w="12700">
            <a:solidFill>
              <a:srgbClr val="3A3F4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46920" y="1463040"/>
            <a:ext cx="1920240" cy="384048"/>
          </a:xfrm>
          <a:prstGeom prst="rect">
            <a:avLst/>
          </a:prstGeom>
          <a:solidFill>
            <a:srgbClr val="232733"/>
          </a:solidFill>
          <a:ln w="12700">
            <a:solidFill>
              <a:srgbClr val="3A3F4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46920" y="1920240"/>
            <a:ext cx="1920240" cy="384048"/>
          </a:xfrm>
          <a:prstGeom prst="rect">
            <a:avLst/>
          </a:prstGeom>
          <a:solidFill>
            <a:srgbClr val="232733"/>
          </a:solidFill>
          <a:ln w="12700">
            <a:solidFill>
              <a:srgbClr val="3A3F4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46920" y="2514600"/>
            <a:ext cx="1920240" cy="384048"/>
          </a:xfrm>
          <a:prstGeom prst="rect">
            <a:avLst/>
          </a:prstGeom>
          <a:solidFill>
            <a:srgbClr val="FF6B35"/>
          </a:solidFill>
          <a:ln w="12700">
            <a:solidFill>
              <a:srgbClr val="3A3F4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46920" y="2971800"/>
            <a:ext cx="1920240" cy="384048"/>
          </a:xfrm>
          <a:prstGeom prst="rect">
            <a:avLst/>
          </a:prstGeom>
          <a:solidFill>
            <a:srgbClr val="FF6B35"/>
          </a:solidFill>
          <a:ln w="12700">
            <a:solidFill>
              <a:srgbClr val="3A3F4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646920" y="3429000"/>
            <a:ext cx="1920240" cy="384048"/>
          </a:xfrm>
          <a:prstGeom prst="rect">
            <a:avLst/>
          </a:prstGeom>
          <a:solidFill>
            <a:srgbClr val="FF6B35"/>
          </a:solidFill>
          <a:ln w="12700">
            <a:solidFill>
              <a:srgbClr val="3A3F4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646920" y="3886200"/>
            <a:ext cx="1920240" cy="384048"/>
          </a:xfrm>
          <a:prstGeom prst="rect">
            <a:avLst/>
          </a:prstGeom>
          <a:solidFill>
            <a:srgbClr val="FF6B35"/>
          </a:solidFill>
          <a:ln w="12700">
            <a:solidFill>
              <a:srgbClr val="3A3F4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46920" y="4480560"/>
            <a:ext cx="1920240" cy="384048"/>
          </a:xfrm>
          <a:prstGeom prst="rect">
            <a:avLst/>
          </a:prstGeom>
          <a:solidFill>
            <a:srgbClr val="232733"/>
          </a:solidFill>
          <a:ln w="12700">
            <a:solidFill>
              <a:srgbClr val="3A3F4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646920" y="4937760"/>
            <a:ext cx="1920240" cy="384048"/>
          </a:xfrm>
          <a:prstGeom prst="rect">
            <a:avLst/>
          </a:prstGeom>
          <a:solidFill>
            <a:srgbClr val="232733"/>
          </a:solidFill>
          <a:ln w="12700">
            <a:solidFill>
              <a:srgbClr val="3A3F4D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D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Apache Kafka?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02920" cy="502920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5" name="Image 0" descr="icon_stre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797" y="1941957"/>
            <a:ext cx="276606" cy="27660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828800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open-source, distributed event streaming platform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548640" y="2606040"/>
            <a:ext cx="502920" cy="502920"/>
          </a:xfrm>
          <a:prstGeom prst="ellipse">
            <a:avLst/>
          </a:prstGeom>
          <a:solidFill>
            <a:srgbClr val="1A1D29"/>
          </a:solidFill>
          <a:ln/>
        </p:spPr>
      </p:sp>
      <p:pic>
        <p:nvPicPr>
          <p:cNvPr id="8" name="Image 1" descr="icon_exchan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797" y="2719197"/>
            <a:ext cx="276606" cy="27660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80160" y="2606040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 publish, store, and process streams of records in real time</a:t>
            </a:r>
            <a:endParaRPr lang="en-US" sz="1550" dirty="0"/>
          </a:p>
        </p:txBody>
      </p:sp>
      <p:sp>
        <p:nvSpPr>
          <p:cNvPr id="10" name="Shape 6"/>
          <p:cNvSpPr/>
          <p:nvPr/>
        </p:nvSpPr>
        <p:spPr>
          <a:xfrm>
            <a:off x="548640" y="3383280"/>
            <a:ext cx="502920" cy="502920"/>
          </a:xfrm>
          <a:prstGeom prst="ellipse">
            <a:avLst/>
          </a:prstGeom>
          <a:solidFill>
            <a:srgbClr val="1A1D29"/>
          </a:solidFill>
          <a:ln/>
        </p:spPr>
      </p:sp>
      <p:pic>
        <p:nvPicPr>
          <p:cNvPr id="11" name="Image 2" descr="icon_netwo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797" y="3496437"/>
            <a:ext cx="276606" cy="27660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80160" y="3383280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real-time pipelines, analytics, and event-driven systems</a:t>
            </a:r>
            <a:endParaRPr lang="en-US" sz="1550" dirty="0"/>
          </a:p>
        </p:txBody>
      </p:sp>
      <p:sp>
        <p:nvSpPr>
          <p:cNvPr id="13" name="Shape 8"/>
          <p:cNvSpPr/>
          <p:nvPr/>
        </p:nvSpPr>
        <p:spPr>
          <a:xfrm>
            <a:off x="548640" y="4160520"/>
            <a:ext cx="502920" cy="502920"/>
          </a:xfrm>
          <a:prstGeom prst="ellipse">
            <a:avLst/>
          </a:prstGeom>
          <a:solidFill>
            <a:srgbClr val="1A1D29"/>
          </a:solidFill>
          <a:ln/>
        </p:spPr>
      </p:sp>
      <p:pic>
        <p:nvPicPr>
          <p:cNvPr id="14" name="Image 3" descr="icon_shiel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797" y="4273677"/>
            <a:ext cx="276606" cy="27660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80160" y="4160520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as a fault-tolerant cluster of servers (brokers)</a:t>
            </a:r>
            <a:endParaRPr lang="en-US" sz="1550" dirty="0"/>
          </a:p>
        </p:txBody>
      </p:sp>
      <p:sp>
        <p:nvSpPr>
          <p:cNvPr id="16" name="Shape 10"/>
          <p:cNvSpPr/>
          <p:nvPr/>
        </p:nvSpPr>
        <p:spPr>
          <a:xfrm>
            <a:off x="7818120" y="2011680"/>
            <a:ext cx="1554480" cy="914400"/>
          </a:xfrm>
          <a:prstGeom prst="roundRect">
            <a:avLst>
              <a:gd name="adj" fmla="val 8000"/>
            </a:avLst>
          </a:prstGeom>
          <a:solidFill>
            <a:srgbClr val="232733"/>
          </a:solidFill>
          <a:ln/>
        </p:spPr>
      </p:sp>
      <p:sp>
        <p:nvSpPr>
          <p:cNvPr id="17" name="Text 11"/>
          <p:cNvSpPr/>
          <p:nvPr/>
        </p:nvSpPr>
        <p:spPr>
          <a:xfrm>
            <a:off x="7818120" y="2011680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Producers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9875520" y="1691640"/>
            <a:ext cx="1828800" cy="1554480"/>
          </a:xfrm>
          <a:prstGeom prst="roundRect">
            <a:avLst>
              <a:gd name="adj" fmla="val 4706"/>
            </a:avLst>
          </a:prstGeom>
          <a:solidFill>
            <a:srgbClr val="FF6B35"/>
          </a:solidFill>
          <a:ln/>
        </p:spPr>
      </p:sp>
      <p:sp>
        <p:nvSpPr>
          <p:cNvPr id="19" name="Text 13"/>
          <p:cNvSpPr/>
          <p:nvPr/>
        </p:nvSpPr>
        <p:spPr>
          <a:xfrm>
            <a:off x="9875520" y="1691640"/>
            <a:ext cx="1828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Kafka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Cluster</a:t>
            </a:r>
            <a:endParaRPr lang="en-US" sz="1600" dirty="0"/>
          </a:p>
        </p:txBody>
      </p:sp>
      <p:sp>
        <p:nvSpPr>
          <p:cNvPr id="20" name="Shape 14"/>
          <p:cNvSpPr/>
          <p:nvPr/>
        </p:nvSpPr>
        <p:spPr>
          <a:xfrm>
            <a:off x="7818120" y="3200400"/>
            <a:ext cx="1554480" cy="914400"/>
          </a:xfrm>
          <a:prstGeom prst="roundRect">
            <a:avLst>
              <a:gd name="adj" fmla="val 8000"/>
            </a:avLst>
          </a:prstGeom>
          <a:solidFill>
            <a:srgbClr val="232733"/>
          </a:solidFill>
          <a:ln/>
        </p:spPr>
      </p:sp>
      <p:sp>
        <p:nvSpPr>
          <p:cNvPr id="21" name="Text 15"/>
          <p:cNvSpPr/>
          <p:nvPr/>
        </p:nvSpPr>
        <p:spPr>
          <a:xfrm>
            <a:off x="7818120" y="3200400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Consumers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9372600" y="2468880"/>
            <a:ext cx="50292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3" name="Shape 17"/>
          <p:cNvSpPr/>
          <p:nvPr/>
        </p:nvSpPr>
        <p:spPr>
          <a:xfrm>
            <a:off x="9875520" y="3200400"/>
            <a:ext cx="0" cy="32004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4" name="Text 18"/>
          <p:cNvSpPr/>
          <p:nvPr/>
        </p:nvSpPr>
        <p:spPr>
          <a:xfrm>
            <a:off x="7818120" y="4251960"/>
            <a:ext cx="3886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flows from producers, through Kafka topics, to consumers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D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Topics &amp; Partitions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212080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E3E1DD"/>
            </a:solidFill>
            <a:prstDash val="solid"/>
          </a:ln>
          <a:effectLst>
            <a:outerShdw blurRad="101600" dist="381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94560"/>
            <a:ext cx="548640" cy="548640"/>
          </a:xfrm>
          <a:prstGeom prst="ellipse">
            <a:avLst/>
          </a:prstGeom>
          <a:solidFill>
            <a:srgbClr val="1A1D29"/>
          </a:solidFill>
          <a:ln/>
        </p:spPr>
      </p:sp>
      <p:pic>
        <p:nvPicPr>
          <p:cNvPr id="6" name="Image 0" descr="icon_l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844" y="2318004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21284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D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Topic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914400" y="3044952"/>
            <a:ext cx="82296" cy="82296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9" name="Text 6"/>
          <p:cNvSpPr/>
          <p:nvPr/>
        </p:nvSpPr>
        <p:spPr>
          <a:xfrm>
            <a:off x="1143000" y="2898648"/>
            <a:ext cx="4434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named category of records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914400" y="3822192"/>
            <a:ext cx="82296" cy="82296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1" name="Text 8"/>
          <p:cNvSpPr/>
          <p:nvPr/>
        </p:nvSpPr>
        <p:spPr>
          <a:xfrm>
            <a:off x="1143000" y="3675888"/>
            <a:ext cx="4434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Producers send messages to a topic;</a:t>
            </a:r>
            <a:endParaRPr lang="en-US" sz="13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consumers read from it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914400" y="4599432"/>
            <a:ext cx="82296" cy="82296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3" name="Text 10"/>
          <p:cNvSpPr/>
          <p:nvPr/>
        </p:nvSpPr>
        <p:spPr>
          <a:xfrm>
            <a:off x="1143000" y="4453128"/>
            <a:ext cx="4434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Divided into partitions for scalability</a:t>
            </a:r>
            <a:endParaRPr lang="en-US" sz="13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parallel processing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914400" y="5376672"/>
            <a:ext cx="82296" cy="82296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5" name="Text 12"/>
          <p:cNvSpPr/>
          <p:nvPr/>
        </p:nvSpPr>
        <p:spPr>
          <a:xfrm>
            <a:off x="1143000" y="5230368"/>
            <a:ext cx="4434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topic is a collection of partitions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309360" y="1828800"/>
            <a:ext cx="5212080" cy="4206240"/>
          </a:xfrm>
          <a:prstGeom prst="roundRect">
            <a:avLst>
              <a:gd name="adj" fmla="val 2174"/>
            </a:avLst>
          </a:prstGeom>
          <a:solidFill>
            <a:srgbClr val="1A1D29"/>
          </a:solidFill>
          <a:ln/>
        </p:spPr>
      </p:sp>
      <p:sp>
        <p:nvSpPr>
          <p:cNvPr id="17" name="Shape 14"/>
          <p:cNvSpPr/>
          <p:nvPr/>
        </p:nvSpPr>
        <p:spPr>
          <a:xfrm>
            <a:off x="6675120" y="2194560"/>
            <a:ext cx="548640" cy="548640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18" name="Image 1" descr="icon_sitem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8564" y="2318004"/>
            <a:ext cx="301752" cy="30175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360920" y="221284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Partition</a:t>
            </a:r>
            <a:endParaRPr lang="en-US" sz="2000" dirty="0"/>
          </a:p>
        </p:txBody>
      </p:sp>
      <p:sp>
        <p:nvSpPr>
          <p:cNvPr id="20" name="Shape 16"/>
          <p:cNvSpPr/>
          <p:nvPr/>
        </p:nvSpPr>
        <p:spPr>
          <a:xfrm>
            <a:off x="6675120" y="2999232"/>
            <a:ext cx="82296" cy="82296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1" name="Text 17"/>
          <p:cNvSpPr/>
          <p:nvPr/>
        </p:nvSpPr>
        <p:spPr>
          <a:xfrm>
            <a:off x="6903720" y="2852928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D8D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smaller, ordered log inside a topic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6675120" y="3593592"/>
            <a:ext cx="82296" cy="82296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3" name="Text 19"/>
          <p:cNvSpPr/>
          <p:nvPr/>
        </p:nvSpPr>
        <p:spPr>
          <a:xfrm>
            <a:off x="6903720" y="3447288"/>
            <a:ext cx="4434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D8D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Kafka to store &amp; process large</a:t>
            </a:r>
            <a:endParaRPr lang="en-US" sz="13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D8D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volumes of data efficiently</a:t>
            </a:r>
            <a:endParaRPr lang="en-US" sz="1300" dirty="0"/>
          </a:p>
        </p:txBody>
      </p:sp>
      <p:sp>
        <p:nvSpPr>
          <p:cNvPr id="24" name="Shape 20"/>
          <p:cNvSpPr/>
          <p:nvPr/>
        </p:nvSpPr>
        <p:spPr>
          <a:xfrm>
            <a:off x="6675120" y="4416552"/>
            <a:ext cx="82296" cy="82296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5" name="Text 21"/>
          <p:cNvSpPr/>
          <p:nvPr/>
        </p:nvSpPr>
        <p:spPr>
          <a:xfrm>
            <a:off x="6903720" y="4270248"/>
            <a:ext cx="4434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D8D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purpose: parallelism &amp; scalability—</a:t>
            </a:r>
            <a:endParaRPr lang="en-US" sz="13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D8D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consumers process partitions</a:t>
            </a:r>
            <a:endParaRPr lang="en-US" sz="13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D8D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parallel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6675120" y="5513832"/>
            <a:ext cx="82296" cy="82296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7" name="Text 23"/>
          <p:cNvSpPr/>
          <p:nvPr/>
        </p:nvSpPr>
        <p:spPr>
          <a:xfrm>
            <a:off x="6903720" y="5367528"/>
            <a:ext cx="4434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D8D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Ordering is guaranteed within a</a:t>
            </a:r>
            <a:endParaRPr lang="en-US" sz="13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D8D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partition, not across the whole topic</a:t>
            </a:r>
            <a:endParaRPr lang="en-US" sz="1300" dirty="0"/>
          </a:p>
        </p:txBody>
      </p:sp>
      <p:sp>
        <p:nvSpPr>
          <p:cNvPr id="28" name="Text 24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D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Offsets &amp; Messages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Kafka Partition (ordered log)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722376" cy="640080"/>
          </a:xfrm>
          <a:prstGeom prst="rect">
            <a:avLst/>
          </a:prstGeom>
          <a:solidFill>
            <a:srgbClr val="232733"/>
          </a:solidFill>
          <a:ln w="25400">
            <a:solidFill>
              <a:srgbClr val="F7F6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194560"/>
            <a:ext cx="7223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325880" y="2194560"/>
            <a:ext cx="722376" cy="640080"/>
          </a:xfrm>
          <a:prstGeom prst="rect">
            <a:avLst/>
          </a:prstGeom>
          <a:solidFill>
            <a:srgbClr val="3A3F4D"/>
          </a:solidFill>
          <a:ln w="25400">
            <a:solidFill>
              <a:srgbClr val="F7F6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25880" y="2194560"/>
            <a:ext cx="7223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103120" y="2194560"/>
            <a:ext cx="722376" cy="640080"/>
          </a:xfrm>
          <a:prstGeom prst="rect">
            <a:avLst/>
          </a:prstGeom>
          <a:solidFill>
            <a:srgbClr val="232733"/>
          </a:solidFill>
          <a:ln w="25400">
            <a:solidFill>
              <a:srgbClr val="F7F6F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03120" y="2194560"/>
            <a:ext cx="7223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880360" y="2194560"/>
            <a:ext cx="722376" cy="640080"/>
          </a:xfrm>
          <a:prstGeom prst="rect">
            <a:avLst/>
          </a:prstGeom>
          <a:solidFill>
            <a:srgbClr val="3A3F4D"/>
          </a:solidFill>
          <a:ln w="25400">
            <a:solidFill>
              <a:srgbClr val="F7F6F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80360" y="2194560"/>
            <a:ext cx="7223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0" y="2194560"/>
            <a:ext cx="722376" cy="640080"/>
          </a:xfrm>
          <a:prstGeom prst="rect">
            <a:avLst/>
          </a:prstGeom>
          <a:solidFill>
            <a:srgbClr val="232733"/>
          </a:solidFill>
          <a:ln w="25400">
            <a:solidFill>
              <a:srgbClr val="F7F6F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0" y="2194560"/>
            <a:ext cx="7223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434840" y="2194560"/>
            <a:ext cx="722376" cy="640080"/>
          </a:xfrm>
          <a:prstGeom prst="rect">
            <a:avLst/>
          </a:prstGeom>
          <a:solidFill>
            <a:srgbClr val="3A3F4D"/>
          </a:solidFill>
          <a:ln w="25400">
            <a:solidFill>
              <a:srgbClr val="F7F6F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34840" y="2194560"/>
            <a:ext cx="7223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212080" y="2194560"/>
            <a:ext cx="722376" cy="640080"/>
          </a:xfrm>
          <a:prstGeom prst="rect">
            <a:avLst/>
          </a:prstGeom>
          <a:solidFill>
            <a:srgbClr val="232733"/>
          </a:solidFill>
          <a:ln w="25400">
            <a:solidFill>
              <a:srgbClr val="F7F6F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12080" y="2194560"/>
            <a:ext cx="7223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989320" y="2194560"/>
            <a:ext cx="722376" cy="640080"/>
          </a:xfrm>
          <a:prstGeom prst="rect">
            <a:avLst/>
          </a:prstGeom>
          <a:solidFill>
            <a:srgbClr val="FF6B35"/>
          </a:solidFill>
          <a:ln w="25400">
            <a:solidFill>
              <a:srgbClr val="F7F6F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89320" y="2194560"/>
            <a:ext cx="7223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2926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offset →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2880360"/>
            <a:ext cx="612648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dash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548640" y="3383280"/>
            <a:ext cx="521208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3E1DD"/>
            </a:solidFill>
            <a:prstDash val="solid"/>
          </a:ln>
          <a:effectLst>
            <a:outerShdw blurRad="76200" dist="25400" dir="5400000" algn="bl" rotWithShape="0">
              <a:srgbClr val="999999">
                <a:alpha val="2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68680" y="3657600"/>
            <a:ext cx="502920" cy="502920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25" name="Image 0" descr="icon_hashta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837" y="3770757"/>
            <a:ext cx="276606" cy="276606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1508760" y="367588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D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Offset</a:t>
            </a:r>
            <a:endParaRPr lang="en-US" sz="1700" dirty="0"/>
          </a:p>
        </p:txBody>
      </p:sp>
      <p:sp>
        <p:nvSpPr>
          <p:cNvPr id="27" name="Shape 24"/>
          <p:cNvSpPr/>
          <p:nvPr/>
        </p:nvSpPr>
        <p:spPr>
          <a:xfrm>
            <a:off x="868680" y="4370832"/>
            <a:ext cx="73152" cy="73152"/>
          </a:xfrm>
          <a:prstGeom prst="ellipse">
            <a:avLst/>
          </a:prstGeom>
          <a:solidFill>
            <a:srgbClr val="1A1D29"/>
          </a:solidFill>
          <a:ln/>
        </p:spPr>
      </p:sp>
      <p:sp>
        <p:nvSpPr>
          <p:cNvPr id="28" name="Text 25"/>
          <p:cNvSpPr/>
          <p:nvPr/>
        </p:nvSpPr>
        <p:spPr>
          <a:xfrm>
            <a:off x="1097280" y="4224528"/>
            <a:ext cx="4343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unique number identifying a</a:t>
            </a:r>
            <a:endParaRPr lang="en-US" sz="12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message's position in a partition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868680" y="4946904"/>
            <a:ext cx="73152" cy="73152"/>
          </a:xfrm>
          <a:prstGeom prst="ellipse">
            <a:avLst/>
          </a:prstGeom>
          <a:solidFill>
            <a:srgbClr val="1A1D29"/>
          </a:solidFill>
          <a:ln/>
        </p:spPr>
      </p:sp>
      <p:sp>
        <p:nvSpPr>
          <p:cNvPr id="30" name="Text 27"/>
          <p:cNvSpPr/>
          <p:nvPr/>
        </p:nvSpPr>
        <p:spPr>
          <a:xfrm>
            <a:off x="1097280" y="4800600"/>
            <a:ext cx="4343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as the index/position</a:t>
            </a:r>
            <a:endParaRPr lang="en-US" sz="12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 message</a:t>
            </a:r>
            <a:endParaRPr lang="en-US" sz="1250" dirty="0"/>
          </a:p>
        </p:txBody>
      </p:sp>
      <p:sp>
        <p:nvSpPr>
          <p:cNvPr id="31" name="Shape 28"/>
          <p:cNvSpPr/>
          <p:nvPr/>
        </p:nvSpPr>
        <p:spPr>
          <a:xfrm>
            <a:off x="868680" y="5522976"/>
            <a:ext cx="73152" cy="73152"/>
          </a:xfrm>
          <a:prstGeom prst="ellipse">
            <a:avLst/>
          </a:prstGeom>
          <a:solidFill>
            <a:srgbClr val="1A1D29"/>
          </a:solidFill>
          <a:ln/>
        </p:spPr>
      </p:sp>
      <p:sp>
        <p:nvSpPr>
          <p:cNvPr id="32" name="Text 29"/>
          <p:cNvSpPr/>
          <p:nvPr/>
        </p:nvSpPr>
        <p:spPr>
          <a:xfrm>
            <a:off x="1097280" y="5376672"/>
            <a:ext cx="4343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Consumers use the offset to</a:t>
            </a:r>
            <a:endParaRPr lang="en-US" sz="12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what they've already read</a:t>
            </a:r>
            <a:endParaRPr lang="en-US" sz="1250" dirty="0"/>
          </a:p>
        </p:txBody>
      </p:sp>
      <p:sp>
        <p:nvSpPr>
          <p:cNvPr id="33" name="Shape 30"/>
          <p:cNvSpPr/>
          <p:nvPr/>
        </p:nvSpPr>
        <p:spPr>
          <a:xfrm>
            <a:off x="6309360" y="3383280"/>
            <a:ext cx="521208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3E1DD"/>
            </a:solidFill>
            <a:prstDash val="solid"/>
          </a:ln>
          <a:effectLst>
            <a:outerShdw blurRad="76200" dist="25400" dir="5400000" algn="bl" rotWithShape="0">
              <a:srgbClr val="999999">
                <a:alpha val="2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629400" y="3657600"/>
            <a:ext cx="502920" cy="502920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35" name="Image 1" descr="icon_envelop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2557" y="3770757"/>
            <a:ext cx="276606" cy="276606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7269480" y="367588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D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Message</a:t>
            </a:r>
            <a:endParaRPr lang="en-US" sz="1700" dirty="0"/>
          </a:p>
        </p:txBody>
      </p:sp>
      <p:sp>
        <p:nvSpPr>
          <p:cNvPr id="37" name="Shape 33"/>
          <p:cNvSpPr/>
          <p:nvPr/>
        </p:nvSpPr>
        <p:spPr>
          <a:xfrm>
            <a:off x="6629400" y="4370832"/>
            <a:ext cx="73152" cy="73152"/>
          </a:xfrm>
          <a:prstGeom prst="ellipse">
            <a:avLst/>
          </a:prstGeom>
          <a:solidFill>
            <a:srgbClr val="1A1D29"/>
          </a:solidFill>
          <a:ln/>
        </p:spPr>
      </p:sp>
      <p:sp>
        <p:nvSpPr>
          <p:cNvPr id="38" name="Text 34"/>
          <p:cNvSpPr/>
          <p:nvPr/>
        </p:nvSpPr>
        <p:spPr>
          <a:xfrm>
            <a:off x="6858000" y="4224528"/>
            <a:ext cx="4343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piece of data/event sent by a</a:t>
            </a:r>
            <a:endParaRPr lang="en-US" sz="12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producer to a topic</a:t>
            </a:r>
            <a:endParaRPr lang="en-US" sz="1250" dirty="0"/>
          </a:p>
        </p:txBody>
      </p:sp>
      <p:sp>
        <p:nvSpPr>
          <p:cNvPr id="39" name="Shape 35"/>
          <p:cNvSpPr/>
          <p:nvPr/>
        </p:nvSpPr>
        <p:spPr>
          <a:xfrm>
            <a:off x="6629400" y="4946904"/>
            <a:ext cx="73152" cy="73152"/>
          </a:xfrm>
          <a:prstGeom prst="ellipse">
            <a:avLst/>
          </a:prstGeom>
          <a:solidFill>
            <a:srgbClr val="1A1D29"/>
          </a:solidFill>
          <a:ln/>
        </p:spPr>
      </p:sp>
      <p:sp>
        <p:nvSpPr>
          <p:cNvPr id="40" name="Text 36"/>
          <p:cNvSpPr/>
          <p:nvPr/>
        </p:nvSpPr>
        <p:spPr>
          <a:xfrm>
            <a:off x="6858000" y="4800600"/>
            <a:ext cx="4343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record of information;</a:t>
            </a:r>
            <a:endParaRPr lang="en-US" sz="12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inside a partition</a:t>
            </a:r>
            <a:endParaRPr lang="en-US" sz="1250" dirty="0"/>
          </a:p>
        </p:txBody>
      </p:sp>
      <p:sp>
        <p:nvSpPr>
          <p:cNvPr id="41" name="Shape 37"/>
          <p:cNvSpPr/>
          <p:nvPr/>
        </p:nvSpPr>
        <p:spPr>
          <a:xfrm>
            <a:off x="6629400" y="5522976"/>
            <a:ext cx="73152" cy="73152"/>
          </a:xfrm>
          <a:prstGeom prst="ellipse">
            <a:avLst/>
          </a:prstGeom>
          <a:solidFill>
            <a:srgbClr val="1A1D29"/>
          </a:solidFill>
          <a:ln/>
        </p:spPr>
      </p:sp>
      <p:sp>
        <p:nvSpPr>
          <p:cNvPr id="42" name="Text 38"/>
          <p:cNvSpPr/>
          <p:nvPr/>
        </p:nvSpPr>
        <p:spPr>
          <a:xfrm>
            <a:off x="6858000" y="5376672"/>
            <a:ext cx="4343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message receives an offset</a:t>
            </a:r>
            <a:endParaRPr lang="en-US" sz="12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its partition</a:t>
            </a:r>
            <a:endParaRPr lang="en-US" sz="1250" dirty="0"/>
          </a:p>
        </p:txBody>
      </p:sp>
      <p:sp>
        <p:nvSpPr>
          <p:cNvPr id="43" name="Text 39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D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Producers &amp; Consumers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212080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E3E1DD"/>
            </a:solidFill>
            <a:prstDash val="solid"/>
          </a:ln>
          <a:effectLst>
            <a:outerShdw blurRad="76200" dist="25400" dir="5400000" algn="bl" rotWithShape="0">
              <a:srgbClr val="999999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94560"/>
            <a:ext cx="594360" cy="594360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6" name="Image 0" descr="icon_ser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131" y="2328291"/>
            <a:ext cx="326898" cy="32689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212848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A1D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Producers</a:t>
            </a:r>
            <a:endParaRPr lang="en-US" sz="2100" dirty="0"/>
          </a:p>
        </p:txBody>
      </p:sp>
      <p:sp>
        <p:nvSpPr>
          <p:cNvPr id="8" name="Shape 5"/>
          <p:cNvSpPr/>
          <p:nvPr/>
        </p:nvSpPr>
        <p:spPr>
          <a:xfrm>
            <a:off x="914400" y="3145536"/>
            <a:ext cx="82296" cy="82296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9" name="Text 6"/>
          <p:cNvSpPr/>
          <p:nvPr/>
        </p:nvSpPr>
        <p:spPr>
          <a:xfrm>
            <a:off x="1143000" y="2971800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messages to Kafka topics — sometimes called publishers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914400" y="3922776"/>
            <a:ext cx="82296" cy="82296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1" name="Text 8"/>
          <p:cNvSpPr/>
          <p:nvPr/>
        </p:nvSpPr>
        <p:spPr>
          <a:xfrm>
            <a:off x="1143000" y="3749040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sent by producers are stored in Kafka for later use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914400" y="4700016"/>
            <a:ext cx="82296" cy="82296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3" name="Text 10"/>
          <p:cNvSpPr/>
          <p:nvPr/>
        </p:nvSpPr>
        <p:spPr>
          <a:xfrm>
            <a:off x="1143000" y="4526280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can be many producers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914400" y="5477256"/>
            <a:ext cx="82296" cy="82296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5" name="Text 12"/>
          <p:cNvSpPr/>
          <p:nvPr/>
        </p:nvSpPr>
        <p:spPr>
          <a:xfrm>
            <a:off x="1143000" y="5303520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producer can write to one or multiple topics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6309360" y="1828800"/>
            <a:ext cx="5212080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E3E1DD"/>
            </a:solidFill>
            <a:prstDash val="solid"/>
          </a:ln>
          <a:effectLst>
            <a:outerShdw blurRad="76200" dist="25400" dir="5400000" algn="bl" rotWithShape="0">
              <a:srgbClr val="999999">
                <a:alpha val="2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675120" y="2194560"/>
            <a:ext cx="594360" cy="594360"/>
          </a:xfrm>
          <a:prstGeom prst="ellipse">
            <a:avLst/>
          </a:prstGeom>
          <a:solidFill>
            <a:srgbClr val="3D8B87"/>
          </a:solidFill>
          <a:ln/>
        </p:spPr>
      </p:sp>
      <p:pic>
        <p:nvPicPr>
          <p:cNvPr id="18" name="Image 1" descr="icon_datab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8851" y="2328291"/>
            <a:ext cx="326898" cy="32689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452360" y="2212848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A1D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Consumers</a:t>
            </a:r>
            <a:endParaRPr lang="en-US" sz="2100" dirty="0"/>
          </a:p>
        </p:txBody>
      </p:sp>
      <p:sp>
        <p:nvSpPr>
          <p:cNvPr id="20" name="Shape 16"/>
          <p:cNvSpPr/>
          <p:nvPr/>
        </p:nvSpPr>
        <p:spPr>
          <a:xfrm>
            <a:off x="6675120" y="3145536"/>
            <a:ext cx="82296" cy="82296"/>
          </a:xfrm>
          <a:prstGeom prst="ellipse">
            <a:avLst/>
          </a:prstGeom>
          <a:solidFill>
            <a:srgbClr val="3D8B87"/>
          </a:solidFill>
          <a:ln/>
        </p:spPr>
      </p:sp>
      <p:sp>
        <p:nvSpPr>
          <p:cNvPr id="21" name="Text 17"/>
          <p:cNvSpPr/>
          <p:nvPr/>
        </p:nvSpPr>
        <p:spPr>
          <a:xfrm>
            <a:off x="6903720" y="2971800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messages from Kafka topics — sometimes called subscribers</a:t>
            </a:r>
            <a:endParaRPr lang="en-US" sz="1350" dirty="0"/>
          </a:p>
        </p:txBody>
      </p:sp>
      <p:sp>
        <p:nvSpPr>
          <p:cNvPr id="22" name="Shape 18"/>
          <p:cNvSpPr/>
          <p:nvPr/>
        </p:nvSpPr>
        <p:spPr>
          <a:xfrm>
            <a:off x="6675120" y="3922776"/>
            <a:ext cx="82296" cy="82296"/>
          </a:xfrm>
          <a:prstGeom prst="ellipse">
            <a:avLst/>
          </a:prstGeom>
          <a:solidFill>
            <a:srgbClr val="3D8B87"/>
          </a:solidFill>
          <a:ln/>
        </p:spPr>
      </p:sp>
      <p:sp>
        <p:nvSpPr>
          <p:cNvPr id="23" name="Text 19"/>
          <p:cNvSpPr/>
          <p:nvPr/>
        </p:nvSpPr>
        <p:spPr>
          <a:xfrm>
            <a:off x="6903720" y="3749040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consumers can connect to a Kafka system at once</a:t>
            </a:r>
            <a:endParaRPr lang="en-US" sz="1350" dirty="0"/>
          </a:p>
        </p:txBody>
      </p:sp>
      <p:sp>
        <p:nvSpPr>
          <p:cNvPr id="24" name="Shape 20"/>
          <p:cNvSpPr/>
          <p:nvPr/>
        </p:nvSpPr>
        <p:spPr>
          <a:xfrm>
            <a:off x="6675120" y="4700016"/>
            <a:ext cx="82296" cy="82296"/>
          </a:xfrm>
          <a:prstGeom prst="ellipse">
            <a:avLst/>
          </a:prstGeom>
          <a:solidFill>
            <a:srgbClr val="3D8B87"/>
          </a:solidFill>
          <a:ln/>
        </p:spPr>
      </p:sp>
      <p:sp>
        <p:nvSpPr>
          <p:cNvPr id="25" name="Text 21"/>
          <p:cNvSpPr/>
          <p:nvPr/>
        </p:nvSpPr>
        <p:spPr>
          <a:xfrm>
            <a:off x="6903720" y="4526280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consumer can read from one or multiple topics</a:t>
            </a:r>
            <a:endParaRPr lang="en-US" sz="1350" dirty="0"/>
          </a:p>
        </p:txBody>
      </p:sp>
      <p:sp>
        <p:nvSpPr>
          <p:cNvPr id="26" name="Shape 22"/>
          <p:cNvSpPr/>
          <p:nvPr/>
        </p:nvSpPr>
        <p:spPr>
          <a:xfrm>
            <a:off x="6675120" y="5477256"/>
            <a:ext cx="82296" cy="82296"/>
          </a:xfrm>
          <a:prstGeom prst="ellipse">
            <a:avLst/>
          </a:prstGeom>
          <a:solidFill>
            <a:srgbClr val="3D8B87"/>
          </a:solidFill>
          <a:ln/>
        </p:spPr>
      </p:sp>
      <p:sp>
        <p:nvSpPr>
          <p:cNvPr id="27" name="Text 23"/>
          <p:cNvSpPr/>
          <p:nvPr/>
        </p:nvSpPr>
        <p:spPr>
          <a:xfrm>
            <a:off x="6903720" y="5303520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its position using the offset</a:t>
            </a:r>
            <a:endParaRPr lang="en-US" sz="1350" dirty="0"/>
          </a:p>
        </p:txBody>
      </p:sp>
      <p:sp>
        <p:nvSpPr>
          <p:cNvPr id="28" name="Text 24"/>
          <p:cNvSpPr/>
          <p:nvPr/>
        </p:nvSpPr>
        <p:spPr>
          <a:xfrm>
            <a:off x="548640" y="61722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point: producers never send directly to consumers — both interact only through the topic</a:t>
            </a:r>
            <a:endParaRPr lang="en-US" sz="1250" dirty="0"/>
          </a:p>
        </p:txBody>
      </p:sp>
      <p:sp>
        <p:nvSpPr>
          <p:cNvPr id="29" name="Text 25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WITH KAFKA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D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Kafka Console Producer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messages to a topic from the command line. Found at </a:t>
            </a:r>
            <a:r>
              <a:rPr lang="en-US" sz="140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bin/kafka-console-producer.sh</a:t>
            </a:r>
            <a:r>
              <a:rPr lang="en-US" sz="1400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the Kafka bin directory.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OPTIONS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2651760" cy="411480"/>
          </a:xfrm>
          <a:prstGeom prst="roundRect">
            <a:avLst>
              <a:gd name="adj" fmla="val 13333"/>
            </a:avLst>
          </a:prstGeom>
          <a:solidFill>
            <a:srgbClr val="232733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6517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--bootstrap-server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337560" y="265176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server to use (e.g. localhost:9092)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200400"/>
            <a:ext cx="2651760" cy="411480"/>
          </a:xfrm>
          <a:prstGeom prst="roundRect">
            <a:avLst>
              <a:gd name="adj" fmla="val 13333"/>
            </a:avLst>
          </a:prstGeom>
          <a:solidFill>
            <a:srgbClr val="232733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2004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--topic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37560" y="320040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topic to write to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977640"/>
            <a:ext cx="5486400" cy="2331720"/>
          </a:xfrm>
          <a:prstGeom prst="roundRect">
            <a:avLst>
              <a:gd name="adj" fmla="val 3137"/>
            </a:avLst>
          </a:prstGeom>
          <a:solidFill>
            <a:srgbClr val="1A1D29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142232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4526280"/>
            <a:ext cx="493776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bin/kafka-console-producer.sh \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--bootstrap-server localhost:9092 \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--topic testing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this is the first message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this is the second message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(Ctrl+C to exit)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63640" y="3977640"/>
            <a:ext cx="5349240" cy="2331720"/>
          </a:xfrm>
          <a:prstGeom prst="roundRect">
            <a:avLst>
              <a:gd name="adj" fmla="val 3137"/>
            </a:avLst>
          </a:prstGeom>
          <a:solidFill>
            <a:srgbClr val="1A1D29"/>
          </a:solidFill>
          <a:ln/>
        </p:spPr>
      </p:sp>
      <p:sp>
        <p:nvSpPr>
          <p:cNvPr id="16" name="Text 14"/>
          <p:cNvSpPr/>
          <p:nvPr/>
        </p:nvSpPr>
        <p:spPr>
          <a:xfrm>
            <a:off x="6537960" y="4142232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NON-INTERACTIVE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37960" y="4526280"/>
            <a:ext cx="480060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"this is the first message" | \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bin/kafka-console-producer.sh \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--bootstrap-server localhost:9092 \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--topic testing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pipe messages with |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WITH KAFKA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D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Kafka Console Consumer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messages from a topic. Found at </a:t>
            </a:r>
            <a:r>
              <a:rPr lang="en-US" sz="140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bin/kafka-console-consumer.sh</a:t>
            </a:r>
            <a:r>
              <a:rPr lang="en-US" sz="1400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the Kafka bin directory.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ARGUMENTS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2743200" cy="411480"/>
          </a:xfrm>
          <a:prstGeom prst="roundRect">
            <a:avLst>
              <a:gd name="adj" fmla="val 13333"/>
            </a:avLst>
          </a:prstGeom>
          <a:solidFill>
            <a:srgbClr val="232733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6517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--from-beginning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429000" y="265176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all messages in the topic, even already-read ones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200400"/>
            <a:ext cx="2743200" cy="411480"/>
          </a:xfrm>
          <a:prstGeom prst="roundRect">
            <a:avLst>
              <a:gd name="adj" fmla="val 13333"/>
            </a:avLst>
          </a:prstGeom>
          <a:solidFill>
            <a:srgbClr val="232733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2004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--max-messages &lt;n&gt;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429000" y="320040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up to a maximum number of messages, then exit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977640"/>
            <a:ext cx="5486400" cy="2331720"/>
          </a:xfrm>
          <a:prstGeom prst="roundRect">
            <a:avLst>
              <a:gd name="adj" fmla="val 3137"/>
            </a:avLst>
          </a:prstGeom>
          <a:solidFill>
            <a:srgbClr val="1A1D29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142232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— FROM BEGINNING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4526280"/>
            <a:ext cx="493776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bin/kafka-console-consumer.sh \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--bootstrap-server localhost:9092 \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--topic testing --from-beginning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this is the first message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this is the second message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(Ctrl+C to exit)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63640" y="3977640"/>
            <a:ext cx="5349240" cy="2331720"/>
          </a:xfrm>
          <a:prstGeom prst="roundRect">
            <a:avLst>
              <a:gd name="adj" fmla="val 3137"/>
            </a:avLst>
          </a:prstGeom>
          <a:solidFill>
            <a:srgbClr val="1A1D29"/>
          </a:solidFill>
          <a:ln/>
        </p:spPr>
      </p:sp>
      <p:sp>
        <p:nvSpPr>
          <p:cNvPr id="16" name="Text 14"/>
          <p:cNvSpPr/>
          <p:nvPr/>
        </p:nvSpPr>
        <p:spPr>
          <a:xfrm>
            <a:off x="6537960" y="4142232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NON-INTERACTIVE — LIMITED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37960" y="4526280"/>
            <a:ext cx="480060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bin/kafka-console-consumer.sh \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--bootstrap-server localhost:9092 \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--topic testing --from-beginning \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--max-messages 2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 is the first message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 is the second message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D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Kafka Server &amp; Client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21208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3E1DD"/>
            </a:solidFill>
            <a:prstDash val="solid"/>
          </a:ln>
          <a:effectLst>
            <a:outerShdw blurRad="76200" dist="25400" dir="5400000" algn="bl" rotWithShape="0">
              <a:srgbClr val="999999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94560"/>
            <a:ext cx="594360" cy="594360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6" name="Image 0" descr="icon_ser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131" y="2328291"/>
            <a:ext cx="326898" cy="32689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212848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D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Kafka Server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914400" y="3054096"/>
            <a:ext cx="82296" cy="82296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9" name="Text 6"/>
          <p:cNvSpPr/>
          <p:nvPr/>
        </p:nvSpPr>
        <p:spPr>
          <a:xfrm>
            <a:off x="1143000" y="288036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cluster of one or more computers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914400" y="3621024"/>
            <a:ext cx="82296" cy="82296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1" name="Text 8"/>
          <p:cNvSpPr/>
          <p:nvPr/>
        </p:nvSpPr>
        <p:spPr>
          <a:xfrm>
            <a:off x="1143000" y="3447288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data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914400" y="4187952"/>
            <a:ext cx="82296" cy="82296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3" name="Text 10"/>
          <p:cNvSpPr/>
          <p:nvPr/>
        </p:nvSpPr>
        <p:spPr>
          <a:xfrm>
            <a:off x="1143000" y="4014216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communications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914400" y="4754880"/>
            <a:ext cx="82296" cy="82296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5" name="Text 12"/>
          <p:cNvSpPr/>
          <p:nvPr/>
        </p:nvSpPr>
        <p:spPr>
          <a:xfrm>
            <a:off x="1143000" y="4581144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integrate with other systems</a:t>
            </a:r>
            <a:endParaRPr lang="en-US" sz="13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350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(databases, logs, ...)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914400" y="5321808"/>
            <a:ext cx="82296" cy="82296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7" name="Text 14"/>
          <p:cNvSpPr/>
          <p:nvPr/>
        </p:nvSpPr>
        <p:spPr>
          <a:xfrm>
            <a:off x="1143000" y="5148072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role: acting as a Kafka broker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6309360" y="1828800"/>
            <a:ext cx="521208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3E1DD"/>
            </a:solidFill>
            <a:prstDash val="solid"/>
          </a:ln>
          <a:effectLst>
            <a:outerShdw blurRad="76200" dist="25400" dir="5400000" algn="bl" rotWithShape="0">
              <a:srgbClr val="999999">
                <a:alpha val="2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675120" y="2194560"/>
            <a:ext cx="594360" cy="594360"/>
          </a:xfrm>
          <a:prstGeom prst="ellipse">
            <a:avLst/>
          </a:prstGeom>
          <a:solidFill>
            <a:srgbClr val="3D8B87"/>
          </a:solidFill>
          <a:ln/>
        </p:spPr>
      </p:sp>
      <p:pic>
        <p:nvPicPr>
          <p:cNvPr id="20" name="Image 1" descr="icon_exchan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8851" y="2328291"/>
            <a:ext cx="326898" cy="326898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7452360" y="2212848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D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Kafka Client</a:t>
            </a:r>
            <a:endParaRPr lang="en-US" sz="2000" dirty="0"/>
          </a:p>
        </p:txBody>
      </p:sp>
      <p:sp>
        <p:nvSpPr>
          <p:cNvPr id="22" name="Shape 18"/>
          <p:cNvSpPr/>
          <p:nvPr/>
        </p:nvSpPr>
        <p:spPr>
          <a:xfrm>
            <a:off x="6675120" y="3054096"/>
            <a:ext cx="82296" cy="82296"/>
          </a:xfrm>
          <a:prstGeom prst="ellipse">
            <a:avLst/>
          </a:prstGeom>
          <a:solidFill>
            <a:srgbClr val="3D8B87"/>
          </a:solidFill>
          <a:ln/>
        </p:spPr>
      </p:sp>
      <p:sp>
        <p:nvSpPr>
          <p:cNvPr id="23" name="Text 19"/>
          <p:cNvSpPr/>
          <p:nvPr/>
        </p:nvSpPr>
        <p:spPr>
          <a:xfrm>
            <a:off x="6903720" y="288036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via the Kafka consumer</a:t>
            </a:r>
            <a:endParaRPr lang="en-US" sz="1350" dirty="0"/>
          </a:p>
        </p:txBody>
      </p:sp>
      <p:sp>
        <p:nvSpPr>
          <p:cNvPr id="24" name="Shape 20"/>
          <p:cNvSpPr/>
          <p:nvPr/>
        </p:nvSpPr>
        <p:spPr>
          <a:xfrm>
            <a:off x="6675120" y="3831336"/>
            <a:ext cx="82296" cy="82296"/>
          </a:xfrm>
          <a:prstGeom prst="ellipse">
            <a:avLst/>
          </a:prstGeom>
          <a:solidFill>
            <a:srgbClr val="3D8B87"/>
          </a:solidFill>
          <a:ln/>
        </p:spPr>
      </p:sp>
      <p:sp>
        <p:nvSpPr>
          <p:cNvPr id="25" name="Text 21"/>
          <p:cNvSpPr/>
          <p:nvPr/>
        </p:nvSpPr>
        <p:spPr>
          <a:xfrm>
            <a:off x="6903720" y="365760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via the Kafka producer</a:t>
            </a:r>
            <a:endParaRPr lang="en-US" sz="1350" dirty="0"/>
          </a:p>
        </p:txBody>
      </p:sp>
      <p:sp>
        <p:nvSpPr>
          <p:cNvPr id="26" name="Shape 22"/>
          <p:cNvSpPr/>
          <p:nvPr/>
        </p:nvSpPr>
        <p:spPr>
          <a:xfrm>
            <a:off x="6675120" y="4608576"/>
            <a:ext cx="82296" cy="82296"/>
          </a:xfrm>
          <a:prstGeom prst="ellipse">
            <a:avLst/>
          </a:prstGeom>
          <a:solidFill>
            <a:srgbClr val="3D8B87"/>
          </a:solidFill>
          <a:ln/>
        </p:spPr>
      </p:sp>
      <p:sp>
        <p:nvSpPr>
          <p:cNvPr id="27" name="Text 23"/>
          <p:cNvSpPr/>
          <p:nvPr/>
        </p:nvSpPr>
        <p:spPr>
          <a:xfrm>
            <a:off x="6903720" y="443484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data as required</a:t>
            </a:r>
            <a:endParaRPr lang="en-US" sz="1350" dirty="0"/>
          </a:p>
        </p:txBody>
      </p:sp>
      <p:sp>
        <p:nvSpPr>
          <p:cNvPr id="28" name="Text 24"/>
          <p:cNvSpPr/>
          <p:nvPr/>
        </p:nvSpPr>
        <p:spPr>
          <a:xfrm>
            <a:off x="548640" y="60807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Broker: </a:t>
            </a:r>
            <a:r>
              <a:rPr lang="en-US" sz="1200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communication between producers and consumers, storing data organized by topic. Topics are partitioned — stored in separate pieces — and messages are retrieved in the same order they were written.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D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Partitions &amp; Replication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7C9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is fault-tolerant — if one broker goes offline, another can serve the requested data.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3291840" cy="1234440"/>
          </a:xfrm>
          <a:prstGeom prst="roundRect">
            <a:avLst>
              <a:gd name="adj" fmla="val 5926"/>
            </a:avLst>
          </a:prstGeom>
          <a:solidFill>
            <a:srgbClr val="232733"/>
          </a:solidFill>
          <a:ln w="12700">
            <a:solidFill>
              <a:srgbClr val="3A3F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13055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2496312"/>
            <a:ext cx="3017520" cy="310896"/>
          </a:xfrm>
          <a:prstGeom prst="rect">
            <a:avLst/>
          </a:prstGeom>
          <a:solidFill>
            <a:srgbClr val="E85D2A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496312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" y="2880360"/>
            <a:ext cx="3017520" cy="310896"/>
          </a:xfrm>
          <a:prstGeom prst="rect">
            <a:avLst/>
          </a:prstGeom>
          <a:solidFill>
            <a:srgbClr val="3D8B87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880360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547872"/>
            <a:ext cx="3291840" cy="1234440"/>
          </a:xfrm>
          <a:prstGeom prst="roundRect">
            <a:avLst>
              <a:gd name="adj" fmla="val 5926"/>
            </a:avLst>
          </a:prstGeom>
          <a:solidFill>
            <a:srgbClr val="232733"/>
          </a:solidFill>
          <a:ln w="12700">
            <a:solidFill>
              <a:srgbClr val="3A3F4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621024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2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5800" y="3986784"/>
            <a:ext cx="3017520" cy="310896"/>
          </a:xfrm>
          <a:prstGeom prst="rect">
            <a:avLst/>
          </a:prstGeom>
          <a:solidFill>
            <a:srgbClr val="3D8B87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986784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85800" y="4370832"/>
            <a:ext cx="3017520" cy="310896"/>
          </a:xfrm>
          <a:prstGeom prst="rect">
            <a:avLst/>
          </a:prstGeom>
          <a:solidFill>
            <a:srgbClr val="8E6BC1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4370832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5038344"/>
            <a:ext cx="3291840" cy="1234440"/>
          </a:xfrm>
          <a:prstGeom prst="roundRect">
            <a:avLst>
              <a:gd name="adj" fmla="val 5926"/>
            </a:avLst>
          </a:prstGeom>
          <a:solidFill>
            <a:srgbClr val="232733"/>
          </a:solidFill>
          <a:ln w="12700">
            <a:solidFill>
              <a:srgbClr val="3A3F4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5111496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3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85800" y="5477256"/>
            <a:ext cx="3017520" cy="310896"/>
          </a:xfrm>
          <a:prstGeom prst="rect">
            <a:avLst/>
          </a:prstGeom>
          <a:solidFill>
            <a:srgbClr val="E85D2A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5477256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85800" y="5861304"/>
            <a:ext cx="3017520" cy="310896"/>
          </a:xfrm>
          <a:prstGeom prst="rect">
            <a:avLst/>
          </a:prstGeom>
          <a:solidFill>
            <a:srgbClr val="8E6BC1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5861304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6483096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cluster, 3 brokers · 2× replication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480560" y="2231136"/>
            <a:ext cx="82296" cy="82296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5" name="Text 23"/>
          <p:cNvSpPr/>
          <p:nvPr/>
        </p:nvSpPr>
        <p:spPr>
          <a:xfrm>
            <a:off x="4709160" y="20574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E4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cluster with 3 brokers, 3 topics defined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480560" y="2889504"/>
            <a:ext cx="82296" cy="82296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7" name="Text 25"/>
          <p:cNvSpPr/>
          <p:nvPr/>
        </p:nvSpPr>
        <p:spPr>
          <a:xfrm>
            <a:off x="4709160" y="2715768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E4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 replication → the cluster can lose 1 system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4480560" y="3547872"/>
            <a:ext cx="82296" cy="82296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9" name="Text 27"/>
          <p:cNvSpPr/>
          <p:nvPr/>
        </p:nvSpPr>
        <p:spPr>
          <a:xfrm>
            <a:off x="4709160" y="3374136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E4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topic is shared across 2 brokers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4480560" y="4343400"/>
            <a:ext cx="3566160" cy="1554480"/>
          </a:xfrm>
          <a:prstGeom prst="roundRect">
            <a:avLst>
              <a:gd name="adj" fmla="val 4706"/>
            </a:avLst>
          </a:prstGeom>
          <a:solidFill>
            <a:srgbClr val="232733"/>
          </a:solidFill>
          <a:ln/>
        </p:spPr>
      </p:sp>
      <p:sp>
        <p:nvSpPr>
          <p:cNvPr id="31" name="Text 29"/>
          <p:cNvSpPr/>
          <p:nvPr/>
        </p:nvSpPr>
        <p:spPr>
          <a:xfrm>
            <a:off x="4709160" y="44805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FORMULAS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709160" y="484632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250" dirty="0">
                <a:solidFill>
                  <a:srgbClr val="E4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 failures tolerated = replication factor − 1
</a:t>
            </a:r>
            <a:endParaRPr lang="en-US" sz="125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50" dirty="0">
                <a:solidFill>
                  <a:srgbClr val="E4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 replication factor = number of servers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COORDINATION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D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Zookeeper?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94360" cy="594360"/>
          </a:xfrm>
          <a:prstGeom prst="ellipse">
            <a:avLst/>
          </a:prstGeom>
          <a:solidFill>
            <a:srgbClr val="1A1D29"/>
          </a:solidFill>
          <a:ln/>
        </p:spPr>
      </p:sp>
      <p:pic>
        <p:nvPicPr>
          <p:cNvPr id="5" name="Image 0" descr="icon_co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371" y="1916811"/>
            <a:ext cx="326898" cy="32689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78308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400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framework to manage information and provide services necessary for running distributed systems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2743200"/>
            <a:ext cx="5577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primarily by developers to build distributed applications; users interact with Zookeeper directly.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48640" y="34290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APPLICATIONS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3749040"/>
            <a:ext cx="1371600" cy="502920"/>
          </a:xfrm>
          <a:prstGeom prst="roundRect">
            <a:avLst>
              <a:gd name="adj" fmla="val 10909"/>
            </a:avLst>
          </a:prstGeom>
          <a:solidFill>
            <a:srgbClr val="FF6B35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374904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2103120" y="3749040"/>
            <a:ext cx="1371600" cy="502920"/>
          </a:xfrm>
          <a:prstGeom prst="roundRect">
            <a:avLst>
              <a:gd name="adj" fmla="val 10909"/>
            </a:avLst>
          </a:prstGeom>
          <a:solidFill>
            <a:srgbClr val="232733"/>
          </a:solidFill>
          <a:ln/>
        </p:spPr>
      </p:sp>
      <p:sp>
        <p:nvSpPr>
          <p:cNvPr id="12" name="Text 9"/>
          <p:cNvSpPr/>
          <p:nvPr/>
        </p:nvSpPr>
        <p:spPr>
          <a:xfrm>
            <a:off x="2103120" y="374904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Hadoop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657600" y="3749040"/>
            <a:ext cx="1371600" cy="502920"/>
          </a:xfrm>
          <a:prstGeom prst="roundRect">
            <a:avLst>
              <a:gd name="adj" fmla="val 10909"/>
            </a:avLst>
          </a:prstGeom>
          <a:solidFill>
            <a:srgbClr val="232733"/>
          </a:solidFill>
          <a:ln/>
        </p:spPr>
      </p:sp>
      <p:sp>
        <p:nvSpPr>
          <p:cNvPr id="14" name="Text 11"/>
          <p:cNvSpPr/>
          <p:nvPr/>
        </p:nvSpPr>
        <p:spPr>
          <a:xfrm>
            <a:off x="3657600" y="374904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492240" y="1737360"/>
            <a:ext cx="5120640" cy="3566160"/>
          </a:xfrm>
          <a:prstGeom prst="roundRect">
            <a:avLst>
              <a:gd name="adj" fmla="val 2564"/>
            </a:avLst>
          </a:prstGeom>
          <a:solidFill>
            <a:srgbClr val="1A1D29"/>
          </a:solidFill>
          <a:ln/>
        </p:spPr>
      </p:sp>
      <p:sp>
        <p:nvSpPr>
          <p:cNvPr id="16" name="Text 13"/>
          <p:cNvSpPr/>
          <p:nvPr/>
        </p:nvSpPr>
        <p:spPr>
          <a:xfrm>
            <a:off x="6812280" y="201168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does it do?</a:t>
            </a:r>
            <a:endParaRPr lang="en-US" sz="1900" dirty="0"/>
          </a:p>
        </p:txBody>
      </p:sp>
      <p:sp>
        <p:nvSpPr>
          <p:cNvPr id="17" name="Shape 14"/>
          <p:cNvSpPr/>
          <p:nvPr/>
        </p:nvSpPr>
        <p:spPr>
          <a:xfrm>
            <a:off x="6812280" y="2734056"/>
            <a:ext cx="82296" cy="82296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8" name="Text 15"/>
          <p:cNvSpPr/>
          <p:nvPr/>
        </p:nvSpPr>
        <p:spPr>
          <a:xfrm>
            <a:off x="7040880" y="2560320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D8D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configuration information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812280" y="3419856"/>
            <a:ext cx="82296" cy="82296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0" name="Text 17"/>
          <p:cNvSpPr/>
          <p:nvPr/>
        </p:nvSpPr>
        <p:spPr>
          <a:xfrm>
            <a:off x="7040880" y="3246120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D8D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systems to prevent conflicts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6812280" y="4105656"/>
            <a:ext cx="82296" cy="82296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2" name="Text 19"/>
          <p:cNvSpPr/>
          <p:nvPr/>
        </p:nvSpPr>
        <p:spPr>
          <a:xfrm>
            <a:off x="7040880" y="3931920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D8D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Synchronizes across systems — e.g. which systems are available and when they should start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812280" y="4791456"/>
            <a:ext cx="82296" cy="82296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4" name="Text 21"/>
          <p:cNvSpPr/>
          <p:nvPr/>
        </p:nvSpPr>
        <p:spPr>
          <a:xfrm>
            <a:off x="7040880" y="4617720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D8D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individual distributed apps from implementing custom versions of these services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548640" y="60807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Newer Kafka versions can use KRaft instead of Zookeeper for cluster management.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OPERATIONS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D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Starting &amp; Stopping a Cluster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config files drive the cluster: </a:t>
            </a:r>
            <a:r>
              <a:rPr lang="en-US" sz="130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config/zookeeper.properties</a:t>
            </a:r>
            <a:r>
              <a:rPr lang="en-US" sz="1300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r>
              <a:rPr lang="en-US" sz="130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config/server.properties</a:t>
            </a:r>
            <a:r>
              <a:rPr lang="en-US" sz="1300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(broker details, network config, storage location, topic defaults).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521208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E3E1DD"/>
            </a:solidFill>
            <a:prstDash val="solid"/>
          </a:ln>
          <a:effectLst>
            <a:outerShdw blurRad="76200" dist="25400" dir="5400000" algn="bl" rotWithShape="0">
              <a:srgbClr val="999999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606040"/>
            <a:ext cx="502920" cy="502920"/>
          </a:xfrm>
          <a:prstGeom prst="ellipse">
            <a:avLst/>
          </a:prstGeom>
          <a:solidFill>
            <a:srgbClr val="2E8B57"/>
          </a:solidFill>
          <a:ln/>
        </p:spPr>
      </p:sp>
      <p:pic>
        <p:nvPicPr>
          <p:cNvPr id="7" name="Image 0" descr="icon_pl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837" y="2719197"/>
            <a:ext cx="276606" cy="27660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262432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D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Starting the Cluster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68680" y="3246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clusters start in two pieces, in order: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68680" y="3611880"/>
            <a:ext cx="4572000" cy="1783080"/>
          </a:xfrm>
          <a:prstGeom prst="roundRect">
            <a:avLst>
              <a:gd name="adj" fmla="val 4103"/>
            </a:avLst>
          </a:prstGeom>
          <a:solidFill>
            <a:srgbClr val="1A1D29"/>
          </a:solidFill>
          <a:ln/>
        </p:spPr>
      </p:sp>
      <p:sp>
        <p:nvSpPr>
          <p:cNvPr id="11" name="Text 8"/>
          <p:cNvSpPr/>
          <p:nvPr/>
        </p:nvSpPr>
        <p:spPr>
          <a:xfrm>
            <a:off x="1143000" y="3776472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143000" y="4160520"/>
            <a:ext cx="40233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 bin/zookeeper-server-start.sh \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config/zookeeper.properties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 bin/kafka-server-start.sh \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config/server.properties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309360" y="2331720"/>
            <a:ext cx="5212080" cy="3383280"/>
          </a:xfrm>
          <a:prstGeom prst="roundRect">
            <a:avLst>
              <a:gd name="adj" fmla="val 2703"/>
            </a:avLst>
          </a:prstGeom>
          <a:solidFill>
            <a:srgbClr val="1A1D29"/>
          </a:solidFill>
          <a:ln/>
        </p:spPr>
      </p:sp>
      <p:sp>
        <p:nvSpPr>
          <p:cNvPr id="14" name="Shape 11"/>
          <p:cNvSpPr/>
          <p:nvPr/>
        </p:nvSpPr>
        <p:spPr>
          <a:xfrm>
            <a:off x="6629400" y="2606040"/>
            <a:ext cx="502920" cy="502920"/>
          </a:xfrm>
          <a:prstGeom prst="ellipse">
            <a:avLst/>
          </a:prstGeom>
          <a:solidFill>
            <a:srgbClr val="B33A3A"/>
          </a:solidFill>
          <a:ln/>
        </p:spPr>
      </p:sp>
      <p:pic>
        <p:nvPicPr>
          <p:cNvPr id="15" name="Image 1" descr="icon_st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2557" y="2719197"/>
            <a:ext cx="276606" cy="27660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269480" y="262432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Stopping the Cluster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6629400" y="3246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9B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order of shutdown: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6629400" y="3611880"/>
            <a:ext cx="4572000" cy="1783080"/>
          </a:xfrm>
          <a:prstGeom prst="roundRect">
            <a:avLst>
              <a:gd name="adj" fmla="val 4103"/>
            </a:avLst>
          </a:prstGeom>
          <a:solidFill>
            <a:srgbClr val="1A1D29"/>
          </a:solidFill>
          <a:ln/>
        </p:spPr>
      </p:sp>
      <p:sp>
        <p:nvSpPr>
          <p:cNvPr id="19" name="Text 15"/>
          <p:cNvSpPr/>
          <p:nvPr/>
        </p:nvSpPr>
        <p:spPr>
          <a:xfrm>
            <a:off x="6903720" y="3776472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6903720" y="4160520"/>
            <a:ext cx="40233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 bin/kafka-server-stop.sh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 bin/zookeeper-server-stop.sh</a:t>
            </a:r>
            <a:endParaRPr lang="en-US" sz="1250" dirty="0"/>
          </a:p>
        </p:txBody>
      </p:sp>
      <p:sp>
        <p:nvSpPr>
          <p:cNvPr id="21" name="Text 17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OPERATIONS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D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Creating, Inspecting &amp; Removing Topics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topic is similar to a table in a relational database — each event shares a similar structure and meaning. Messages are immutable once written.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3703320" cy="3566160"/>
          </a:xfrm>
          <a:prstGeom prst="roundRect">
            <a:avLst>
              <a:gd name="adj" fmla="val 2051"/>
            </a:avLst>
          </a:prstGeom>
          <a:solidFill>
            <a:srgbClr val="1A1D29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359152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743200"/>
            <a:ext cx="31546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bin/kafka-topics.sh \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--bootstrap-server \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localhost:9092 \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--topic orders \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--create \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--replication-factor 3 \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--partitions 3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34840" y="2194560"/>
            <a:ext cx="3657600" cy="3566160"/>
          </a:xfrm>
          <a:prstGeom prst="roundRect">
            <a:avLst>
              <a:gd name="adj" fmla="val 2051"/>
            </a:avLst>
          </a:prstGeom>
          <a:solidFill>
            <a:srgbClr val="1A1D29"/>
          </a:solidFill>
          <a:ln/>
        </p:spPr>
      </p:sp>
      <p:sp>
        <p:nvSpPr>
          <p:cNvPr id="9" name="Text 7"/>
          <p:cNvSpPr/>
          <p:nvPr/>
        </p:nvSpPr>
        <p:spPr>
          <a:xfrm>
            <a:off x="4709160" y="235915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09160" y="2743200"/>
            <a:ext cx="310896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bin/kafka-topics.sh \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--bootstrap-server \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localhost:9092 \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--topic orders \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--describe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shows topic config,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partitions &amp; replicas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275320" y="2194560"/>
            <a:ext cx="3337560" cy="3566160"/>
          </a:xfrm>
          <a:prstGeom prst="roundRect">
            <a:avLst>
              <a:gd name="adj" fmla="val 2192"/>
            </a:avLst>
          </a:prstGeom>
          <a:solidFill>
            <a:srgbClr val="1A1D29"/>
          </a:solidFill>
          <a:ln/>
        </p:spPr>
      </p:sp>
      <p:sp>
        <p:nvSpPr>
          <p:cNvPr id="12" name="Text 10"/>
          <p:cNvSpPr/>
          <p:nvPr/>
        </p:nvSpPr>
        <p:spPr>
          <a:xfrm>
            <a:off x="8549640" y="2359152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549640" y="2743200"/>
            <a:ext cx="278892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bin/kafka-topics.sh \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--bootstrap-server \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localhost:9092 \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--topic orders \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--delete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⚠ also deletes all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messages in the topic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D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Kafka Troubleshooting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18520" cy="457200"/>
          </a:xfrm>
          <a:prstGeom prst="rect">
            <a:avLst/>
          </a:prstGeom>
          <a:solidFill>
            <a:srgbClr val="1A1D29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6916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246120" y="1691640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0" y="169164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148840"/>
            <a:ext cx="11018520" cy="758952"/>
          </a:xfrm>
          <a:prstGeom prst="rect">
            <a:avLst/>
          </a:prstGeom>
          <a:solidFill>
            <a:srgbClr val="FFFFFF"/>
          </a:solidFill>
          <a:ln w="6350">
            <a:solidFill>
              <a:srgbClr val="E3E1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148840"/>
            <a:ext cx="237744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not running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246120" y="2148840"/>
            <a:ext cx="434340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to node -1 could not be established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0" y="2148840"/>
            <a:ext cx="379476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3D8B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jps  ·  ss -lntp | grep 9092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2907792"/>
            <a:ext cx="11018520" cy="758952"/>
          </a:xfrm>
          <a:prstGeom prst="rect">
            <a:avLst/>
          </a:prstGeom>
          <a:solidFill>
            <a:srgbClr val="F0EEEB"/>
          </a:solidFill>
          <a:ln w="6350">
            <a:solidFill>
              <a:srgbClr val="E3E1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907792"/>
            <a:ext cx="237744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bootstrap server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246120" y="2907792"/>
            <a:ext cx="434340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points at the wrong port (e.g. 9093)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0" y="2907792"/>
            <a:ext cx="379476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3D8B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the correct port, e.g. localhost:9092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666744"/>
            <a:ext cx="11018520" cy="758952"/>
          </a:xfrm>
          <a:prstGeom prst="rect">
            <a:avLst/>
          </a:prstGeom>
          <a:solidFill>
            <a:srgbClr val="FFFFFF"/>
          </a:solidFill>
          <a:ln w="6350">
            <a:solidFill>
              <a:srgbClr val="E3E1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666744"/>
            <a:ext cx="237744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doesn't exist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246120" y="3666744"/>
            <a:ext cx="434340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Producer/consumer errors on an unknown topic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772400" y="3666744"/>
            <a:ext cx="379476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3D8B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--list to check, then --create the topic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4425696"/>
            <a:ext cx="11018520" cy="758952"/>
          </a:xfrm>
          <a:prstGeom prst="rect">
            <a:avLst/>
          </a:prstGeom>
          <a:solidFill>
            <a:srgbClr val="F0EEEB"/>
          </a:solidFill>
          <a:ln w="6350">
            <a:solidFill>
              <a:srgbClr val="E3E1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4425696"/>
            <a:ext cx="237744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messages missing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246120" y="4425696"/>
            <a:ext cx="434340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starts reading only new messages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772400" y="4425696"/>
            <a:ext cx="379476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3D8B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  --from-beginning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5184648"/>
            <a:ext cx="11018520" cy="758952"/>
          </a:xfrm>
          <a:prstGeom prst="rect">
            <a:avLst/>
          </a:prstGeom>
          <a:solidFill>
            <a:srgbClr val="FFFFFF"/>
          </a:solidFill>
          <a:ln w="6350">
            <a:solidFill>
              <a:srgbClr val="E3E1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5184648"/>
            <a:ext cx="237744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9092 in use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3246120" y="5184648"/>
            <a:ext cx="434340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"Address already in use" on startup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772400" y="5184648"/>
            <a:ext cx="379476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3D8B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lsof -i :9092</a:t>
            </a:r>
            <a:endParaRPr lang="en-US" sz="10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3D8B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stop the process or change port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5943600"/>
            <a:ext cx="11018520" cy="758952"/>
          </a:xfrm>
          <a:prstGeom prst="rect">
            <a:avLst/>
          </a:prstGeom>
          <a:solidFill>
            <a:srgbClr val="F0EEEB"/>
          </a:solidFill>
          <a:ln w="6350">
            <a:solidFill>
              <a:srgbClr val="E3E1D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5943600"/>
            <a:ext cx="237744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then stops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3246120" y="5943600"/>
            <a:ext cx="434340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shuts down right after starting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772400" y="5943600"/>
            <a:ext cx="379476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3D8B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 logs/server.log for "Permission</a:t>
            </a:r>
            <a:endParaRPr lang="en-US" sz="10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3D8B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denied"; fix directory permissions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PRACTICE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D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 Tasks I — Cluster &amp; Topics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02152" cy="4251960"/>
          </a:xfrm>
          <a:prstGeom prst="roundRect">
            <a:avLst>
              <a:gd name="adj" fmla="val 2350"/>
            </a:avLst>
          </a:prstGeom>
          <a:solidFill>
            <a:srgbClr val="FFFFFF"/>
          </a:solidFill>
          <a:ln w="12700">
            <a:solidFill>
              <a:srgbClr val="E3E1DD"/>
            </a:solidFill>
            <a:prstDash val="solid"/>
          </a:ln>
          <a:effectLst>
            <a:outerShdw blurRad="76200" dist="25400" dir="5400000" algn="bl" rotWithShape="0">
              <a:srgbClr val="999999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47672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947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1947672"/>
            <a:ext cx="24048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417320" y="2148840"/>
            <a:ext cx="240487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Zookeeper, then start the Kafka broker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04672" y="3063240"/>
            <a:ext cx="2990088" cy="2624328"/>
          </a:xfrm>
          <a:prstGeom prst="roundRect">
            <a:avLst>
              <a:gd name="adj" fmla="val 2439"/>
            </a:avLst>
          </a:prstGeom>
          <a:solidFill>
            <a:srgbClr val="1A1D29"/>
          </a:solidFill>
          <a:ln/>
        </p:spPr>
      </p:sp>
      <p:sp>
        <p:nvSpPr>
          <p:cNvPr id="10" name="Text 8"/>
          <p:cNvSpPr/>
          <p:nvPr/>
        </p:nvSpPr>
        <p:spPr>
          <a:xfrm>
            <a:off x="987552" y="3191256"/>
            <a:ext cx="26243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87552" y="3474720"/>
            <a:ext cx="2624328" cy="2075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E4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bin/zookeeper-server-start.sh \</a:t>
            </a:r>
            <a:endParaRPr lang="en-US" sz="9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E4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config/zookeeper.properties</a:t>
            </a:r>
            <a:endParaRPr lang="en-US" sz="950" dirty="0"/>
          </a:p>
          <a:p>
            <a:pPr marL="0" indent="0">
              <a:lnSpc>
                <a:spcPts val="1400"/>
              </a:lnSpc>
              <a:buNone/>
            </a:pPr>
            <a:endParaRPr lang="en-US" sz="9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E4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bin/kafka-server-start.sh \</a:t>
            </a:r>
            <a:endParaRPr lang="en-US" sz="9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E4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config/server.properties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325112" y="1691640"/>
            <a:ext cx="3502152" cy="4251960"/>
          </a:xfrm>
          <a:prstGeom prst="roundRect">
            <a:avLst>
              <a:gd name="adj" fmla="val 2350"/>
            </a:avLst>
          </a:prstGeom>
          <a:solidFill>
            <a:srgbClr val="FFFFFF"/>
          </a:solidFill>
          <a:ln w="12700">
            <a:solidFill>
              <a:srgbClr val="E3E1DD"/>
            </a:solidFill>
            <a:prstDash val="solid"/>
          </a:ln>
          <a:effectLst>
            <a:outerShdw blurRad="76200" dist="25400" dir="5400000" algn="bl" rotWithShape="0">
              <a:srgbClr val="999999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81144" y="1947672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4" name="Text 12"/>
          <p:cNvSpPr/>
          <p:nvPr/>
        </p:nvSpPr>
        <p:spPr>
          <a:xfrm>
            <a:off x="4581144" y="1947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193792" y="1947672"/>
            <a:ext cx="24048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193792" y="2148840"/>
            <a:ext cx="240487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every topic currently on the broker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81144" y="3063240"/>
            <a:ext cx="2990088" cy="2624328"/>
          </a:xfrm>
          <a:prstGeom prst="roundRect">
            <a:avLst>
              <a:gd name="adj" fmla="val 2439"/>
            </a:avLst>
          </a:prstGeom>
          <a:solidFill>
            <a:srgbClr val="1A1D29"/>
          </a:solidFill>
          <a:ln/>
        </p:spPr>
      </p:sp>
      <p:sp>
        <p:nvSpPr>
          <p:cNvPr id="18" name="Text 16"/>
          <p:cNvSpPr/>
          <p:nvPr/>
        </p:nvSpPr>
        <p:spPr>
          <a:xfrm>
            <a:off x="4764024" y="3191256"/>
            <a:ext cx="26243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764024" y="3474720"/>
            <a:ext cx="2624328" cy="2075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E4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bin/kafka-topics.sh \</a:t>
            </a:r>
            <a:endParaRPr lang="en-US" sz="9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E4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--bootstrap-server \</a:t>
            </a:r>
            <a:endParaRPr lang="en-US" sz="9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E4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localhost:9092 \</a:t>
            </a:r>
            <a:endParaRPr lang="en-US" sz="9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E4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--list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101584" y="1691640"/>
            <a:ext cx="3502152" cy="4251960"/>
          </a:xfrm>
          <a:prstGeom prst="roundRect">
            <a:avLst>
              <a:gd name="adj" fmla="val 2350"/>
            </a:avLst>
          </a:prstGeom>
          <a:solidFill>
            <a:srgbClr val="FFFFFF"/>
          </a:solidFill>
          <a:ln w="12700">
            <a:solidFill>
              <a:srgbClr val="E3E1DD"/>
            </a:solidFill>
            <a:prstDash val="solid"/>
          </a:ln>
          <a:effectLst>
            <a:outerShdw blurRad="76200" dist="25400" dir="5400000" algn="bl" rotWithShape="0">
              <a:srgbClr val="999999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357616" y="1947672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2" name="Text 20"/>
          <p:cNvSpPr/>
          <p:nvPr/>
        </p:nvSpPr>
        <p:spPr>
          <a:xfrm>
            <a:off x="8357616" y="1947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970264" y="1947672"/>
            <a:ext cx="24048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970264" y="2148840"/>
            <a:ext cx="240487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topic "orders" with 3 partitions and a replication factor of 3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357616" y="3063240"/>
            <a:ext cx="2990088" cy="2624328"/>
          </a:xfrm>
          <a:prstGeom prst="roundRect">
            <a:avLst>
              <a:gd name="adj" fmla="val 2439"/>
            </a:avLst>
          </a:prstGeom>
          <a:solidFill>
            <a:srgbClr val="1A1D29"/>
          </a:solidFill>
          <a:ln/>
        </p:spPr>
      </p:sp>
      <p:sp>
        <p:nvSpPr>
          <p:cNvPr id="26" name="Text 24"/>
          <p:cNvSpPr/>
          <p:nvPr/>
        </p:nvSpPr>
        <p:spPr>
          <a:xfrm>
            <a:off x="8540496" y="3191256"/>
            <a:ext cx="26243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540496" y="3474720"/>
            <a:ext cx="2624328" cy="2075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E4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bin/kafka-topics.sh \</a:t>
            </a:r>
            <a:endParaRPr lang="en-US" sz="9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E4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--bootstrap-server \</a:t>
            </a:r>
            <a:endParaRPr lang="en-US" sz="9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E4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localhost:9092 \</a:t>
            </a:r>
            <a:endParaRPr lang="en-US" sz="9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E4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--topic orders --create \</a:t>
            </a:r>
            <a:endParaRPr lang="en-US" sz="9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E4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--replication-factor 3 \</a:t>
            </a:r>
            <a:endParaRPr lang="en-US" sz="9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E4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--partitions 3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PRACTICE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D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 Tasks II — Producing Messages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02152" cy="4251960"/>
          </a:xfrm>
          <a:prstGeom prst="roundRect">
            <a:avLst>
              <a:gd name="adj" fmla="val 2350"/>
            </a:avLst>
          </a:prstGeom>
          <a:solidFill>
            <a:srgbClr val="FFFFFF"/>
          </a:solidFill>
          <a:ln w="12700">
            <a:solidFill>
              <a:srgbClr val="E3E1DD"/>
            </a:solidFill>
            <a:prstDash val="solid"/>
          </a:ln>
          <a:effectLst>
            <a:outerShdw blurRad="76200" dist="25400" dir="5400000" algn="bl" rotWithShape="0">
              <a:srgbClr val="999999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47672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947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1947672"/>
            <a:ext cx="24048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417320" y="2148840"/>
            <a:ext cx="240487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an interactive producer session for topic "testing"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04672" y="3063240"/>
            <a:ext cx="2990088" cy="2624328"/>
          </a:xfrm>
          <a:prstGeom prst="roundRect">
            <a:avLst>
              <a:gd name="adj" fmla="val 2439"/>
            </a:avLst>
          </a:prstGeom>
          <a:solidFill>
            <a:srgbClr val="1A1D29"/>
          </a:solidFill>
          <a:ln/>
        </p:spPr>
      </p:sp>
      <p:sp>
        <p:nvSpPr>
          <p:cNvPr id="10" name="Text 8"/>
          <p:cNvSpPr/>
          <p:nvPr/>
        </p:nvSpPr>
        <p:spPr>
          <a:xfrm>
            <a:off x="987552" y="3191256"/>
            <a:ext cx="26243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87552" y="3474720"/>
            <a:ext cx="2624328" cy="2075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E4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bin/kafka-console-producer.sh \</a:t>
            </a:r>
            <a:endParaRPr lang="en-US" sz="9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E4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--bootstrap-server \</a:t>
            </a:r>
            <a:endParaRPr lang="en-US" sz="9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E4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localhost:9092 \</a:t>
            </a:r>
            <a:endParaRPr lang="en-US" sz="9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E4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--topic testing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325112" y="1691640"/>
            <a:ext cx="3502152" cy="4251960"/>
          </a:xfrm>
          <a:prstGeom prst="roundRect">
            <a:avLst>
              <a:gd name="adj" fmla="val 2350"/>
            </a:avLst>
          </a:prstGeom>
          <a:solidFill>
            <a:srgbClr val="FFFFFF"/>
          </a:solidFill>
          <a:ln w="12700">
            <a:solidFill>
              <a:srgbClr val="E3E1DD"/>
            </a:solidFill>
            <a:prstDash val="solid"/>
          </a:ln>
          <a:effectLst>
            <a:outerShdw blurRad="76200" dist="25400" dir="5400000" algn="bl" rotWithShape="0">
              <a:srgbClr val="999999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81144" y="1947672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4" name="Text 12"/>
          <p:cNvSpPr/>
          <p:nvPr/>
        </p:nvSpPr>
        <p:spPr>
          <a:xfrm>
            <a:off x="4581144" y="1947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193792" y="1947672"/>
            <a:ext cx="24048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193792" y="2148840"/>
            <a:ext cx="240487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one message to "testing" without opening an interactive session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81144" y="3063240"/>
            <a:ext cx="2990088" cy="2624328"/>
          </a:xfrm>
          <a:prstGeom prst="roundRect">
            <a:avLst>
              <a:gd name="adj" fmla="val 2439"/>
            </a:avLst>
          </a:prstGeom>
          <a:solidFill>
            <a:srgbClr val="1A1D29"/>
          </a:solidFill>
          <a:ln/>
        </p:spPr>
      </p:sp>
      <p:sp>
        <p:nvSpPr>
          <p:cNvPr id="18" name="Text 16"/>
          <p:cNvSpPr/>
          <p:nvPr/>
        </p:nvSpPr>
        <p:spPr>
          <a:xfrm>
            <a:off x="4764024" y="3191256"/>
            <a:ext cx="26243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764024" y="3474720"/>
            <a:ext cx="2624328" cy="2075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E4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"hello kafka" | \</a:t>
            </a:r>
            <a:endParaRPr lang="en-US" sz="9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E4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bin/kafka-console-producer.sh \</a:t>
            </a:r>
            <a:endParaRPr lang="en-US" sz="9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E4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--bootstrap-server \</a:t>
            </a:r>
            <a:endParaRPr lang="en-US" sz="9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E4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localhost:9092 \</a:t>
            </a:r>
            <a:endParaRPr lang="en-US" sz="9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E4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--topic testing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101584" y="1691640"/>
            <a:ext cx="3502152" cy="4251960"/>
          </a:xfrm>
          <a:prstGeom prst="roundRect">
            <a:avLst>
              <a:gd name="adj" fmla="val 2350"/>
            </a:avLst>
          </a:prstGeom>
          <a:solidFill>
            <a:srgbClr val="FFFFFF"/>
          </a:solidFill>
          <a:ln w="12700">
            <a:solidFill>
              <a:srgbClr val="E3E1DD"/>
            </a:solidFill>
            <a:prstDash val="solid"/>
          </a:ln>
          <a:effectLst>
            <a:outerShdw blurRad="76200" dist="25400" dir="5400000" algn="bl" rotWithShape="0">
              <a:srgbClr val="999999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357616" y="1947672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2" name="Text 20"/>
          <p:cNvSpPr/>
          <p:nvPr/>
        </p:nvSpPr>
        <p:spPr>
          <a:xfrm>
            <a:off x="8357616" y="1947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970264" y="1947672"/>
            <a:ext cx="24048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970264" y="2148840"/>
            <a:ext cx="240487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the "orders" topic — view its partitions &amp; replicas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357616" y="3063240"/>
            <a:ext cx="2990088" cy="2624328"/>
          </a:xfrm>
          <a:prstGeom prst="roundRect">
            <a:avLst>
              <a:gd name="adj" fmla="val 2439"/>
            </a:avLst>
          </a:prstGeom>
          <a:solidFill>
            <a:srgbClr val="1A1D29"/>
          </a:solidFill>
          <a:ln/>
        </p:spPr>
      </p:sp>
      <p:sp>
        <p:nvSpPr>
          <p:cNvPr id="26" name="Text 24"/>
          <p:cNvSpPr/>
          <p:nvPr/>
        </p:nvSpPr>
        <p:spPr>
          <a:xfrm>
            <a:off x="8540496" y="3191256"/>
            <a:ext cx="26243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540496" y="3474720"/>
            <a:ext cx="2624328" cy="2075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E4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bin/kafka-topics.sh \</a:t>
            </a:r>
            <a:endParaRPr lang="en-US" sz="9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E4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--bootstrap-server \</a:t>
            </a:r>
            <a:endParaRPr lang="en-US" sz="9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E4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localhost:9092 \</a:t>
            </a:r>
            <a:endParaRPr lang="en-US" sz="9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E4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--topic orders \</a:t>
            </a:r>
            <a:endParaRPr lang="en-US" sz="9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E4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--describe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PRACTICE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D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 Tasks III — Consuming Messages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02152" cy="4251960"/>
          </a:xfrm>
          <a:prstGeom prst="roundRect">
            <a:avLst>
              <a:gd name="adj" fmla="val 2350"/>
            </a:avLst>
          </a:prstGeom>
          <a:solidFill>
            <a:srgbClr val="FFFFFF"/>
          </a:solidFill>
          <a:ln w="12700">
            <a:solidFill>
              <a:srgbClr val="E3E1DD"/>
            </a:solidFill>
            <a:prstDash val="solid"/>
          </a:ln>
          <a:effectLst>
            <a:outerShdw blurRad="76200" dist="25400" dir="5400000" algn="bl" rotWithShape="0">
              <a:srgbClr val="999999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47672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947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1947672"/>
            <a:ext cx="24048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417320" y="2148840"/>
            <a:ext cx="240487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every message ever written to "testing", including old ones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04672" y="3063240"/>
            <a:ext cx="2990088" cy="2624328"/>
          </a:xfrm>
          <a:prstGeom prst="roundRect">
            <a:avLst>
              <a:gd name="adj" fmla="val 2439"/>
            </a:avLst>
          </a:prstGeom>
          <a:solidFill>
            <a:srgbClr val="1A1D29"/>
          </a:solidFill>
          <a:ln/>
        </p:spPr>
      </p:sp>
      <p:sp>
        <p:nvSpPr>
          <p:cNvPr id="10" name="Text 8"/>
          <p:cNvSpPr/>
          <p:nvPr/>
        </p:nvSpPr>
        <p:spPr>
          <a:xfrm>
            <a:off x="987552" y="3191256"/>
            <a:ext cx="26243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87552" y="3474720"/>
            <a:ext cx="2624328" cy="2075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E4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bin/kafka-console-consumer.sh \</a:t>
            </a:r>
            <a:endParaRPr lang="en-US" sz="9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E4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--bootstrap-server \</a:t>
            </a:r>
            <a:endParaRPr lang="en-US" sz="9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E4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localhost:9092 \</a:t>
            </a:r>
            <a:endParaRPr lang="en-US" sz="9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E4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--topic testing \</a:t>
            </a:r>
            <a:endParaRPr lang="en-US" sz="9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E4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--from-beginning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325112" y="1691640"/>
            <a:ext cx="3502152" cy="4251960"/>
          </a:xfrm>
          <a:prstGeom prst="roundRect">
            <a:avLst>
              <a:gd name="adj" fmla="val 2350"/>
            </a:avLst>
          </a:prstGeom>
          <a:solidFill>
            <a:srgbClr val="FFFFFF"/>
          </a:solidFill>
          <a:ln w="12700">
            <a:solidFill>
              <a:srgbClr val="E3E1DD"/>
            </a:solidFill>
            <a:prstDash val="solid"/>
          </a:ln>
          <a:effectLst>
            <a:outerShdw blurRad="76200" dist="25400" dir="5400000" algn="bl" rotWithShape="0">
              <a:srgbClr val="999999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81144" y="1947672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4" name="Text 12"/>
          <p:cNvSpPr/>
          <p:nvPr/>
        </p:nvSpPr>
        <p:spPr>
          <a:xfrm>
            <a:off x="4581144" y="1947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193792" y="1947672"/>
            <a:ext cx="24048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193792" y="2148840"/>
            <a:ext cx="240487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only the next 5 new messages, then exit automatically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81144" y="3063240"/>
            <a:ext cx="2990088" cy="2624328"/>
          </a:xfrm>
          <a:prstGeom prst="roundRect">
            <a:avLst>
              <a:gd name="adj" fmla="val 2439"/>
            </a:avLst>
          </a:prstGeom>
          <a:solidFill>
            <a:srgbClr val="1A1D29"/>
          </a:solidFill>
          <a:ln/>
        </p:spPr>
      </p:sp>
      <p:sp>
        <p:nvSpPr>
          <p:cNvPr id="18" name="Text 16"/>
          <p:cNvSpPr/>
          <p:nvPr/>
        </p:nvSpPr>
        <p:spPr>
          <a:xfrm>
            <a:off x="4764024" y="3191256"/>
            <a:ext cx="26243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764024" y="3474720"/>
            <a:ext cx="2624328" cy="2075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E4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bin/kafka-console-consumer.sh \</a:t>
            </a:r>
            <a:endParaRPr lang="en-US" sz="9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E4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--bootstrap-server \</a:t>
            </a:r>
            <a:endParaRPr lang="en-US" sz="9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E4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localhost:9092 \</a:t>
            </a:r>
            <a:endParaRPr lang="en-US" sz="9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E4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--topic testing \</a:t>
            </a:r>
            <a:endParaRPr lang="en-US" sz="9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E4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--max-messages 5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101584" y="1691640"/>
            <a:ext cx="3502152" cy="4251960"/>
          </a:xfrm>
          <a:prstGeom prst="roundRect">
            <a:avLst>
              <a:gd name="adj" fmla="val 2350"/>
            </a:avLst>
          </a:prstGeom>
          <a:solidFill>
            <a:srgbClr val="FFFFFF"/>
          </a:solidFill>
          <a:ln w="12700">
            <a:solidFill>
              <a:srgbClr val="E3E1DD"/>
            </a:solidFill>
            <a:prstDash val="solid"/>
          </a:ln>
          <a:effectLst>
            <a:outerShdw blurRad="76200" dist="25400" dir="5400000" algn="bl" rotWithShape="0">
              <a:srgbClr val="999999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357616" y="1947672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2" name="Text 20"/>
          <p:cNvSpPr/>
          <p:nvPr/>
        </p:nvSpPr>
        <p:spPr>
          <a:xfrm>
            <a:off x="8357616" y="1947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970264" y="1947672"/>
            <a:ext cx="24048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970264" y="2148840"/>
            <a:ext cx="240487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Permanently remove the "orders" topic and all of its messages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357616" y="3063240"/>
            <a:ext cx="2990088" cy="2624328"/>
          </a:xfrm>
          <a:prstGeom prst="roundRect">
            <a:avLst>
              <a:gd name="adj" fmla="val 2439"/>
            </a:avLst>
          </a:prstGeom>
          <a:solidFill>
            <a:srgbClr val="1A1D29"/>
          </a:solidFill>
          <a:ln/>
        </p:spPr>
      </p:sp>
      <p:sp>
        <p:nvSpPr>
          <p:cNvPr id="26" name="Text 24"/>
          <p:cNvSpPr/>
          <p:nvPr/>
        </p:nvSpPr>
        <p:spPr>
          <a:xfrm>
            <a:off x="8540496" y="3191256"/>
            <a:ext cx="26243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540496" y="3474720"/>
            <a:ext cx="2624328" cy="2075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E4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bin/kafka-topics.sh \</a:t>
            </a:r>
            <a:endParaRPr lang="en-US" sz="9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E4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--bootstrap-server \</a:t>
            </a:r>
            <a:endParaRPr lang="en-US" sz="9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E4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localhost:9092 \</a:t>
            </a:r>
            <a:endParaRPr lang="en-US" sz="9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E4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--topic orders \</a:t>
            </a:r>
            <a:endParaRPr lang="en-US" sz="9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E4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--delete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PRACTICE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D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 Tasks IV — Diagnostics &amp; Shutdown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02152" cy="4251960"/>
          </a:xfrm>
          <a:prstGeom prst="roundRect">
            <a:avLst>
              <a:gd name="adj" fmla="val 2350"/>
            </a:avLst>
          </a:prstGeom>
          <a:solidFill>
            <a:srgbClr val="FFFFFF"/>
          </a:solidFill>
          <a:ln w="12700">
            <a:solidFill>
              <a:srgbClr val="E3E1DD"/>
            </a:solidFill>
            <a:prstDash val="solid"/>
          </a:ln>
          <a:effectLst>
            <a:outerShdw blurRad="76200" dist="25400" dir="5400000" algn="bl" rotWithShape="0">
              <a:srgbClr val="999999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47672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947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1947672"/>
            <a:ext cx="24048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417320" y="2148840"/>
            <a:ext cx="240487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every available option for the kafka-topics CLI tool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04672" y="3063240"/>
            <a:ext cx="2990088" cy="2624328"/>
          </a:xfrm>
          <a:prstGeom prst="roundRect">
            <a:avLst>
              <a:gd name="adj" fmla="val 2439"/>
            </a:avLst>
          </a:prstGeom>
          <a:solidFill>
            <a:srgbClr val="1A1D29"/>
          </a:solidFill>
          <a:ln/>
        </p:spPr>
      </p:sp>
      <p:sp>
        <p:nvSpPr>
          <p:cNvPr id="10" name="Text 8"/>
          <p:cNvSpPr/>
          <p:nvPr/>
        </p:nvSpPr>
        <p:spPr>
          <a:xfrm>
            <a:off x="987552" y="3191256"/>
            <a:ext cx="26243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87552" y="3474720"/>
            <a:ext cx="2624328" cy="2075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E4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bin/kafka-topics.sh --help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325112" y="1691640"/>
            <a:ext cx="3502152" cy="4251960"/>
          </a:xfrm>
          <a:prstGeom prst="roundRect">
            <a:avLst>
              <a:gd name="adj" fmla="val 2350"/>
            </a:avLst>
          </a:prstGeom>
          <a:solidFill>
            <a:srgbClr val="FFFFFF"/>
          </a:solidFill>
          <a:ln w="12700">
            <a:solidFill>
              <a:srgbClr val="E3E1DD"/>
            </a:solidFill>
            <a:prstDash val="solid"/>
          </a:ln>
          <a:effectLst>
            <a:outerShdw blurRad="76200" dist="25400" dir="5400000" algn="bl" rotWithShape="0">
              <a:srgbClr val="999999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81144" y="1947672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4" name="Text 12"/>
          <p:cNvSpPr/>
          <p:nvPr/>
        </p:nvSpPr>
        <p:spPr>
          <a:xfrm>
            <a:off x="4581144" y="1947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193792" y="1947672"/>
            <a:ext cx="24048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193792" y="2148840"/>
            <a:ext cx="240487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Kafka broker process is running and listening on port 9092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81144" y="3063240"/>
            <a:ext cx="2990088" cy="2624328"/>
          </a:xfrm>
          <a:prstGeom prst="roundRect">
            <a:avLst>
              <a:gd name="adj" fmla="val 2439"/>
            </a:avLst>
          </a:prstGeom>
          <a:solidFill>
            <a:srgbClr val="1A1D29"/>
          </a:solidFill>
          <a:ln/>
        </p:spPr>
      </p:sp>
      <p:sp>
        <p:nvSpPr>
          <p:cNvPr id="18" name="Text 16"/>
          <p:cNvSpPr/>
          <p:nvPr/>
        </p:nvSpPr>
        <p:spPr>
          <a:xfrm>
            <a:off x="4764024" y="3191256"/>
            <a:ext cx="26243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764024" y="3474720"/>
            <a:ext cx="2624328" cy="2075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E4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jps</a:t>
            </a:r>
            <a:endParaRPr lang="en-US" sz="950" dirty="0"/>
          </a:p>
          <a:p>
            <a:pPr marL="0" indent="0">
              <a:lnSpc>
                <a:spcPts val="1400"/>
              </a:lnSpc>
              <a:buNone/>
            </a:pPr>
            <a:endParaRPr lang="en-US" sz="9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E4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 -lntp | grep 9092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101584" y="1691640"/>
            <a:ext cx="3502152" cy="4251960"/>
          </a:xfrm>
          <a:prstGeom prst="roundRect">
            <a:avLst>
              <a:gd name="adj" fmla="val 2350"/>
            </a:avLst>
          </a:prstGeom>
          <a:solidFill>
            <a:srgbClr val="FFFFFF"/>
          </a:solidFill>
          <a:ln w="12700">
            <a:solidFill>
              <a:srgbClr val="E3E1DD"/>
            </a:solidFill>
            <a:prstDash val="solid"/>
          </a:ln>
          <a:effectLst>
            <a:outerShdw blurRad="76200" dist="25400" dir="5400000" algn="bl" rotWithShape="0">
              <a:srgbClr val="999999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357616" y="1947672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2" name="Text 20"/>
          <p:cNvSpPr/>
          <p:nvPr/>
        </p:nvSpPr>
        <p:spPr>
          <a:xfrm>
            <a:off x="8357616" y="1947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970264" y="1947672"/>
            <a:ext cx="24048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970264" y="2148840"/>
            <a:ext cx="240487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Shut the cluster down safely, in the correct order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357616" y="3063240"/>
            <a:ext cx="2990088" cy="2624328"/>
          </a:xfrm>
          <a:prstGeom prst="roundRect">
            <a:avLst>
              <a:gd name="adj" fmla="val 2439"/>
            </a:avLst>
          </a:prstGeom>
          <a:solidFill>
            <a:srgbClr val="1A1D29"/>
          </a:solidFill>
          <a:ln/>
        </p:spPr>
      </p:sp>
      <p:sp>
        <p:nvSpPr>
          <p:cNvPr id="26" name="Text 24"/>
          <p:cNvSpPr/>
          <p:nvPr/>
        </p:nvSpPr>
        <p:spPr>
          <a:xfrm>
            <a:off x="8540496" y="3191256"/>
            <a:ext cx="26243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540496" y="3474720"/>
            <a:ext cx="2624328" cy="2075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E4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bin/kafka-server-stop.sh</a:t>
            </a:r>
            <a:endParaRPr lang="en-US" sz="950" dirty="0"/>
          </a:p>
          <a:p>
            <a:pPr marL="0" indent="0">
              <a:lnSpc>
                <a:spcPts val="1400"/>
              </a:lnSpc>
              <a:buNone/>
            </a:pPr>
            <a:endParaRPr lang="en-US" sz="9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E4E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bin/zookeeper-server-stop.sh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1D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Apache Kafka, at a Glance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502920" cy="502920"/>
          </a:xfrm>
          <a:prstGeom prst="ellipse">
            <a:avLst/>
          </a:prstGeom>
          <a:solidFill>
            <a:srgbClr val="232733"/>
          </a:solidFill>
          <a:ln/>
        </p:spPr>
      </p:sp>
      <p:pic>
        <p:nvPicPr>
          <p:cNvPr id="5" name="Image 0" descr="icon_stre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370" y="2274570"/>
            <a:ext cx="251460" cy="2514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214884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 &amp; partitions  —  </a:t>
            </a:r>
            <a:r>
              <a:rPr lang="en-US" sz="1450" dirty="0">
                <a:solidFill>
                  <a:srgbClr val="B9B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 and parallelize the event log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548640" y="2862072"/>
            <a:ext cx="502920" cy="502920"/>
          </a:xfrm>
          <a:prstGeom prst="ellipse">
            <a:avLst/>
          </a:prstGeom>
          <a:solidFill>
            <a:srgbClr val="232733"/>
          </a:solidFill>
          <a:ln/>
        </p:spPr>
      </p:sp>
      <p:pic>
        <p:nvPicPr>
          <p:cNvPr id="8" name="Image 1" descr="icon_exchan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370" y="2987802"/>
            <a:ext cx="251460" cy="2514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34440" y="2862072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Producers &amp; consumers  —  </a:t>
            </a:r>
            <a:r>
              <a:rPr lang="en-US" sz="1450" dirty="0">
                <a:solidFill>
                  <a:srgbClr val="B9B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 only through topics, never directly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548640" y="3575304"/>
            <a:ext cx="502920" cy="502920"/>
          </a:xfrm>
          <a:prstGeom prst="ellipse">
            <a:avLst/>
          </a:prstGeom>
          <a:solidFill>
            <a:srgbClr val="232733"/>
          </a:solidFill>
          <a:ln/>
        </p:spPr>
      </p:sp>
      <p:pic>
        <p:nvPicPr>
          <p:cNvPr id="11" name="Image 2" descr="icon_shie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370" y="3701034"/>
            <a:ext cx="251460" cy="2514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34440" y="3575304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Replication  —  </a:t>
            </a:r>
            <a:r>
              <a:rPr lang="en-US" sz="1450" dirty="0">
                <a:solidFill>
                  <a:srgbClr val="B9B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the cluster fault-tolerant across brokers</a:t>
            </a:r>
            <a:endParaRPr lang="en-US" sz="1450" dirty="0"/>
          </a:p>
        </p:txBody>
      </p:sp>
      <p:sp>
        <p:nvSpPr>
          <p:cNvPr id="13" name="Shape 8"/>
          <p:cNvSpPr/>
          <p:nvPr/>
        </p:nvSpPr>
        <p:spPr>
          <a:xfrm>
            <a:off x="548640" y="4288536"/>
            <a:ext cx="502920" cy="502920"/>
          </a:xfrm>
          <a:prstGeom prst="ellipse">
            <a:avLst/>
          </a:prstGeom>
          <a:solidFill>
            <a:srgbClr val="232733"/>
          </a:solidFill>
          <a:ln/>
        </p:spPr>
      </p:sp>
      <p:pic>
        <p:nvPicPr>
          <p:cNvPr id="14" name="Image 3" descr="icon_cog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370" y="4414266"/>
            <a:ext cx="251460" cy="25146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34440" y="4288536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Zookeeper / KRaft  —  </a:t>
            </a:r>
            <a:r>
              <a:rPr lang="en-US" sz="1450" dirty="0">
                <a:solidFill>
                  <a:srgbClr val="B9B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 the distributed cluster</a:t>
            </a:r>
            <a:endParaRPr lang="en-US" sz="1450" dirty="0"/>
          </a:p>
        </p:txBody>
      </p:sp>
      <p:sp>
        <p:nvSpPr>
          <p:cNvPr id="16" name="Shape 10"/>
          <p:cNvSpPr/>
          <p:nvPr/>
        </p:nvSpPr>
        <p:spPr>
          <a:xfrm>
            <a:off x="548640" y="5001768"/>
            <a:ext cx="502920" cy="502920"/>
          </a:xfrm>
          <a:prstGeom prst="ellipse">
            <a:avLst/>
          </a:prstGeom>
          <a:solidFill>
            <a:srgbClr val="232733"/>
          </a:solidFill>
          <a:ln/>
        </p:spPr>
      </p:sp>
      <p:pic>
        <p:nvPicPr>
          <p:cNvPr id="17" name="Image 4" descr="icon_tool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4370" y="5127498"/>
            <a:ext cx="251460" cy="25146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234440" y="5001768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tools  —  </a:t>
            </a:r>
            <a:r>
              <a:rPr lang="en-US" sz="1450" dirty="0">
                <a:solidFill>
                  <a:srgbClr val="B9B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kafka-topics.sh, console producer &amp; consumer scripts</a:t>
            </a:r>
            <a:endParaRPr lang="en-US" sz="1450" dirty="0"/>
          </a:p>
        </p:txBody>
      </p:sp>
      <p:sp>
        <p:nvSpPr>
          <p:cNvPr id="19" name="Text 12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1762</Words>
  <Application>Microsoft Office PowerPoint</Application>
  <PresentationFormat>Widescreen</PresentationFormat>
  <Paragraphs>384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Youssef Nady</cp:lastModifiedBy>
  <cp:revision>2</cp:revision>
  <dcterms:created xsi:type="dcterms:W3CDTF">2026-08-16T20:13:01Z</dcterms:created>
  <dcterms:modified xsi:type="dcterms:W3CDTF">2026-08-17T06:32:37Z</dcterms:modified>
</cp:coreProperties>
</file>