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image" Target="../media/image-4-9.png"/><Relationship Id="rId10" Type="http://schemas.openxmlformats.org/officeDocument/2006/relationships/image" Target="../media/image-4-10.png"/><Relationship Id="rId11" Type="http://schemas.openxmlformats.org/officeDocument/2006/relationships/image" Target="../media/image-4-11.png"/><Relationship Id="rId12" Type="http://schemas.openxmlformats.org/officeDocument/2006/relationships/image" Target="../media/image-4-12.png"/><Relationship Id="rId13" Type="http://schemas.openxmlformats.org/officeDocument/2006/relationships/image" Target="../media/image-4-13.png"/><Relationship Id="rId14" Type="http://schemas.openxmlformats.org/officeDocument/2006/relationships/slideLayout" Target="../slideLayouts/slideLayout1.xml"/><Relationship Id="rId1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image" Target="../media/image-14-6.png"/><Relationship Id="rId7" Type="http://schemas.openxmlformats.org/officeDocument/2006/relationships/image" Target="../media/image-14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457200"/>
            <a:ext cx="457200" cy="457200"/>
          </a:xfrm>
          <a:prstGeom prst="ellipse">
            <a:avLst/>
          </a:prstGeom>
          <a:solidFill>
            <a:srgbClr val="1C7293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464040" y="457200"/>
            <a:ext cx="411480" cy="411480"/>
          </a:xfrm>
          <a:prstGeom prst="ellipse">
            <a:avLst/>
          </a:prstGeom>
          <a:solidFill>
            <a:srgbClr val="1C7293">
              <a:alpha val="39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149840" y="457200"/>
            <a:ext cx="365760" cy="365760"/>
          </a:xfrm>
          <a:prstGeom prst="ellipse">
            <a:avLst/>
          </a:prstGeom>
          <a:solidFill>
            <a:srgbClr val="1C7293">
              <a:alpha val="33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0835640" y="457200"/>
            <a:ext cx="320040" cy="320040"/>
          </a:xfrm>
          <a:prstGeom prst="ellipse">
            <a:avLst/>
          </a:prstGeom>
          <a:solidFill>
            <a:srgbClr val="1C7293">
              <a:alpha val="27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1521440" y="457200"/>
            <a:ext cx="274320" cy="274320"/>
          </a:xfrm>
          <a:prstGeom prst="ellipse">
            <a:avLst/>
          </a:prstGeom>
          <a:solidFill>
            <a:srgbClr val="1C7293">
              <a:alpha val="21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822960" y="1371600"/>
            <a:ext cx="1005840" cy="100584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3778" y="1512418"/>
            <a:ext cx="724205" cy="724205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822960" y="26060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DATA ENGINEERING · REAL-WORLD PIPELINES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777240" y="297180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Spark Structured Streaming</a:t>
            </a:r>
            <a:endParaRPr lang="en-US" sz="4600" dirty="0"/>
          </a:p>
        </p:txBody>
      </p:sp>
      <p:sp>
        <p:nvSpPr>
          <p:cNvPr id="11" name="Text 8"/>
          <p:cNvSpPr txBox="1"/>
          <p:nvPr/>
        </p:nvSpPr>
        <p:spPr>
          <a:xfrm>
            <a:off x="822960" y="3977640"/>
            <a:ext cx="9326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concepts you actually need for production streaming pipelines</a:t>
            </a:r>
            <a:endParaRPr lang="en-US" sz="16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sources, sinks, watermarking, windows, joins, and fault tolerance.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822960" y="5074920"/>
            <a:ext cx="2926080" cy="0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822960" y="521208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FB6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Kafka  →  Structured Streaming  →  Bronze / Silver / Gold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We’ll Cover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429000" cy="1965960"/>
          </a:xfrm>
          <a:prstGeom prst="roundRect">
            <a:avLst>
              <a:gd name="adj" fmla="val 3721"/>
            </a:avLst>
          </a:prstGeom>
          <a:solidFill>
            <a:srgbClr val="F7FAFC"/>
          </a:solidFill>
          <a:ln/>
          <a:effectLst>
            <a:outerShdw sx="100000" sy="100000" kx="0" ky="0" algn="bl" rotWithShape="0" blurRad="76200" dist="25400" dir="5400000">
              <a:srgbClr val="3B4A66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920240"/>
            <a:ext cx="548640" cy="54864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4050" y="1997050"/>
            <a:ext cx="395021" cy="395021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777240" y="260604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Streaming Model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2971800"/>
            <a:ext cx="2971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Unbounded tables, micro-batches &amp; continuous processing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4206240" y="1691640"/>
            <a:ext cx="3429000" cy="1965960"/>
          </a:xfrm>
          <a:prstGeom prst="roundRect">
            <a:avLst>
              <a:gd name="adj" fmla="val 3721"/>
            </a:avLst>
          </a:prstGeom>
          <a:solidFill>
            <a:srgbClr val="F7FAFC"/>
          </a:solidFill>
          <a:ln/>
          <a:effectLst>
            <a:outerShdw sx="100000" sy="100000" kx="0" ky="0" algn="bl" rotWithShape="0" blurRad="76200" dist="25400" dir="5400000">
              <a:srgbClr val="3B4A66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434840" y="1920240"/>
            <a:ext cx="548640" cy="54864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11650" y="1997050"/>
            <a:ext cx="395021" cy="395021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434840" y="260604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Sources &amp; Sinks</a:t>
            </a:r>
            <a:endParaRPr lang="en-US" sz="1500" dirty="0"/>
          </a:p>
        </p:txBody>
      </p:sp>
      <p:sp>
        <p:nvSpPr>
          <p:cNvPr id="13" name="Text 9"/>
          <p:cNvSpPr txBox="1"/>
          <p:nvPr/>
        </p:nvSpPr>
        <p:spPr>
          <a:xfrm>
            <a:off x="4434840" y="2971800"/>
            <a:ext cx="2971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Kafka, files, foreachBatch, and output modes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7863840" y="1691640"/>
            <a:ext cx="3429000" cy="1965960"/>
          </a:xfrm>
          <a:prstGeom prst="roundRect">
            <a:avLst>
              <a:gd name="adj" fmla="val 3721"/>
            </a:avLst>
          </a:prstGeom>
          <a:solidFill>
            <a:srgbClr val="F7FAFC"/>
          </a:solidFill>
          <a:ln/>
          <a:effectLst>
            <a:outerShdw sx="100000" sy="100000" kx="0" ky="0" algn="bl" rotWithShape="0" blurRad="76200" dist="25400" dir="5400000">
              <a:srgbClr val="3B4A66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092440" y="1920240"/>
            <a:ext cx="548640" cy="54864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69250" y="1997050"/>
            <a:ext cx="395021" cy="395021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8092440" y="260604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Time &amp; Triggers</a:t>
            </a:r>
            <a:endParaRPr lang="en-US" sz="1500" dirty="0"/>
          </a:p>
        </p:txBody>
      </p:sp>
      <p:sp>
        <p:nvSpPr>
          <p:cNvPr id="18" name="Text 13"/>
          <p:cNvSpPr txBox="1"/>
          <p:nvPr/>
        </p:nvSpPr>
        <p:spPr>
          <a:xfrm>
            <a:off x="8092440" y="2971800"/>
            <a:ext cx="2971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time, watermarking, and trigger types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548640" y="3931920"/>
            <a:ext cx="3429000" cy="1965960"/>
          </a:xfrm>
          <a:prstGeom prst="roundRect">
            <a:avLst>
              <a:gd name="adj" fmla="val 3721"/>
            </a:avLst>
          </a:prstGeom>
          <a:solidFill>
            <a:srgbClr val="F7FAFC"/>
          </a:solidFill>
          <a:ln/>
          <a:effectLst>
            <a:outerShdw sx="100000" sy="100000" kx="0" ky="0" algn="bl" rotWithShape="0" blurRad="76200" dist="25400" dir="5400000">
              <a:srgbClr val="3B4A66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777240" y="4160520"/>
            <a:ext cx="548640" cy="54864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4050" y="4237330"/>
            <a:ext cx="395021" cy="395021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777240" y="484632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Windows &amp; Joins</a:t>
            </a:r>
            <a:endParaRPr lang="en-US" sz="1500" dirty="0"/>
          </a:p>
        </p:txBody>
      </p:sp>
      <p:sp>
        <p:nvSpPr>
          <p:cNvPr id="23" name="Text 17"/>
          <p:cNvSpPr txBox="1"/>
          <p:nvPr/>
        </p:nvSpPr>
        <p:spPr>
          <a:xfrm>
            <a:off x="777240" y="5212080"/>
            <a:ext cx="2971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Tumbling/sliding windows, stream-static, stream-stream</a:t>
            </a:r>
            <a:endParaRPr lang="en-US" sz="1150" dirty="0"/>
          </a:p>
        </p:txBody>
      </p:sp>
      <p:sp>
        <p:nvSpPr>
          <p:cNvPr id="24" name="Shape 18"/>
          <p:cNvSpPr/>
          <p:nvPr/>
        </p:nvSpPr>
        <p:spPr>
          <a:xfrm>
            <a:off x="4206240" y="3931920"/>
            <a:ext cx="3429000" cy="1965960"/>
          </a:xfrm>
          <a:prstGeom prst="roundRect">
            <a:avLst>
              <a:gd name="adj" fmla="val 3721"/>
            </a:avLst>
          </a:prstGeom>
          <a:solidFill>
            <a:srgbClr val="F7FAFC"/>
          </a:solidFill>
          <a:ln/>
          <a:effectLst>
            <a:outerShdw sx="100000" sy="100000" kx="0" ky="0" algn="bl" rotWithShape="0" blurRad="76200" dist="25400" dir="5400000">
              <a:srgbClr val="3B4A66">
                <a:alpha val="12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4434840" y="4160520"/>
            <a:ext cx="548640" cy="54864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11650" y="4237330"/>
            <a:ext cx="395021" cy="395021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4434840" y="484632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Fault Tolerance</a:t>
            </a:r>
            <a:endParaRPr lang="en-US" sz="1500" dirty="0"/>
          </a:p>
        </p:txBody>
      </p:sp>
      <p:sp>
        <p:nvSpPr>
          <p:cNvPr id="28" name="Text 21"/>
          <p:cNvSpPr txBox="1"/>
          <p:nvPr/>
        </p:nvSpPr>
        <p:spPr>
          <a:xfrm>
            <a:off x="4434840" y="5212080"/>
            <a:ext cx="2971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Checkpointing, WAL, and exactly-once semantics</a:t>
            </a:r>
            <a:endParaRPr lang="en-US" sz="1150" dirty="0"/>
          </a:p>
        </p:txBody>
      </p:sp>
      <p:sp>
        <p:nvSpPr>
          <p:cNvPr id="29" name="Shape 22"/>
          <p:cNvSpPr/>
          <p:nvPr/>
        </p:nvSpPr>
        <p:spPr>
          <a:xfrm>
            <a:off x="7863840" y="3931920"/>
            <a:ext cx="3429000" cy="1965960"/>
          </a:xfrm>
          <a:prstGeom prst="roundRect">
            <a:avLst>
              <a:gd name="adj" fmla="val 3721"/>
            </a:avLst>
          </a:prstGeom>
          <a:solidFill>
            <a:srgbClr val="F7FAFC"/>
          </a:solidFill>
          <a:ln/>
          <a:effectLst>
            <a:outerShdw sx="100000" sy="100000" kx="0" ky="0" algn="bl" rotWithShape="0" blurRad="76200" dist="25400" dir="5400000">
              <a:srgbClr val="3B4A66">
                <a:alpha val="12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8092440" y="4160520"/>
            <a:ext cx="548640" cy="54864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69250" y="4237330"/>
            <a:ext cx="395021" cy="395021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8092440" y="484632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 Pipelines</a:t>
            </a:r>
            <a:endParaRPr lang="en-US" sz="1500" dirty="0"/>
          </a:p>
        </p:txBody>
      </p:sp>
      <p:sp>
        <p:nvSpPr>
          <p:cNvPr id="33" name="Text 25"/>
          <p:cNvSpPr txBox="1"/>
          <p:nvPr/>
        </p:nvSpPr>
        <p:spPr>
          <a:xfrm>
            <a:off x="8092440" y="5212080"/>
            <a:ext cx="2971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Medallion architecture end to end + monitoring</a:t>
            </a:r>
            <a:endParaRPr lang="en-US" sz="1150" dirty="0"/>
          </a:p>
        </p:txBody>
      </p:sp>
      <p:sp>
        <p:nvSpPr>
          <p:cNvPr id="34" name="Text 26"/>
          <p:cNvSpPr txBox="1"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Spark Structured Streaming</a:t>
            </a:r>
            <a:endParaRPr lang="en-US" sz="900" dirty="0"/>
          </a:p>
        </p:txBody>
      </p:sp>
      <p:sp>
        <p:nvSpPr>
          <p:cNvPr id="35" name="Text 27"/>
          <p:cNvSpPr txBox="1"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 IDEA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Streams Are Just an Unbounded Table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00200"/>
            <a:ext cx="5120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Streaming treats a live data stream as a table that keeps growing — new rows arrive, but the query you write is the </a:t>
            </a:r>
            <a:pPr indent="0" marL="0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DataFrame/SQL API</a:t>
            </a:r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you already use for batch.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926080"/>
            <a:ext cx="128016" cy="128016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2788920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table:  </a:t>
            </a:r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new batch of data appends rows to the conceptual input table.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48640" y="3611880"/>
            <a:ext cx="128016" cy="128016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22960" y="3474720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Query:  </a:t>
            </a:r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DataFrame transformation is applied as if run once over the whole table.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4297680"/>
            <a:ext cx="128016" cy="128016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22960" y="4160520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table:  </a:t>
            </a:r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Spark computes only the incremental result and writes it to the sink.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309360" y="1554480"/>
            <a:ext cx="5303520" cy="4572000"/>
          </a:xfrm>
          <a:prstGeom prst="roundRect">
            <a:avLst>
              <a:gd name="adj" fmla="val 1600"/>
            </a:avLst>
          </a:prstGeom>
          <a:solidFill>
            <a:srgbClr val="F7FAFC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629400" y="178308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UNBOUNDED INPUT TABLE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629400" y="2103120"/>
            <a:ext cx="4663440" cy="292608"/>
          </a:xfrm>
          <a:prstGeom prst="rect">
            <a:avLst/>
          </a:prstGeom>
          <a:solidFill>
            <a:srgbClr val="FFFFFF"/>
          </a:solidFill>
          <a:ln w="9525">
            <a:solidFill>
              <a:srgbClr val="D7E2EB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766560" y="2103120"/>
            <a:ext cx="4389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t1  •  new rows appended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629400" y="2450592"/>
            <a:ext cx="4663440" cy="292608"/>
          </a:xfrm>
          <a:prstGeom prst="rect">
            <a:avLst/>
          </a:prstGeom>
          <a:solidFill>
            <a:srgbClr val="EAF1F6"/>
          </a:solidFill>
          <a:ln w="9525">
            <a:solidFill>
              <a:srgbClr val="D7E2EB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766560" y="2450592"/>
            <a:ext cx="4389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t2  •  new rows appended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629400" y="2798064"/>
            <a:ext cx="4663440" cy="292608"/>
          </a:xfrm>
          <a:prstGeom prst="rect">
            <a:avLst/>
          </a:prstGeom>
          <a:solidFill>
            <a:srgbClr val="FFFFFF"/>
          </a:solidFill>
          <a:ln w="9525">
            <a:solidFill>
              <a:srgbClr val="D7E2EB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766560" y="2798064"/>
            <a:ext cx="4389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t3  •  new rows appended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629400" y="3145536"/>
            <a:ext cx="4663440" cy="292608"/>
          </a:xfrm>
          <a:prstGeom prst="rect">
            <a:avLst/>
          </a:prstGeom>
          <a:solidFill>
            <a:srgbClr val="EAF1F6"/>
          </a:solidFill>
          <a:ln w="9525">
            <a:solidFill>
              <a:srgbClr val="D7E2EB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766560" y="3145536"/>
            <a:ext cx="4389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data keeps arriving …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8641080" y="3639312"/>
            <a:ext cx="640080" cy="64008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2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30691" y="3728923"/>
            <a:ext cx="460858" cy="460858"/>
          </a:xfrm>
          <a:prstGeom prst="rect">
            <a:avLst/>
          </a:prstGeom>
        </p:spPr>
      </p:pic>
      <p:sp>
        <p:nvSpPr>
          <p:cNvPr id="23" name="Text 20"/>
          <p:cNvSpPr txBox="1"/>
          <p:nvPr/>
        </p:nvSpPr>
        <p:spPr>
          <a:xfrm>
            <a:off x="6629400" y="434340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processing query runs incrementally on each trigger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7132320" y="4709160"/>
            <a:ext cx="3657600" cy="1051560"/>
          </a:xfrm>
          <a:prstGeom prst="roundRect">
            <a:avLst>
              <a:gd name="adj" fmla="val 5217"/>
            </a:avLst>
          </a:prstGeom>
          <a:solidFill>
            <a:srgbClr val="065A82"/>
          </a:solidFill>
          <a:ln/>
        </p:spPr>
      </p:sp>
      <p:sp>
        <p:nvSpPr>
          <p:cNvPr id="25" name="Text 22"/>
          <p:cNvSpPr txBox="1"/>
          <p:nvPr/>
        </p:nvSpPr>
        <p:spPr>
          <a:xfrm>
            <a:off x="7132320" y="48463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TABLE → SINK</a:t>
            </a:r>
            <a:endParaRPr lang="en-US" sz="1050" dirty="0"/>
          </a:p>
        </p:txBody>
      </p:sp>
      <p:sp>
        <p:nvSpPr>
          <p:cNvPr id="26" name="Text 23"/>
          <p:cNvSpPr txBox="1"/>
          <p:nvPr/>
        </p:nvSpPr>
        <p:spPr>
          <a:xfrm>
            <a:off x="7132320" y="516636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console • files • Kafka • Delta • foreachBatch</a:t>
            </a:r>
            <a:endParaRPr lang="en-US" sz="1100" dirty="0"/>
          </a:p>
        </p:txBody>
      </p:sp>
      <p:sp>
        <p:nvSpPr>
          <p:cNvPr id="27" name="Text 24"/>
          <p:cNvSpPr txBox="1"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Spark Structured Streaming</a:t>
            </a:r>
            <a:endParaRPr lang="en-US" sz="900" dirty="0"/>
          </a:p>
        </p:txBody>
      </p:sp>
      <p:sp>
        <p:nvSpPr>
          <p:cNvPr id="28" name="Text 25"/>
          <p:cNvSpPr txBox="1"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Sources, the Engine, and Sinks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3246120" cy="4206240"/>
          </a:xfrm>
          <a:prstGeom prst="roundRect">
            <a:avLst>
              <a:gd name="adj" fmla="val 2254"/>
            </a:avLst>
          </a:prstGeom>
          <a:solidFill>
            <a:srgbClr val="F7FAFC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874520"/>
            <a:ext cx="3246120" cy="50292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48640" y="1874520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822960" y="2651760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6968" y="2715768"/>
            <a:ext cx="329184" cy="329184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417320" y="265176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Kafka topics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822960" y="3429000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6968" y="3493008"/>
            <a:ext cx="329184" cy="329184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1417320" y="342900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Files (JSON/CSV/Parquet)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822960" y="4206240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968" y="4270248"/>
            <a:ext cx="329184" cy="329184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1417320" y="420624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Socket (dev/testing)</a:t>
            </a:r>
            <a:endParaRPr lang="en-US" sz="1150" dirty="0"/>
          </a:p>
        </p:txBody>
      </p:sp>
      <p:sp>
        <p:nvSpPr>
          <p:cNvPr id="16" name="Shape 11"/>
          <p:cNvSpPr/>
          <p:nvPr/>
        </p:nvSpPr>
        <p:spPr>
          <a:xfrm>
            <a:off x="822960" y="4983480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6968" y="5047488"/>
            <a:ext cx="329184" cy="329184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1417320" y="498348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source (benchmarks)</a:t>
            </a:r>
            <a:endParaRPr lang="en-US" sz="1150" dirty="0"/>
          </a:p>
        </p:txBody>
      </p:sp>
      <p:sp>
        <p:nvSpPr>
          <p:cNvPr id="19" name="Shape 13"/>
          <p:cNvSpPr/>
          <p:nvPr/>
        </p:nvSpPr>
        <p:spPr>
          <a:xfrm>
            <a:off x="3826764" y="3758184"/>
            <a:ext cx="438912" cy="438912"/>
          </a:xfrm>
          <a:prstGeom prst="ellipse">
            <a:avLst/>
          </a:prstGeom>
          <a:solidFill>
            <a:srgbClr val="E8A33D"/>
          </a:solidFill>
          <a:ln/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88212" y="3819632"/>
            <a:ext cx="316017" cy="316017"/>
          </a:xfrm>
          <a:prstGeom prst="rect">
            <a:avLst/>
          </a:prstGeom>
        </p:spPr>
      </p:pic>
      <p:sp>
        <p:nvSpPr>
          <p:cNvPr id="21" name="Shape 14"/>
          <p:cNvSpPr/>
          <p:nvPr/>
        </p:nvSpPr>
        <p:spPr>
          <a:xfrm>
            <a:off x="4297680" y="1874520"/>
            <a:ext cx="3246120" cy="4206240"/>
          </a:xfrm>
          <a:prstGeom prst="roundRect">
            <a:avLst>
              <a:gd name="adj" fmla="val 2254"/>
            </a:avLst>
          </a:prstGeom>
          <a:solidFill>
            <a:srgbClr val="F7FAFC"/>
          </a:solidFill>
          <a:ln/>
        </p:spPr>
      </p:sp>
      <p:sp>
        <p:nvSpPr>
          <p:cNvPr id="22" name="Shape 15"/>
          <p:cNvSpPr/>
          <p:nvPr/>
        </p:nvSpPr>
        <p:spPr>
          <a:xfrm>
            <a:off x="4297680" y="1874520"/>
            <a:ext cx="3246120" cy="502920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23" name="Text 16"/>
          <p:cNvSpPr txBox="1"/>
          <p:nvPr/>
        </p:nvSpPr>
        <p:spPr>
          <a:xfrm>
            <a:off x="4297680" y="1874520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STREAMING</a:t>
            </a:r>
            <a:endParaRPr lang="en-US" sz="1300" dirty="0"/>
          </a:p>
        </p:txBody>
      </p:sp>
      <p:sp>
        <p:nvSpPr>
          <p:cNvPr id="24" name="Shape 17"/>
          <p:cNvSpPr/>
          <p:nvPr/>
        </p:nvSpPr>
        <p:spPr>
          <a:xfrm>
            <a:off x="4572000" y="2651760"/>
            <a:ext cx="457200" cy="457200"/>
          </a:xfrm>
          <a:prstGeom prst="ellipse">
            <a:avLst/>
          </a:prstGeom>
          <a:solidFill>
            <a:srgbClr val="21295C"/>
          </a:solidFill>
          <a:ln/>
        </p:spPr>
      </p:sp>
      <p:pic>
        <p:nvPicPr>
          <p:cNvPr id="2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36008" y="2715768"/>
            <a:ext cx="329184" cy="329184"/>
          </a:xfrm>
          <a:prstGeom prst="rect">
            <a:avLst/>
          </a:prstGeom>
        </p:spPr>
      </p:pic>
      <p:sp>
        <p:nvSpPr>
          <p:cNvPr id="26" name="Text 18"/>
          <p:cNvSpPr txBox="1"/>
          <p:nvPr/>
        </p:nvSpPr>
        <p:spPr>
          <a:xfrm>
            <a:off x="5166360" y="265176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Micro-batch or continuous engine</a:t>
            </a:r>
            <a:endParaRPr lang="en-US" sz="1150" dirty="0"/>
          </a:p>
        </p:txBody>
      </p:sp>
      <p:sp>
        <p:nvSpPr>
          <p:cNvPr id="27" name="Shape 19"/>
          <p:cNvSpPr/>
          <p:nvPr/>
        </p:nvSpPr>
        <p:spPr>
          <a:xfrm>
            <a:off x="4572000" y="3429000"/>
            <a:ext cx="457200" cy="457200"/>
          </a:xfrm>
          <a:prstGeom prst="ellipse">
            <a:avLst/>
          </a:prstGeom>
          <a:solidFill>
            <a:srgbClr val="21295C"/>
          </a:solidFill>
          <a:ln/>
        </p:spPr>
      </p:sp>
      <p:pic>
        <p:nvPicPr>
          <p:cNvPr id="2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36008" y="3493008"/>
            <a:ext cx="329184" cy="329184"/>
          </a:xfrm>
          <a:prstGeom prst="rect">
            <a:avLst/>
          </a:prstGeom>
        </p:spPr>
      </p:pic>
      <p:sp>
        <p:nvSpPr>
          <p:cNvPr id="29" name="Text 20"/>
          <p:cNvSpPr txBox="1"/>
          <p:nvPr/>
        </p:nvSpPr>
        <p:spPr>
          <a:xfrm>
            <a:off x="5166360" y="342900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DataFrame/SQL API as batch</a:t>
            </a:r>
            <a:endParaRPr lang="en-US" sz="1150" dirty="0"/>
          </a:p>
        </p:txBody>
      </p:sp>
      <p:sp>
        <p:nvSpPr>
          <p:cNvPr id="30" name="Shape 21"/>
          <p:cNvSpPr/>
          <p:nvPr/>
        </p:nvSpPr>
        <p:spPr>
          <a:xfrm>
            <a:off x="4572000" y="4206240"/>
            <a:ext cx="457200" cy="457200"/>
          </a:xfrm>
          <a:prstGeom prst="ellipse">
            <a:avLst/>
          </a:prstGeom>
          <a:solidFill>
            <a:srgbClr val="21295C"/>
          </a:solidFill>
          <a:ln/>
        </p:spPr>
      </p:sp>
      <p:pic>
        <p:nvPicPr>
          <p:cNvPr id="31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636008" y="4270248"/>
            <a:ext cx="329184" cy="329184"/>
          </a:xfrm>
          <a:prstGeom prst="rect">
            <a:avLst/>
          </a:prstGeom>
        </p:spPr>
      </p:pic>
      <p:sp>
        <p:nvSpPr>
          <p:cNvPr id="32" name="Text 22"/>
          <p:cNvSpPr txBox="1"/>
          <p:nvPr/>
        </p:nvSpPr>
        <p:spPr>
          <a:xfrm>
            <a:off x="5166360" y="420624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Tracks offsets &amp; state automatically</a:t>
            </a:r>
            <a:endParaRPr lang="en-US" sz="1150" dirty="0"/>
          </a:p>
        </p:txBody>
      </p:sp>
      <p:sp>
        <p:nvSpPr>
          <p:cNvPr id="33" name="Shape 23"/>
          <p:cNvSpPr/>
          <p:nvPr/>
        </p:nvSpPr>
        <p:spPr>
          <a:xfrm>
            <a:off x="7575804" y="3758184"/>
            <a:ext cx="438912" cy="438912"/>
          </a:xfrm>
          <a:prstGeom prst="ellipse">
            <a:avLst/>
          </a:prstGeom>
          <a:solidFill>
            <a:srgbClr val="E8A33D"/>
          </a:solidFill>
          <a:ln/>
        </p:spPr>
      </p:sp>
      <p:pic>
        <p:nvPicPr>
          <p:cNvPr id="34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637252" y="3819632"/>
            <a:ext cx="316017" cy="316017"/>
          </a:xfrm>
          <a:prstGeom prst="rect">
            <a:avLst/>
          </a:prstGeom>
        </p:spPr>
      </p:pic>
      <p:sp>
        <p:nvSpPr>
          <p:cNvPr id="35" name="Shape 24"/>
          <p:cNvSpPr/>
          <p:nvPr/>
        </p:nvSpPr>
        <p:spPr>
          <a:xfrm>
            <a:off x="8046720" y="1874520"/>
            <a:ext cx="3246120" cy="4206240"/>
          </a:xfrm>
          <a:prstGeom prst="roundRect">
            <a:avLst>
              <a:gd name="adj" fmla="val 2254"/>
            </a:avLst>
          </a:prstGeom>
          <a:solidFill>
            <a:srgbClr val="F7FAFC"/>
          </a:solidFill>
          <a:ln/>
        </p:spPr>
      </p:sp>
      <p:sp>
        <p:nvSpPr>
          <p:cNvPr id="36" name="Shape 25"/>
          <p:cNvSpPr/>
          <p:nvPr/>
        </p:nvSpPr>
        <p:spPr>
          <a:xfrm>
            <a:off x="8046720" y="1874520"/>
            <a:ext cx="3246120" cy="50292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7" name="Text 26"/>
          <p:cNvSpPr txBox="1"/>
          <p:nvPr/>
        </p:nvSpPr>
        <p:spPr>
          <a:xfrm>
            <a:off x="8046720" y="1874520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SINKS</a:t>
            </a:r>
            <a:endParaRPr lang="en-US" sz="1300" dirty="0"/>
          </a:p>
        </p:txBody>
      </p:sp>
      <p:sp>
        <p:nvSpPr>
          <p:cNvPr id="38" name="Shape 27"/>
          <p:cNvSpPr/>
          <p:nvPr/>
        </p:nvSpPr>
        <p:spPr>
          <a:xfrm>
            <a:off x="8321040" y="265176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39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385048" y="2715768"/>
            <a:ext cx="329184" cy="329184"/>
          </a:xfrm>
          <a:prstGeom prst="rect">
            <a:avLst/>
          </a:prstGeom>
        </p:spPr>
      </p:pic>
      <p:sp>
        <p:nvSpPr>
          <p:cNvPr id="40" name="Text 28"/>
          <p:cNvSpPr txBox="1"/>
          <p:nvPr/>
        </p:nvSpPr>
        <p:spPr>
          <a:xfrm>
            <a:off x="8915400" y="265176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Kafka / Delta / files</a:t>
            </a:r>
            <a:endParaRPr lang="en-US" sz="1150" dirty="0"/>
          </a:p>
        </p:txBody>
      </p:sp>
      <p:sp>
        <p:nvSpPr>
          <p:cNvPr id="41" name="Shape 29"/>
          <p:cNvSpPr/>
          <p:nvPr/>
        </p:nvSpPr>
        <p:spPr>
          <a:xfrm>
            <a:off x="8321040" y="342900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42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385048" y="3493008"/>
            <a:ext cx="329184" cy="329184"/>
          </a:xfrm>
          <a:prstGeom prst="rect">
            <a:avLst/>
          </a:prstGeom>
        </p:spPr>
      </p:pic>
      <p:sp>
        <p:nvSpPr>
          <p:cNvPr id="43" name="Text 30"/>
          <p:cNvSpPr txBox="1"/>
          <p:nvPr/>
        </p:nvSpPr>
        <p:spPr>
          <a:xfrm>
            <a:off x="8915400" y="342900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Console (debug)</a:t>
            </a:r>
            <a:endParaRPr lang="en-US" sz="1150" dirty="0"/>
          </a:p>
        </p:txBody>
      </p:sp>
      <p:sp>
        <p:nvSpPr>
          <p:cNvPr id="44" name="Shape 31"/>
          <p:cNvSpPr/>
          <p:nvPr/>
        </p:nvSpPr>
        <p:spPr>
          <a:xfrm>
            <a:off x="8321040" y="420624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45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385048" y="4270248"/>
            <a:ext cx="329184" cy="329184"/>
          </a:xfrm>
          <a:prstGeom prst="rect">
            <a:avLst/>
          </a:prstGeom>
        </p:spPr>
      </p:pic>
      <p:sp>
        <p:nvSpPr>
          <p:cNvPr id="46" name="Text 32"/>
          <p:cNvSpPr txBox="1"/>
          <p:nvPr/>
        </p:nvSpPr>
        <p:spPr>
          <a:xfrm>
            <a:off x="8915400" y="420624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(debug)</a:t>
            </a:r>
            <a:endParaRPr lang="en-US" sz="1150" dirty="0"/>
          </a:p>
        </p:txBody>
      </p:sp>
      <p:sp>
        <p:nvSpPr>
          <p:cNvPr id="47" name="Shape 33"/>
          <p:cNvSpPr/>
          <p:nvPr/>
        </p:nvSpPr>
        <p:spPr>
          <a:xfrm>
            <a:off x="8321040" y="498348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48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385048" y="5047488"/>
            <a:ext cx="329184" cy="329184"/>
          </a:xfrm>
          <a:prstGeom prst="rect">
            <a:avLst/>
          </a:prstGeom>
        </p:spPr>
      </p:pic>
      <p:sp>
        <p:nvSpPr>
          <p:cNvPr id="49" name="Text 34"/>
          <p:cNvSpPr txBox="1"/>
          <p:nvPr/>
        </p:nvSpPr>
        <p:spPr>
          <a:xfrm>
            <a:off x="8915400" y="498348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foreachBatch (custom / upserts)</a:t>
            </a:r>
            <a:endParaRPr lang="en-US" sz="1150" dirty="0"/>
          </a:p>
        </p:txBody>
      </p:sp>
      <p:sp>
        <p:nvSpPr>
          <p:cNvPr id="50" name="Text 35"/>
          <p:cNvSpPr txBox="1"/>
          <p:nvPr/>
        </p:nvSpPr>
        <p:spPr>
          <a:xfrm>
            <a:off x="548640" y="6199632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tip: prefer Kafka for production ingestion; use the rate/socket sources only for local testing.</a:t>
            </a:r>
            <a:endParaRPr lang="en-US" sz="1100" dirty="0"/>
          </a:p>
        </p:txBody>
      </p:sp>
      <p:sp>
        <p:nvSpPr>
          <p:cNvPr id="51" name="Text 36"/>
          <p:cNvSpPr txBox="1"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Spark Structured Streaming</a:t>
            </a:r>
            <a:endParaRPr lang="en-US" sz="900" dirty="0"/>
          </a:p>
        </p:txBody>
      </p:sp>
      <p:sp>
        <p:nvSpPr>
          <p:cNvPr id="52" name="Text 37"/>
          <p:cNvSpPr txBox="1"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WRITING RESULTS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Output Modes: Append, Update, Complete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3520440" cy="4023360"/>
          </a:xfrm>
          <a:prstGeom prst="roundRect">
            <a:avLst>
              <a:gd name="adj" fmla="val 2078"/>
            </a:avLst>
          </a:prstGeom>
          <a:solidFill>
            <a:srgbClr val="F7FAFC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783080"/>
            <a:ext cx="3520440" cy="91440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6" name="Shape 4"/>
          <p:cNvSpPr/>
          <p:nvPr/>
        </p:nvSpPr>
        <p:spPr>
          <a:xfrm>
            <a:off x="822960" y="1965960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9770" y="2042770"/>
            <a:ext cx="395021" cy="395021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554480" y="1984248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Append</a:t>
            </a:r>
            <a:endParaRPr lang="en-US" sz="1900" dirty="0"/>
          </a:p>
        </p:txBody>
      </p:sp>
      <p:sp>
        <p:nvSpPr>
          <p:cNvPr id="9" name="Text 6"/>
          <p:cNvSpPr txBox="1"/>
          <p:nvPr/>
        </p:nvSpPr>
        <p:spPr>
          <a:xfrm>
            <a:off x="822960" y="2926080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WRITES</a:t>
            </a:r>
            <a:endParaRPr lang="en-US" sz="1000" dirty="0"/>
          </a:p>
        </p:txBody>
      </p:sp>
      <p:sp>
        <p:nvSpPr>
          <p:cNvPr id="10" name="Text 7"/>
          <p:cNvSpPr txBox="1"/>
          <p:nvPr/>
        </p:nvSpPr>
        <p:spPr>
          <a:xfrm>
            <a:off x="822960" y="3200400"/>
            <a:ext cx="2971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new rows added since the last trigger are written.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822960" y="4206240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TO USE</a:t>
            </a:r>
            <a:endParaRPr lang="en-US" sz="1000" dirty="0"/>
          </a:p>
        </p:txBody>
      </p:sp>
      <p:sp>
        <p:nvSpPr>
          <p:cNvPr id="12" name="Text 9"/>
          <p:cNvSpPr txBox="1"/>
          <p:nvPr/>
        </p:nvSpPr>
        <p:spPr>
          <a:xfrm>
            <a:off x="822960" y="4480560"/>
            <a:ext cx="2971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mode. Works for simple maps/filters and windowed aggregations with a watermark.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4343400" y="1783080"/>
            <a:ext cx="3520440" cy="4023360"/>
          </a:xfrm>
          <a:prstGeom prst="roundRect">
            <a:avLst>
              <a:gd name="adj" fmla="val 2078"/>
            </a:avLst>
          </a:prstGeom>
          <a:solidFill>
            <a:srgbClr val="F7FAFC"/>
          </a:solidFill>
          <a:ln/>
        </p:spPr>
      </p:sp>
      <p:sp>
        <p:nvSpPr>
          <p:cNvPr id="14" name="Shape 11"/>
          <p:cNvSpPr/>
          <p:nvPr/>
        </p:nvSpPr>
        <p:spPr>
          <a:xfrm>
            <a:off x="4343400" y="1783080"/>
            <a:ext cx="3520440" cy="9144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5" name="Shape 12"/>
          <p:cNvSpPr/>
          <p:nvPr/>
        </p:nvSpPr>
        <p:spPr>
          <a:xfrm>
            <a:off x="4617720" y="1965960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94530" y="2042770"/>
            <a:ext cx="395021" cy="395021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5349240" y="1984248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Update</a:t>
            </a:r>
            <a:endParaRPr lang="en-US" sz="1900" dirty="0"/>
          </a:p>
        </p:txBody>
      </p:sp>
      <p:sp>
        <p:nvSpPr>
          <p:cNvPr id="18" name="Text 14"/>
          <p:cNvSpPr txBox="1"/>
          <p:nvPr/>
        </p:nvSpPr>
        <p:spPr>
          <a:xfrm>
            <a:off x="4617720" y="2926080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WRITES</a:t>
            </a:r>
            <a:endParaRPr lang="en-US" sz="1000" dirty="0"/>
          </a:p>
        </p:txBody>
      </p:sp>
      <p:sp>
        <p:nvSpPr>
          <p:cNvPr id="19" name="Text 15"/>
          <p:cNvSpPr txBox="1"/>
          <p:nvPr/>
        </p:nvSpPr>
        <p:spPr>
          <a:xfrm>
            <a:off x="4617720" y="3200400"/>
            <a:ext cx="2971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rows whose aggregate value changed are written.</a:t>
            </a:r>
            <a:endParaRPr lang="en-US" sz="1200" dirty="0"/>
          </a:p>
        </p:txBody>
      </p:sp>
      <p:sp>
        <p:nvSpPr>
          <p:cNvPr id="20" name="Text 16"/>
          <p:cNvSpPr txBox="1"/>
          <p:nvPr/>
        </p:nvSpPr>
        <p:spPr>
          <a:xfrm>
            <a:off x="4617720" y="4206240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TO USE</a:t>
            </a:r>
            <a:endParaRPr lang="en-US" sz="1000" dirty="0"/>
          </a:p>
        </p:txBody>
      </p:sp>
      <p:sp>
        <p:nvSpPr>
          <p:cNvPr id="21" name="Text 17"/>
          <p:cNvSpPr txBox="1"/>
          <p:nvPr/>
        </p:nvSpPr>
        <p:spPr>
          <a:xfrm>
            <a:off x="4617720" y="4480560"/>
            <a:ext cx="2971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Streaming aggregations you want to keep refreshing, e.g. running totals per key.</a:t>
            </a:r>
            <a:endParaRPr lang="en-US" sz="1150" dirty="0"/>
          </a:p>
        </p:txBody>
      </p:sp>
      <p:sp>
        <p:nvSpPr>
          <p:cNvPr id="22" name="Shape 18"/>
          <p:cNvSpPr/>
          <p:nvPr/>
        </p:nvSpPr>
        <p:spPr>
          <a:xfrm>
            <a:off x="8138160" y="1783080"/>
            <a:ext cx="3520440" cy="4023360"/>
          </a:xfrm>
          <a:prstGeom prst="roundRect">
            <a:avLst>
              <a:gd name="adj" fmla="val 2078"/>
            </a:avLst>
          </a:prstGeom>
          <a:solidFill>
            <a:srgbClr val="F7FAFC"/>
          </a:solidFill>
          <a:ln/>
        </p:spPr>
      </p:sp>
      <p:sp>
        <p:nvSpPr>
          <p:cNvPr id="23" name="Shape 19"/>
          <p:cNvSpPr/>
          <p:nvPr/>
        </p:nvSpPr>
        <p:spPr>
          <a:xfrm>
            <a:off x="8138160" y="1783080"/>
            <a:ext cx="3520440" cy="914400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24" name="Shape 20"/>
          <p:cNvSpPr/>
          <p:nvPr/>
        </p:nvSpPr>
        <p:spPr>
          <a:xfrm>
            <a:off x="8412480" y="1965960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89290" y="2042770"/>
            <a:ext cx="395021" cy="395021"/>
          </a:xfrm>
          <a:prstGeom prst="rect">
            <a:avLst/>
          </a:prstGeom>
        </p:spPr>
      </p:pic>
      <p:sp>
        <p:nvSpPr>
          <p:cNvPr id="26" name="Text 21"/>
          <p:cNvSpPr txBox="1"/>
          <p:nvPr/>
        </p:nvSpPr>
        <p:spPr>
          <a:xfrm>
            <a:off x="9144000" y="1984248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Complete</a:t>
            </a:r>
            <a:endParaRPr lang="en-US" sz="1900" dirty="0"/>
          </a:p>
        </p:txBody>
      </p:sp>
      <p:sp>
        <p:nvSpPr>
          <p:cNvPr id="27" name="Text 22"/>
          <p:cNvSpPr txBox="1"/>
          <p:nvPr/>
        </p:nvSpPr>
        <p:spPr>
          <a:xfrm>
            <a:off x="8412480" y="2926080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WRITES</a:t>
            </a:r>
            <a:endParaRPr lang="en-US" sz="1000" dirty="0"/>
          </a:p>
        </p:txBody>
      </p:sp>
      <p:sp>
        <p:nvSpPr>
          <p:cNvPr id="28" name="Text 23"/>
          <p:cNvSpPr txBox="1"/>
          <p:nvPr/>
        </p:nvSpPr>
        <p:spPr>
          <a:xfrm>
            <a:off x="8412480" y="3200400"/>
            <a:ext cx="2971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entire updated result table is rewritten every trigger.</a:t>
            </a:r>
            <a:endParaRPr lang="en-US" sz="1200" dirty="0"/>
          </a:p>
        </p:txBody>
      </p:sp>
      <p:sp>
        <p:nvSpPr>
          <p:cNvPr id="29" name="Text 24"/>
          <p:cNvSpPr txBox="1"/>
          <p:nvPr/>
        </p:nvSpPr>
        <p:spPr>
          <a:xfrm>
            <a:off x="8412480" y="4206240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TO USE</a:t>
            </a:r>
            <a:endParaRPr lang="en-US" sz="1000" dirty="0"/>
          </a:p>
        </p:txBody>
      </p:sp>
      <p:sp>
        <p:nvSpPr>
          <p:cNvPr id="30" name="Text 25"/>
          <p:cNvSpPr txBox="1"/>
          <p:nvPr/>
        </p:nvSpPr>
        <p:spPr>
          <a:xfrm>
            <a:off x="8412480" y="4480560"/>
            <a:ext cx="2971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aggregation results, e.g. dashboards over a bounded set of keys.</a:t>
            </a:r>
            <a:endParaRPr lang="en-US" sz="1150" dirty="0"/>
          </a:p>
        </p:txBody>
      </p:sp>
      <p:sp>
        <p:nvSpPr>
          <p:cNvPr id="31" name="Text 26"/>
          <p:cNvSpPr txBox="1"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Spark Structured Streaming</a:t>
            </a:r>
            <a:endParaRPr lang="en-US" sz="900" dirty="0"/>
          </a:p>
        </p:txBody>
      </p:sp>
      <p:sp>
        <p:nvSpPr>
          <p:cNvPr id="32" name="Text 27"/>
          <p:cNvSpPr txBox="1"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 TIMING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Trigger Types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11064240" cy="914400"/>
          </a:xfrm>
          <a:prstGeom prst="roundRect">
            <a:avLst>
              <a:gd name="adj" fmla="val 6000"/>
            </a:avLst>
          </a:prstGeom>
          <a:solidFill>
            <a:srgbClr val="F7FAFC"/>
          </a:solidFill>
          <a:ln w="9525">
            <a:solidFill>
              <a:srgbClr val="E4EA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924812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7649" y="1995221"/>
            <a:ext cx="362102" cy="36210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508760" y="1856232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Default (unspecified)</a:t>
            </a:r>
            <a:endParaRPr lang="en-US" sz="1350" dirty="0"/>
          </a:p>
        </p:txBody>
      </p:sp>
      <p:sp>
        <p:nvSpPr>
          <p:cNvPr id="8" name="Text 5"/>
          <p:cNvSpPr txBox="1"/>
          <p:nvPr/>
        </p:nvSpPr>
        <p:spPr>
          <a:xfrm>
            <a:off x="4663440" y="1856232"/>
            <a:ext cx="3749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the next micro-batch as soon as the previous one finishes.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8549640" y="1856232"/>
            <a:ext cx="2880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i="1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Lowest latency without a fixed schedule.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548640" y="2834640"/>
            <a:ext cx="1106424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4EAF0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777240" y="2976372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7649" y="3046781"/>
            <a:ext cx="362102" cy="362102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1508760" y="2907792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ProcessingTime(interval)</a:t>
            </a:r>
            <a:endParaRPr lang="en-US" sz="1350" dirty="0"/>
          </a:p>
        </p:txBody>
      </p:sp>
      <p:sp>
        <p:nvSpPr>
          <p:cNvPr id="14" name="Text 10"/>
          <p:cNvSpPr txBox="1"/>
          <p:nvPr/>
        </p:nvSpPr>
        <p:spPr>
          <a:xfrm>
            <a:off x="4663440" y="2907792"/>
            <a:ext cx="3749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Fires micro-batches on a fixed interval, e.g. every 1 minute.</a:t>
            </a:r>
            <a:endParaRPr lang="en-US" sz="1100" dirty="0"/>
          </a:p>
        </p:txBody>
      </p:sp>
      <p:sp>
        <p:nvSpPr>
          <p:cNvPr id="15" name="Text 11"/>
          <p:cNvSpPr txBox="1"/>
          <p:nvPr/>
        </p:nvSpPr>
        <p:spPr>
          <a:xfrm>
            <a:off x="8549640" y="2907792"/>
            <a:ext cx="2880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i="1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Predictable, resource-friendly cadence.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548640" y="3886200"/>
            <a:ext cx="11064240" cy="914400"/>
          </a:xfrm>
          <a:prstGeom prst="roundRect">
            <a:avLst>
              <a:gd name="adj" fmla="val 6000"/>
            </a:avLst>
          </a:prstGeom>
          <a:solidFill>
            <a:srgbClr val="F7FAFC"/>
          </a:solidFill>
          <a:ln w="9525">
            <a:solidFill>
              <a:srgbClr val="E4EAF0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777240" y="4027932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7649" y="4098341"/>
            <a:ext cx="362102" cy="362102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1508760" y="3959352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Trigger.Once / AvailableNow</a:t>
            </a:r>
            <a:endParaRPr lang="en-US" sz="1350" dirty="0"/>
          </a:p>
        </p:txBody>
      </p:sp>
      <p:sp>
        <p:nvSpPr>
          <p:cNvPr id="20" name="Text 15"/>
          <p:cNvSpPr txBox="1"/>
          <p:nvPr/>
        </p:nvSpPr>
        <p:spPr>
          <a:xfrm>
            <a:off x="4663440" y="3959352"/>
            <a:ext cx="3749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Processes all currently available data, then stops.</a:t>
            </a:r>
            <a:endParaRPr lang="en-US" sz="1100" dirty="0"/>
          </a:p>
        </p:txBody>
      </p:sp>
      <p:sp>
        <p:nvSpPr>
          <p:cNvPr id="21" name="Text 16"/>
          <p:cNvSpPr txBox="1"/>
          <p:nvPr/>
        </p:nvSpPr>
        <p:spPr>
          <a:xfrm>
            <a:off x="8549640" y="3959352"/>
            <a:ext cx="2880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i="1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Cost-efficient scheduled/batch-like streaming jobs.</a:t>
            </a:r>
            <a:endParaRPr lang="en-US" sz="1050" dirty="0"/>
          </a:p>
        </p:txBody>
      </p:sp>
      <p:sp>
        <p:nvSpPr>
          <p:cNvPr id="22" name="Shape 17"/>
          <p:cNvSpPr/>
          <p:nvPr/>
        </p:nvSpPr>
        <p:spPr>
          <a:xfrm>
            <a:off x="548640" y="4937760"/>
            <a:ext cx="1106424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4EAF0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777240" y="5079492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7649" y="5149901"/>
            <a:ext cx="362102" cy="362102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1508760" y="5010912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Continuous (experimental)</a:t>
            </a:r>
            <a:endParaRPr lang="en-US" sz="1350" dirty="0"/>
          </a:p>
        </p:txBody>
      </p:sp>
      <p:sp>
        <p:nvSpPr>
          <p:cNvPr id="26" name="Text 20"/>
          <p:cNvSpPr txBox="1"/>
          <p:nvPr/>
        </p:nvSpPr>
        <p:spPr>
          <a:xfrm>
            <a:off x="4663440" y="5010912"/>
            <a:ext cx="3749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Low-latency, record-at-a-time processing engine.</a:t>
            </a:r>
            <a:endParaRPr lang="en-US" sz="1100" dirty="0"/>
          </a:p>
        </p:txBody>
      </p:sp>
      <p:sp>
        <p:nvSpPr>
          <p:cNvPr id="27" name="Text 21"/>
          <p:cNvSpPr txBox="1"/>
          <p:nvPr/>
        </p:nvSpPr>
        <p:spPr>
          <a:xfrm>
            <a:off x="8549640" y="5010912"/>
            <a:ext cx="2880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i="1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~1ms latency needs; limited operator support.</a:t>
            </a:r>
            <a:endParaRPr lang="en-US" sz="1050" dirty="0"/>
          </a:p>
        </p:txBody>
      </p:sp>
      <p:sp>
        <p:nvSpPr>
          <p:cNvPr id="28" name="Text 22"/>
          <p:cNvSpPr txBox="1"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Spark Structured Streaming</a:t>
            </a:r>
            <a:endParaRPr lang="en-US" sz="900" dirty="0"/>
          </a:p>
        </p:txBody>
      </p:sp>
      <p:sp>
        <p:nvSpPr>
          <p:cNvPr id="29" name="Text 23"/>
          <p:cNvSpPr txBox="1"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SEMANTICS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Event Time vs. Processing Time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120640" cy="4114800"/>
          </a:xfrm>
          <a:prstGeom prst="roundRect">
            <a:avLst>
              <a:gd name="adj" fmla="val 1778"/>
            </a:avLst>
          </a:prstGeom>
          <a:solidFill>
            <a:srgbClr val="F7FAFC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2148840"/>
            <a:ext cx="640080" cy="64008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8291" y="2238451"/>
            <a:ext cx="460858" cy="460858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691640" y="2212848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EVENT TIME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868680" y="3127248"/>
            <a:ext cx="109728" cy="109728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1115568" y="2990088"/>
            <a:ext cx="4206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Timestamp embedded in the record itself (e.g. when a sensor reading or order was created).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868680" y="4041648"/>
            <a:ext cx="109728" cy="109728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1115568" y="3904488"/>
            <a:ext cx="4206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Reflects reality even if data arrives late or out of order.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868680" y="4956048"/>
            <a:ext cx="109728" cy="109728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1115568" y="4818888"/>
            <a:ext cx="4206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 for correct windowed aggregations &amp; watermarking.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126480" y="1828800"/>
            <a:ext cx="5120640" cy="4114800"/>
          </a:xfrm>
          <a:prstGeom prst="roundRect">
            <a:avLst>
              <a:gd name="adj" fmla="val 1778"/>
            </a:avLst>
          </a:prstGeom>
          <a:solidFill>
            <a:srgbClr val="F7FAFC"/>
          </a:solidFill>
          <a:ln/>
        </p:spPr>
      </p:sp>
      <p:sp>
        <p:nvSpPr>
          <p:cNvPr id="15" name="Shape 12"/>
          <p:cNvSpPr/>
          <p:nvPr/>
        </p:nvSpPr>
        <p:spPr>
          <a:xfrm>
            <a:off x="6446520" y="2148840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6131" y="2238451"/>
            <a:ext cx="460858" cy="460858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7269480" y="2212848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PROCESSING TIME</a:t>
            </a:r>
            <a:endParaRPr lang="en-US" sz="1700" dirty="0"/>
          </a:p>
        </p:txBody>
      </p:sp>
      <p:sp>
        <p:nvSpPr>
          <p:cNvPr id="18" name="Shape 14"/>
          <p:cNvSpPr/>
          <p:nvPr/>
        </p:nvSpPr>
        <p:spPr>
          <a:xfrm>
            <a:off x="6446520" y="3127248"/>
            <a:ext cx="109728" cy="10972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9" name="Text 15"/>
          <p:cNvSpPr txBox="1"/>
          <p:nvPr/>
        </p:nvSpPr>
        <p:spPr>
          <a:xfrm>
            <a:off x="6693408" y="2990088"/>
            <a:ext cx="4206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wall-clock time Spark receives and processes the record.</a:t>
            </a:r>
            <a:endParaRPr lang="en-US" sz="1200" dirty="0"/>
          </a:p>
        </p:txBody>
      </p:sp>
      <p:sp>
        <p:nvSpPr>
          <p:cNvPr id="20" name="Shape 16"/>
          <p:cNvSpPr/>
          <p:nvPr/>
        </p:nvSpPr>
        <p:spPr>
          <a:xfrm>
            <a:off x="6446520" y="4041648"/>
            <a:ext cx="109728" cy="10972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1" name="Text 17"/>
          <p:cNvSpPr txBox="1"/>
          <p:nvPr/>
        </p:nvSpPr>
        <p:spPr>
          <a:xfrm>
            <a:off x="6693408" y="3904488"/>
            <a:ext cx="4206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Simple, always available — but sensitive to pipeline delays.</a:t>
            </a:r>
            <a:endParaRPr lang="en-US" sz="1200" dirty="0"/>
          </a:p>
        </p:txBody>
      </p:sp>
      <p:sp>
        <p:nvSpPr>
          <p:cNvPr id="22" name="Shape 18"/>
          <p:cNvSpPr/>
          <p:nvPr/>
        </p:nvSpPr>
        <p:spPr>
          <a:xfrm>
            <a:off x="6446520" y="4956048"/>
            <a:ext cx="109728" cy="10972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3" name="Text 19"/>
          <p:cNvSpPr txBox="1"/>
          <p:nvPr/>
        </p:nvSpPr>
        <p:spPr>
          <a:xfrm>
            <a:off x="6693408" y="4818888"/>
            <a:ext cx="4206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 for basic monitoring, not for business-accurate aggregates.</a:t>
            </a:r>
            <a:endParaRPr lang="en-US" sz="1200" dirty="0"/>
          </a:p>
        </p:txBody>
      </p:sp>
      <p:sp>
        <p:nvSpPr>
          <p:cNvPr id="24" name="Text 20"/>
          <p:cNvSpPr txBox="1"/>
          <p:nvPr/>
        </p:nvSpPr>
        <p:spPr>
          <a:xfrm>
            <a:off x="548640" y="612648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projects nearly always aggregate on event time — a sale, click, or sensor reading "happened" at a fixed moment, regardless of pipeline delay.</a:t>
            </a:r>
            <a:endParaRPr lang="en-US" sz="1150" dirty="0"/>
          </a:p>
        </p:txBody>
      </p:sp>
      <p:sp>
        <p:nvSpPr>
          <p:cNvPr id="25" name="Text 21"/>
          <p:cNvSpPr txBox="1"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Spark Structured Streaming</a:t>
            </a:r>
            <a:endParaRPr lang="en-US" sz="900" dirty="0"/>
          </a:p>
        </p:txBody>
      </p:sp>
      <p:sp>
        <p:nvSpPr>
          <p:cNvPr id="26" name="Text 22"/>
          <p:cNvSpPr txBox="1"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HANDLING LATE DATA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Watermarking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45920"/>
            <a:ext cx="5212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watermark tells Spark how late data is allowed to be before it stops waiting: </a:t>
            </a:r>
            <a:pPr indent="0" marL="0">
              <a:lnSpc>
                <a:spcPct val="130000"/>
              </a:lnSpc>
              <a:buNone/>
            </a:pPr>
            <a:r>
              <a:rPr lang="en-US" sz="1400" b="1" i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"drop state older than max(event time) − threshold."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743200"/>
            <a:ext cx="5212080" cy="868680"/>
          </a:xfrm>
          <a:prstGeom prst="roundRect">
            <a:avLst>
              <a:gd name="adj" fmla="val 6316"/>
            </a:avLst>
          </a:prstGeom>
          <a:solidFill>
            <a:srgbClr val="21295C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31520" y="2743200"/>
            <a:ext cx="4846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A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.withWatermark("event_time", "10 minutes")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3941064"/>
            <a:ext cx="118872" cy="118872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22960" y="3813048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Bounds how much state Spark must keep in memory for aggregations.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48640" y="4599432"/>
            <a:ext cx="118872" cy="118872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22960" y="4471416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Lets Append mode emit finalized window results once the watermark passes.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48640" y="5257800"/>
            <a:ext cx="118872" cy="118872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22960" y="5129784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 later than the threshold are dropped from that aggregation.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217920" y="1645920"/>
            <a:ext cx="5394960" cy="4480560"/>
          </a:xfrm>
          <a:prstGeom prst="roundRect">
            <a:avLst>
              <a:gd name="adj" fmla="val 1633"/>
            </a:avLst>
          </a:prstGeom>
          <a:solidFill>
            <a:srgbClr val="F7FAFC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492240" y="187452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EVENT-TIME TIMELINE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583680" y="3108960"/>
            <a:ext cx="4663440" cy="0"/>
          </a:xfrm>
          <a:prstGeom prst="line">
            <a:avLst/>
          </a:prstGeom>
          <a:noFill/>
          <a:ln w="19050">
            <a:solidFill>
              <a:srgbClr val="B9C6D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958584" y="3026664"/>
            <a:ext cx="164592" cy="164592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583680" y="324612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10:01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7872984" y="3026664"/>
            <a:ext cx="164592" cy="164592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7498080" y="324612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10:02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8787384" y="3026664"/>
            <a:ext cx="164592" cy="164592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8412480" y="324612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10:03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10341864" y="3026664"/>
            <a:ext cx="164592" cy="164592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9966960" y="324612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10:02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(late!)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10058400" y="2606040"/>
            <a:ext cx="0" cy="1280160"/>
          </a:xfrm>
          <a:prstGeom prst="line">
            <a:avLst/>
          </a:prstGeom>
          <a:noFill/>
          <a:ln w="25400">
            <a:solidFill>
              <a:srgbClr val="E8A33D"/>
            </a:solidFill>
            <a:prstDash val="dash"/>
          </a:ln>
        </p:spPr>
      </p:sp>
      <p:sp>
        <p:nvSpPr>
          <p:cNvPr id="25" name="Text 23"/>
          <p:cNvSpPr txBox="1"/>
          <p:nvPr/>
        </p:nvSpPr>
        <p:spPr>
          <a:xfrm>
            <a:off x="9372600" y="228600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watermark boundary</a:t>
            </a:r>
            <a:endParaRPr lang="en-US" sz="900" dirty="0"/>
          </a:p>
        </p:txBody>
      </p:sp>
      <p:sp>
        <p:nvSpPr>
          <p:cNvPr id="26" name="Text 24"/>
          <p:cNvSpPr txBox="1"/>
          <p:nvPr/>
        </p:nvSpPr>
        <p:spPr>
          <a:xfrm>
            <a:off x="6583680" y="4023360"/>
            <a:ext cx="4663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 left of the boundary are still accepted into open windows; the record arriving at 10:02 after the boundary has passed is dropped.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583680" y="4937760"/>
            <a:ext cx="4663440" cy="100584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9525">
            <a:solidFill>
              <a:srgbClr val="D7E2EB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766560" y="4937760"/>
            <a:ext cx="4297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i="1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Interview framing: watermark = "how late can data be" — NOT a scheduling trigger, and it never applies to Complete mode aggregations.</a:t>
            </a:r>
            <a:endParaRPr lang="en-US" sz="1050" dirty="0"/>
          </a:p>
        </p:txBody>
      </p:sp>
      <p:sp>
        <p:nvSpPr>
          <p:cNvPr id="29" name="Text 27"/>
          <p:cNvSpPr txBox="1"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Spark Structured Streaming</a:t>
            </a:r>
            <a:endParaRPr lang="en-US" sz="900" dirty="0"/>
          </a:p>
        </p:txBody>
      </p:sp>
      <p:sp>
        <p:nvSpPr>
          <p:cNvPr id="30" name="Text 28"/>
          <p:cNvSpPr txBox="1"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AGGREGATIONS OVER TIME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Tumbling vs. Sliding Windows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916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TUMBLING WINDOWS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0116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window(eventTime, "10 minutes")  — fixed, non-overlapping buckets; each event lands in exactly one window.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548640" y="2514600"/>
            <a:ext cx="2606040" cy="594360"/>
          </a:xfrm>
          <a:prstGeom prst="rect">
            <a:avLst/>
          </a:prstGeom>
          <a:solidFill>
            <a:srgbClr val="065A82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2514600"/>
            <a:ext cx="2606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[0–10 min]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154680" y="2514600"/>
            <a:ext cx="2606040" cy="594360"/>
          </a:xfrm>
          <a:prstGeom prst="rect">
            <a:avLst/>
          </a:prstGeom>
          <a:solidFill>
            <a:srgbClr val="1C7293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154680" y="2514600"/>
            <a:ext cx="2606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[10–20 min]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760720" y="2514600"/>
            <a:ext cx="2606040" cy="594360"/>
          </a:xfrm>
          <a:prstGeom prst="rect">
            <a:avLst/>
          </a:prstGeom>
          <a:solidFill>
            <a:srgbClr val="065A82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760720" y="2514600"/>
            <a:ext cx="2606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[20–30 min]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66760" y="2514600"/>
            <a:ext cx="2606040" cy="594360"/>
          </a:xfrm>
          <a:prstGeom prst="rect">
            <a:avLst/>
          </a:prstGeom>
          <a:solidFill>
            <a:srgbClr val="1C7293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366760" y="2514600"/>
            <a:ext cx="2606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[30–40 min]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36576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SLIDING WINDOWS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39776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window(eventTime, "10 minutes", "5 minutes")  — overlapping windows; each event can contribute to multiple windows.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4480560"/>
            <a:ext cx="2606040" cy="457200"/>
          </a:xfrm>
          <a:prstGeom prst="rect">
            <a:avLst/>
          </a:prstGeom>
          <a:solidFill>
            <a:srgbClr val="E8A33D">
              <a:alpha val="8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48640" y="448056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0–10m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1828800" y="5047488"/>
            <a:ext cx="2606040" cy="457200"/>
          </a:xfrm>
          <a:prstGeom prst="rect">
            <a:avLst/>
          </a:prstGeom>
          <a:solidFill>
            <a:srgbClr val="E8A33D">
              <a:alpha val="8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1828800" y="5047488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5–15m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108960" y="4480560"/>
            <a:ext cx="2606040" cy="457200"/>
          </a:xfrm>
          <a:prstGeom prst="rect">
            <a:avLst/>
          </a:prstGeom>
          <a:solidFill>
            <a:srgbClr val="E8A33D">
              <a:alpha val="8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3108960" y="448056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10–20m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389120" y="5047488"/>
            <a:ext cx="2606040" cy="457200"/>
          </a:xfrm>
          <a:prstGeom prst="rect">
            <a:avLst/>
          </a:prstGeom>
          <a:solidFill>
            <a:srgbClr val="E8A33D">
              <a:alpha val="8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389120" y="5047488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15–25m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669280" y="4480560"/>
            <a:ext cx="2606040" cy="457200"/>
          </a:xfrm>
          <a:prstGeom prst="rect">
            <a:avLst/>
          </a:prstGeom>
          <a:solidFill>
            <a:srgbClr val="E8A33D">
              <a:alpha val="8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5669280" y="448056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20–30m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48640" y="5989320"/>
            <a:ext cx="11064240" cy="548640"/>
          </a:xfrm>
          <a:prstGeom prst="roundRect">
            <a:avLst>
              <a:gd name="adj" fmla="val 10000"/>
            </a:avLst>
          </a:prstGeom>
          <a:solidFill>
            <a:srgbClr val="F7FAFC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777240" y="59893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use: tumbling for per-interval KPIs (orders per 10 min); sliding for smoothed/rolling metrics (moving-average revenue).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Spark Structured Streaming</a:t>
            </a:r>
            <a:endParaRPr lang="en-US" sz="900" dirty="0"/>
          </a:p>
        </p:txBody>
      </p:sp>
      <p:sp>
        <p:nvSpPr>
          <p:cNvPr id="29" name="Text 27"/>
          <p:cNvSpPr txBox="1"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ENRICHING STREAMS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Stream–Static and Stream–Stream Joins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120640" cy="4160520"/>
          </a:xfrm>
          <a:prstGeom prst="roundRect">
            <a:avLst>
              <a:gd name="adj" fmla="val 1758"/>
            </a:avLst>
          </a:prstGeom>
          <a:solidFill>
            <a:srgbClr val="F7FAFC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2103120"/>
            <a:ext cx="548640" cy="54864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9770" y="2179930"/>
            <a:ext cx="395021" cy="395021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508760" y="214884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STREAM &lt;-&gt; STATIC JOIN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2834640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 a streaming DataFrame (e.g. order events) with a static DataFrame </a:t>
            </a:r>
            <a:pPr indent="0" marL="0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(dim_customers, dim_products)</a:t>
            </a:r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822960" y="3849624"/>
            <a:ext cx="109728" cy="109728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1051560" y="3721608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watermark needed — static side is fully in memory / re-read each batch.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822960" y="4471416"/>
            <a:ext cx="109728" cy="109728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1051560" y="4343400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Great fit for dimension-table lookups in a star schema.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822960" y="5093208"/>
            <a:ext cx="109728" cy="109728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1051560" y="4965192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side changes are only picked up on re-execution unless streamed too.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6126480" y="1828800"/>
            <a:ext cx="5120640" cy="4160520"/>
          </a:xfrm>
          <a:prstGeom prst="roundRect">
            <a:avLst>
              <a:gd name="adj" fmla="val 1758"/>
            </a:avLst>
          </a:prstGeom>
          <a:solidFill>
            <a:srgbClr val="F7FAFC"/>
          </a:solidFill>
          <a:ln/>
        </p:spPr>
      </p:sp>
      <p:sp>
        <p:nvSpPr>
          <p:cNvPr id="16" name="Shape 13"/>
          <p:cNvSpPr/>
          <p:nvPr/>
        </p:nvSpPr>
        <p:spPr>
          <a:xfrm>
            <a:off x="6400800" y="2103120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7610" y="2179930"/>
            <a:ext cx="395021" cy="395021"/>
          </a:xfrm>
          <a:prstGeom prst="rect">
            <a:avLst/>
          </a:prstGeom>
        </p:spPr>
      </p:pic>
      <p:sp>
        <p:nvSpPr>
          <p:cNvPr id="18" name="Text 14"/>
          <p:cNvSpPr txBox="1"/>
          <p:nvPr/>
        </p:nvSpPr>
        <p:spPr>
          <a:xfrm>
            <a:off x="7086600" y="214884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STREAM &lt;-&gt; STREAM JOIN</a:t>
            </a:r>
            <a:endParaRPr lang="en-US" sz="1500" dirty="0"/>
          </a:p>
        </p:txBody>
      </p:sp>
      <p:sp>
        <p:nvSpPr>
          <p:cNvPr id="19" name="Text 15"/>
          <p:cNvSpPr txBox="1"/>
          <p:nvPr/>
        </p:nvSpPr>
        <p:spPr>
          <a:xfrm>
            <a:off x="6400800" y="2834640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 two live streams, e.g. matching </a:t>
            </a:r>
            <a:pPr indent="0" marL="0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clicks</a:t>
            </a:r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with </a:t>
            </a:r>
            <a:pPr indent="0" marL="0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 impressions</a:t>
            </a:r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200" dirty="0"/>
          </a:p>
        </p:txBody>
      </p:sp>
      <p:sp>
        <p:nvSpPr>
          <p:cNvPr id="20" name="Shape 16"/>
          <p:cNvSpPr/>
          <p:nvPr/>
        </p:nvSpPr>
        <p:spPr>
          <a:xfrm>
            <a:off x="6400800" y="3849624"/>
            <a:ext cx="109728" cy="10972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1" name="Text 17"/>
          <p:cNvSpPr txBox="1"/>
          <p:nvPr/>
        </p:nvSpPr>
        <p:spPr>
          <a:xfrm>
            <a:off x="6629400" y="3721608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Requires watermarks on both sides so Spark can bound buffered state.</a:t>
            </a:r>
            <a:endParaRPr lang="en-US" sz="1100" dirty="0"/>
          </a:p>
        </p:txBody>
      </p:sp>
      <p:sp>
        <p:nvSpPr>
          <p:cNvPr id="22" name="Shape 18"/>
          <p:cNvSpPr/>
          <p:nvPr/>
        </p:nvSpPr>
        <p:spPr>
          <a:xfrm>
            <a:off x="6400800" y="4471416"/>
            <a:ext cx="109728" cy="10972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3" name="Text 19"/>
          <p:cNvSpPr txBox="1"/>
          <p:nvPr/>
        </p:nvSpPr>
        <p:spPr>
          <a:xfrm>
            <a:off x="6629400" y="4343400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Optionally add time-range join conditions to further limit matching.</a:t>
            </a:r>
            <a:endParaRPr lang="en-US" sz="1100" dirty="0"/>
          </a:p>
        </p:txBody>
      </p:sp>
      <p:sp>
        <p:nvSpPr>
          <p:cNvPr id="24" name="Shape 20"/>
          <p:cNvSpPr/>
          <p:nvPr/>
        </p:nvSpPr>
        <p:spPr>
          <a:xfrm>
            <a:off x="6400800" y="5093208"/>
            <a:ext cx="109728" cy="10972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5" name="Text 21"/>
          <p:cNvSpPr txBox="1"/>
          <p:nvPr/>
        </p:nvSpPr>
        <p:spPr>
          <a:xfrm>
            <a:off x="6629400" y="4965192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Unmatched rows can be emitted via outer joins once past the watermark.</a:t>
            </a:r>
            <a:endParaRPr lang="en-US" sz="1100" dirty="0"/>
          </a:p>
        </p:txBody>
      </p:sp>
      <p:sp>
        <p:nvSpPr>
          <p:cNvPr id="26" name="Text 22"/>
          <p:cNvSpPr txBox="1"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Spark Structured Streaming</a:t>
            </a:r>
            <a:endParaRPr lang="en-US" sz="900" dirty="0"/>
          </a:p>
        </p:txBody>
      </p:sp>
      <p:sp>
        <p:nvSpPr>
          <p:cNvPr id="27" name="Text 23"/>
          <p:cNvSpPr txBox="1"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STATE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Arbitrary Stateful Processing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916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aggregations cover most cases, but </a:t>
            </a:r>
            <a:pPr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mapGroupsWithState</a:t>
            </a:r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</a:t>
            </a:r>
            <a:pPr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flatMapGroupsWithState</a:t>
            </a:r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let you write custom per-key state logic when the built-ins aren’t enough.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743200"/>
            <a:ext cx="3520440" cy="2468880"/>
          </a:xfrm>
          <a:prstGeom prst="roundRect">
            <a:avLst>
              <a:gd name="adj" fmla="val 2963"/>
            </a:avLst>
          </a:prstGeom>
          <a:solidFill>
            <a:srgbClr val="F7FAFC"/>
          </a:solidFill>
          <a:ln/>
        </p:spPr>
      </p:sp>
      <p:sp>
        <p:nvSpPr>
          <p:cNvPr id="6" name="Shape 4"/>
          <p:cNvSpPr/>
          <p:nvPr/>
        </p:nvSpPr>
        <p:spPr>
          <a:xfrm>
            <a:off x="822960" y="3017520"/>
            <a:ext cx="548640" cy="548640"/>
          </a:xfrm>
          <a:prstGeom prst="ellipse">
            <a:avLst/>
          </a:prstGeom>
          <a:solidFill>
            <a:srgbClr val="21295C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9770" y="3094330"/>
            <a:ext cx="395021" cy="395021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822960" y="374904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Sessionization</a:t>
            </a:r>
            <a:endParaRPr lang="en-US" sz="1450" dirty="0"/>
          </a:p>
        </p:txBody>
      </p:sp>
      <p:sp>
        <p:nvSpPr>
          <p:cNvPr id="9" name="Text 6"/>
          <p:cNvSpPr txBox="1"/>
          <p:nvPr/>
        </p:nvSpPr>
        <p:spPr>
          <a:xfrm>
            <a:off x="822960" y="4114800"/>
            <a:ext cx="2971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clickstream events into user sessions with custom timeout logic.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4343400" y="2743200"/>
            <a:ext cx="3520440" cy="2468880"/>
          </a:xfrm>
          <a:prstGeom prst="roundRect">
            <a:avLst>
              <a:gd name="adj" fmla="val 2963"/>
            </a:avLst>
          </a:prstGeom>
          <a:solidFill>
            <a:srgbClr val="F7FAFC"/>
          </a:solidFill>
          <a:ln/>
        </p:spPr>
      </p:sp>
      <p:sp>
        <p:nvSpPr>
          <p:cNvPr id="11" name="Shape 8"/>
          <p:cNvSpPr/>
          <p:nvPr/>
        </p:nvSpPr>
        <p:spPr>
          <a:xfrm>
            <a:off x="4617720" y="3017520"/>
            <a:ext cx="548640" cy="548640"/>
          </a:xfrm>
          <a:prstGeom prst="ellipse">
            <a:avLst/>
          </a:prstGeom>
          <a:solidFill>
            <a:srgbClr val="21295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94530" y="3094330"/>
            <a:ext cx="395021" cy="395021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4617720" y="374904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Running Metrics</a:t>
            </a:r>
            <a:endParaRPr lang="en-US" sz="1450" dirty="0"/>
          </a:p>
        </p:txBody>
      </p:sp>
      <p:sp>
        <p:nvSpPr>
          <p:cNvPr id="14" name="Text 10"/>
          <p:cNvSpPr txBox="1"/>
          <p:nvPr/>
        </p:nvSpPr>
        <p:spPr>
          <a:xfrm>
            <a:off x="4617720" y="4114800"/>
            <a:ext cx="2971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 arbitrary counters/aggregates per key beyond built-in functions.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8138160" y="2743200"/>
            <a:ext cx="3520440" cy="2468880"/>
          </a:xfrm>
          <a:prstGeom prst="roundRect">
            <a:avLst>
              <a:gd name="adj" fmla="val 2963"/>
            </a:avLst>
          </a:prstGeom>
          <a:solidFill>
            <a:srgbClr val="F7FAFC"/>
          </a:solidFill>
          <a:ln/>
        </p:spPr>
      </p:sp>
      <p:sp>
        <p:nvSpPr>
          <p:cNvPr id="16" name="Shape 12"/>
          <p:cNvSpPr/>
          <p:nvPr/>
        </p:nvSpPr>
        <p:spPr>
          <a:xfrm>
            <a:off x="8412480" y="3017520"/>
            <a:ext cx="548640" cy="548640"/>
          </a:xfrm>
          <a:prstGeom prst="ellipse">
            <a:avLst/>
          </a:prstGeom>
          <a:solidFill>
            <a:srgbClr val="21295C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89290" y="3094330"/>
            <a:ext cx="395021" cy="395021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8412480" y="374904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Timeout Handling</a:t>
            </a:r>
            <a:endParaRPr lang="en-US" sz="1450" dirty="0"/>
          </a:p>
        </p:txBody>
      </p:sp>
      <p:sp>
        <p:nvSpPr>
          <p:cNvPr id="19" name="Text 14"/>
          <p:cNvSpPr txBox="1"/>
          <p:nvPr/>
        </p:nvSpPr>
        <p:spPr>
          <a:xfrm>
            <a:off x="8412480" y="4114800"/>
            <a:ext cx="2971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Explicitly expire state (EventTimeTimeout / ProcessingTimeTimeout) per group.</a:t>
            </a:r>
            <a:endParaRPr lang="en-US" sz="1150" dirty="0"/>
          </a:p>
        </p:txBody>
      </p:sp>
      <p:sp>
        <p:nvSpPr>
          <p:cNvPr id="20" name="Text 15"/>
          <p:cNvSpPr txBox="1"/>
          <p:nvPr/>
        </p:nvSpPr>
        <p:spPr>
          <a:xfrm>
            <a:off x="548640" y="54864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Interview tip: mapGroupsWithState returns one row per group per trigger; flatMapGroupsWithState can return zero, one, or many rows.</a:t>
            </a:r>
            <a:endParaRPr lang="en-US" sz="1100" dirty="0"/>
          </a:p>
        </p:txBody>
      </p:sp>
      <p:sp>
        <p:nvSpPr>
          <p:cNvPr id="21" name="Text 16"/>
          <p:cNvSpPr txBox="1"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Spark Structured Streaming</a:t>
            </a:r>
            <a:endParaRPr lang="en-US" sz="900" dirty="0"/>
          </a:p>
        </p:txBody>
      </p:sp>
      <p:sp>
        <p:nvSpPr>
          <p:cNvPr id="22" name="Text 17"/>
          <p:cNvSpPr txBox="1"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RELIABILITY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Checkpointing &amp; Exactly-Once Semantics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45920"/>
            <a:ext cx="5212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checkpoint directory is what makes a streaming query resumable and consistent after a failure or restart.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51460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9049" y="2585009"/>
            <a:ext cx="362102" cy="36210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234440" y="2496312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Source offsets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1234440" y="2807208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Exactly which records from Kafka/files have been read so far.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548640" y="347472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9049" y="3545129"/>
            <a:ext cx="362102" cy="362102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234440" y="3456432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Operator state</a:t>
            </a:r>
            <a:endParaRPr lang="en-US" sz="1300" dirty="0"/>
          </a:p>
        </p:txBody>
      </p:sp>
      <p:sp>
        <p:nvSpPr>
          <p:cNvPr id="12" name="Text 8"/>
          <p:cNvSpPr txBox="1"/>
          <p:nvPr/>
        </p:nvSpPr>
        <p:spPr>
          <a:xfrm>
            <a:off x="1234440" y="3767328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In-progress aggregation / window / join state (RocksDB or in-memory).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548640" y="443484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049" y="4505249"/>
            <a:ext cx="362102" cy="362102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1234440" y="4416552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Write-ahead log</a:t>
            </a:r>
            <a:endParaRPr lang="en-US" sz="1300" dirty="0"/>
          </a:p>
        </p:txBody>
      </p:sp>
      <p:sp>
        <p:nvSpPr>
          <p:cNvPr id="16" name="Text 11"/>
          <p:cNvSpPr txBox="1"/>
          <p:nvPr/>
        </p:nvSpPr>
        <p:spPr>
          <a:xfrm>
            <a:off x="1234440" y="4727448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 the intent to process a batch before committing output.</a:t>
            </a:r>
            <a:endParaRPr lang="en-US" sz="1100" dirty="0"/>
          </a:p>
        </p:txBody>
      </p:sp>
      <p:sp>
        <p:nvSpPr>
          <p:cNvPr id="17" name="Shape 12"/>
          <p:cNvSpPr/>
          <p:nvPr/>
        </p:nvSpPr>
        <p:spPr>
          <a:xfrm>
            <a:off x="548640" y="5532120"/>
            <a:ext cx="5212080" cy="822960"/>
          </a:xfrm>
          <a:prstGeom prst="roundRect">
            <a:avLst>
              <a:gd name="adj" fmla="val 6667"/>
            </a:avLst>
          </a:prstGeom>
          <a:solidFill>
            <a:srgbClr val="21295C"/>
          </a:solidFill>
          <a:ln/>
        </p:spPr>
      </p:sp>
      <p:sp>
        <p:nvSpPr>
          <p:cNvPr id="18" name="Text 13"/>
          <p:cNvSpPr txBox="1"/>
          <p:nvPr/>
        </p:nvSpPr>
        <p:spPr>
          <a:xfrm>
            <a:off x="731520" y="5532120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8A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.option("checkpointLocation", "/path")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6217920" y="1645920"/>
            <a:ext cx="5394960" cy="4892040"/>
          </a:xfrm>
          <a:prstGeom prst="roundRect">
            <a:avLst>
              <a:gd name="adj" fmla="val 1495"/>
            </a:avLst>
          </a:prstGeom>
          <a:solidFill>
            <a:srgbClr val="F7FAFC"/>
          </a:solidFill>
          <a:ln/>
        </p:spPr>
      </p:sp>
      <p:sp>
        <p:nvSpPr>
          <p:cNvPr id="20" name="Shape 15"/>
          <p:cNvSpPr/>
          <p:nvPr/>
        </p:nvSpPr>
        <p:spPr>
          <a:xfrm>
            <a:off x="6537960" y="1920240"/>
            <a:ext cx="594360" cy="59436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21170" y="2003450"/>
            <a:ext cx="427939" cy="427939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7315200" y="1965960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EXACTLY-ONCE OUTPUT NEEDS 3 THINGS</a:t>
            </a:r>
            <a:endParaRPr lang="en-US" sz="1350" dirty="0"/>
          </a:p>
        </p:txBody>
      </p:sp>
      <p:sp>
        <p:nvSpPr>
          <p:cNvPr id="23" name="Shape 17"/>
          <p:cNvSpPr/>
          <p:nvPr/>
        </p:nvSpPr>
        <p:spPr>
          <a:xfrm>
            <a:off x="6537960" y="278892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E8A33D"/>
          </a:solidFill>
          <a:ln/>
        </p:spPr>
      </p:sp>
      <p:sp>
        <p:nvSpPr>
          <p:cNvPr id="24" name="Text 18"/>
          <p:cNvSpPr txBox="1"/>
          <p:nvPr/>
        </p:nvSpPr>
        <p:spPr>
          <a:xfrm>
            <a:off x="6537960" y="2788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25" name="Text 19"/>
          <p:cNvSpPr txBox="1"/>
          <p:nvPr/>
        </p:nvSpPr>
        <p:spPr>
          <a:xfrm>
            <a:off x="7178040" y="2770632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Replayable source</a:t>
            </a:r>
            <a:endParaRPr lang="en-US" sz="1300" dirty="0"/>
          </a:p>
        </p:txBody>
      </p:sp>
      <p:sp>
        <p:nvSpPr>
          <p:cNvPr id="26" name="Text 20"/>
          <p:cNvSpPr txBox="1"/>
          <p:nvPr/>
        </p:nvSpPr>
        <p:spPr>
          <a:xfrm>
            <a:off x="7178040" y="3081528"/>
            <a:ext cx="4114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Kafka offsets (or file source) can be re-read from an exact position.</a:t>
            </a:r>
            <a:endParaRPr lang="en-US" sz="1100" dirty="0"/>
          </a:p>
        </p:txBody>
      </p:sp>
      <p:sp>
        <p:nvSpPr>
          <p:cNvPr id="27" name="Shape 21"/>
          <p:cNvSpPr/>
          <p:nvPr/>
        </p:nvSpPr>
        <p:spPr>
          <a:xfrm>
            <a:off x="6537960" y="393192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E8A33D"/>
          </a:solidFill>
          <a:ln/>
        </p:spPr>
      </p:sp>
      <p:sp>
        <p:nvSpPr>
          <p:cNvPr id="28" name="Text 22"/>
          <p:cNvSpPr txBox="1"/>
          <p:nvPr/>
        </p:nvSpPr>
        <p:spPr>
          <a:xfrm>
            <a:off x="6537960" y="3931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29" name="Text 23"/>
          <p:cNvSpPr txBox="1"/>
          <p:nvPr/>
        </p:nvSpPr>
        <p:spPr>
          <a:xfrm>
            <a:off x="7178040" y="3913632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Deterministic processing</a:t>
            </a:r>
            <a:endParaRPr lang="en-US" sz="1300" dirty="0"/>
          </a:p>
        </p:txBody>
      </p:sp>
      <p:sp>
        <p:nvSpPr>
          <p:cNvPr id="30" name="Text 24"/>
          <p:cNvSpPr txBox="1"/>
          <p:nvPr/>
        </p:nvSpPr>
        <p:spPr>
          <a:xfrm>
            <a:off x="7178040" y="4224528"/>
            <a:ext cx="4114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input batch always produces the same transformed output.</a:t>
            </a:r>
            <a:endParaRPr lang="en-US" sz="1100" dirty="0"/>
          </a:p>
        </p:txBody>
      </p:sp>
      <p:sp>
        <p:nvSpPr>
          <p:cNvPr id="31" name="Shape 25"/>
          <p:cNvSpPr/>
          <p:nvPr/>
        </p:nvSpPr>
        <p:spPr>
          <a:xfrm>
            <a:off x="6537960" y="507492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E8A33D"/>
          </a:solidFill>
          <a:ln/>
        </p:spPr>
      </p:sp>
      <p:sp>
        <p:nvSpPr>
          <p:cNvPr id="32" name="Text 26"/>
          <p:cNvSpPr txBox="1"/>
          <p:nvPr/>
        </p:nvSpPr>
        <p:spPr>
          <a:xfrm>
            <a:off x="6537960" y="5074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33" name="Text 27"/>
          <p:cNvSpPr txBox="1"/>
          <p:nvPr/>
        </p:nvSpPr>
        <p:spPr>
          <a:xfrm>
            <a:off x="7178040" y="5056632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Idempotent sink</a:t>
            </a:r>
            <a:endParaRPr lang="en-US" sz="1300" dirty="0"/>
          </a:p>
        </p:txBody>
      </p:sp>
      <p:sp>
        <p:nvSpPr>
          <p:cNvPr id="34" name="Text 28"/>
          <p:cNvSpPr txBox="1"/>
          <p:nvPr/>
        </p:nvSpPr>
        <p:spPr>
          <a:xfrm>
            <a:off x="7178040" y="5367528"/>
            <a:ext cx="4114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Re-writing the same batch doesn’t duplicate results — e.g. Delta Lake transactions, or upserts keyed by batch id.</a:t>
            </a:r>
            <a:endParaRPr lang="en-US" sz="1100" dirty="0"/>
          </a:p>
        </p:txBody>
      </p:sp>
      <p:sp>
        <p:nvSpPr>
          <p:cNvPr id="35" name="Text 29"/>
          <p:cNvSpPr txBox="1"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Spark Structured Streaming</a:t>
            </a:r>
            <a:endParaRPr lang="en-US" sz="900" dirty="0"/>
          </a:p>
        </p:txBody>
      </p:sp>
      <p:sp>
        <p:nvSpPr>
          <p:cNvPr id="36" name="Text 30"/>
          <p:cNvSpPr txBox="1"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ESCAPE HATCH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foreachBatch: Batch Power Inside a Stream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916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foreachBatch</a:t>
            </a:r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hands you each micro-batch as a regular batch DataFrame — use the full batch API (writes, upserts, multiple sinks) that streaming sinks don’t natively support.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697480"/>
            <a:ext cx="5577840" cy="2834640"/>
          </a:xfrm>
          <a:prstGeom prst="roundRect">
            <a:avLst>
              <a:gd name="adj" fmla="val 1935"/>
            </a:avLst>
          </a:prstGeom>
          <a:solidFill>
            <a:srgbClr val="21295C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7240" y="2834640"/>
            <a:ext cx="512064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D7F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upsert_to_gold(batch_df, batch_id):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D7F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# merge this micro-batch into fact_sales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D7F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delta_table.alias("t").merge(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D7F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batch_df.alias("s"),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D7F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"t.order_id = s.order_id"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D7F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).whenMatchedUpdateAll()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D7F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.whenNotMatchedInsertAll()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D7F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.execute()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D7F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stream_df.writeStream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D7F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.foreachBatch(upsert_to_gold)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D7F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.start()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6492240" y="2834640"/>
            <a:ext cx="502920" cy="502920"/>
          </a:xfrm>
          <a:prstGeom prst="ellipse">
            <a:avLst/>
          </a:prstGeom>
          <a:solidFill>
            <a:srgbClr val="E8A33D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62649" y="2905049"/>
            <a:ext cx="362102" cy="362102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7178040" y="2834640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Delta / database upserts (merge on keys)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6492240" y="3493008"/>
            <a:ext cx="502920" cy="502920"/>
          </a:xfrm>
          <a:prstGeom prst="ellipse">
            <a:avLst/>
          </a:prstGeom>
          <a:solidFill>
            <a:srgbClr val="E8A33D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2649" y="3563417"/>
            <a:ext cx="362102" cy="362102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7178040" y="3493008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Writing the same batch to multiple sinks</a:t>
            </a:r>
            <a:endParaRPr lang="en-US" sz="1250" dirty="0"/>
          </a:p>
        </p:txBody>
      </p:sp>
      <p:sp>
        <p:nvSpPr>
          <p:cNvPr id="13" name="Shape 9"/>
          <p:cNvSpPr/>
          <p:nvPr/>
        </p:nvSpPr>
        <p:spPr>
          <a:xfrm>
            <a:off x="6492240" y="4151376"/>
            <a:ext cx="502920" cy="502920"/>
          </a:xfrm>
          <a:prstGeom prst="ellipse">
            <a:avLst/>
          </a:prstGeom>
          <a:solidFill>
            <a:srgbClr val="E8A33D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2649" y="4221785"/>
            <a:ext cx="362102" cy="362102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7178040" y="4151376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Applying batch-only functions or SCD logic</a:t>
            </a:r>
            <a:endParaRPr lang="en-US" sz="1250" dirty="0"/>
          </a:p>
        </p:txBody>
      </p:sp>
      <p:sp>
        <p:nvSpPr>
          <p:cNvPr id="16" name="Shape 11"/>
          <p:cNvSpPr/>
          <p:nvPr/>
        </p:nvSpPr>
        <p:spPr>
          <a:xfrm>
            <a:off x="6492240" y="4809744"/>
            <a:ext cx="502920" cy="502920"/>
          </a:xfrm>
          <a:prstGeom prst="ellipse">
            <a:avLst/>
          </a:prstGeom>
          <a:solidFill>
            <a:srgbClr val="E8A33D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62649" y="4880153"/>
            <a:ext cx="362102" cy="362102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7178040" y="4809744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metrics or side-effects per batch</a:t>
            </a:r>
            <a:endParaRPr lang="en-US" sz="1250" dirty="0"/>
          </a:p>
        </p:txBody>
      </p:sp>
      <p:sp>
        <p:nvSpPr>
          <p:cNvPr id="19" name="Shape 13"/>
          <p:cNvSpPr/>
          <p:nvPr/>
        </p:nvSpPr>
        <p:spPr>
          <a:xfrm>
            <a:off x="6492240" y="5486400"/>
            <a:ext cx="5120640" cy="777240"/>
          </a:xfrm>
          <a:prstGeom prst="roundRect">
            <a:avLst>
              <a:gd name="adj" fmla="val 7059"/>
            </a:avLst>
          </a:prstGeom>
          <a:solidFill>
            <a:srgbClr val="F7FAFC"/>
          </a:solidFill>
          <a:ln/>
        </p:spPr>
      </p:sp>
      <p:sp>
        <p:nvSpPr>
          <p:cNvPr id="20" name="Text 14"/>
          <p:cNvSpPr txBox="1"/>
          <p:nvPr/>
        </p:nvSpPr>
        <p:spPr>
          <a:xfrm>
            <a:off x="6675120" y="5486400"/>
            <a:ext cx="4754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batch_id is stable across retries — use it to make your writes idempotent.</a:t>
            </a:r>
            <a:endParaRPr lang="en-US" sz="1050" dirty="0"/>
          </a:p>
        </p:txBody>
      </p:sp>
      <p:sp>
        <p:nvSpPr>
          <p:cNvPr id="21" name="Text 15"/>
          <p:cNvSpPr txBox="1"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Spark Structured Streaming</a:t>
            </a:r>
            <a:endParaRPr lang="en-US" sz="900" dirty="0"/>
          </a:p>
        </p:txBody>
      </p:sp>
      <p:sp>
        <p:nvSpPr>
          <p:cNvPr id="22" name="Text 16"/>
          <p:cNvSpPr txBox="1"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PUTTING IT TOGETHER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Real-World Pipeline: Kafka → Medallion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2377440" cy="2103120"/>
          </a:xfrm>
          <a:prstGeom prst="roundRect">
            <a:avLst>
              <a:gd name="adj" fmla="val 3478"/>
            </a:avLst>
          </a:prstGeom>
          <a:solidFill>
            <a:srgbClr val="21295C"/>
          </a:solidFill>
          <a:ln/>
        </p:spPr>
      </p:sp>
      <p:sp>
        <p:nvSpPr>
          <p:cNvPr id="5" name="Shape 3"/>
          <p:cNvSpPr/>
          <p:nvPr/>
        </p:nvSpPr>
        <p:spPr>
          <a:xfrm>
            <a:off x="1417320" y="219456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06931" y="2284171"/>
            <a:ext cx="460858" cy="460858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48640" y="29260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KAFKA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685800" y="329184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E8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order events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2994660" y="2834640"/>
            <a:ext cx="365760" cy="365760"/>
          </a:xfrm>
          <a:prstGeom prst="ellipse">
            <a:avLst/>
          </a:prstGeom>
          <a:solidFill>
            <a:srgbClr val="F7FAFC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5866" y="2885846"/>
            <a:ext cx="263347" cy="263347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3429000" y="1965960"/>
            <a:ext cx="2377440" cy="2103120"/>
          </a:xfrm>
          <a:prstGeom prst="roundRect">
            <a:avLst>
              <a:gd name="adj" fmla="val 3478"/>
            </a:avLst>
          </a:prstGeom>
          <a:solidFill>
            <a:srgbClr val="065A82"/>
          </a:solidFill>
          <a:ln/>
        </p:spPr>
      </p:sp>
      <p:sp>
        <p:nvSpPr>
          <p:cNvPr id="12" name="Shape 8"/>
          <p:cNvSpPr/>
          <p:nvPr/>
        </p:nvSpPr>
        <p:spPr>
          <a:xfrm>
            <a:off x="4297680" y="219456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7291" y="2284171"/>
            <a:ext cx="460858" cy="460858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3429000" y="29260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BRONZE</a:t>
            </a:r>
            <a:endParaRPr lang="en-US" sz="1500" dirty="0"/>
          </a:p>
        </p:txBody>
      </p:sp>
      <p:sp>
        <p:nvSpPr>
          <p:cNvPr id="15" name="Text 10"/>
          <p:cNvSpPr txBox="1"/>
          <p:nvPr/>
        </p:nvSpPr>
        <p:spPr>
          <a:xfrm>
            <a:off x="3566160" y="329184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E8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append, as-is</a:t>
            </a:r>
            <a:endParaRPr lang="en-US" sz="1000" dirty="0"/>
          </a:p>
        </p:txBody>
      </p:sp>
      <p:sp>
        <p:nvSpPr>
          <p:cNvPr id="16" name="Shape 11"/>
          <p:cNvSpPr/>
          <p:nvPr/>
        </p:nvSpPr>
        <p:spPr>
          <a:xfrm>
            <a:off x="5875020" y="2834640"/>
            <a:ext cx="365760" cy="365760"/>
          </a:xfrm>
          <a:prstGeom prst="ellipse">
            <a:avLst/>
          </a:prstGeom>
          <a:solidFill>
            <a:srgbClr val="F7FAFC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26226" y="2885846"/>
            <a:ext cx="263347" cy="263347"/>
          </a:xfrm>
          <a:prstGeom prst="rect">
            <a:avLst/>
          </a:prstGeom>
        </p:spPr>
      </p:pic>
      <p:sp>
        <p:nvSpPr>
          <p:cNvPr id="18" name="Shape 12"/>
          <p:cNvSpPr/>
          <p:nvPr/>
        </p:nvSpPr>
        <p:spPr>
          <a:xfrm>
            <a:off x="6309360" y="1965960"/>
            <a:ext cx="2377440" cy="2103120"/>
          </a:xfrm>
          <a:prstGeom prst="roundRect">
            <a:avLst>
              <a:gd name="adj" fmla="val 3478"/>
            </a:avLst>
          </a:prstGeom>
          <a:solidFill>
            <a:srgbClr val="1C7293"/>
          </a:solidFill>
          <a:ln/>
        </p:spPr>
      </p:sp>
      <p:sp>
        <p:nvSpPr>
          <p:cNvPr id="19" name="Shape 13"/>
          <p:cNvSpPr/>
          <p:nvPr/>
        </p:nvSpPr>
        <p:spPr>
          <a:xfrm>
            <a:off x="7178040" y="219456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67651" y="2284171"/>
            <a:ext cx="460858" cy="460858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6309360" y="29260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SILVER</a:t>
            </a:r>
            <a:endParaRPr lang="en-US" sz="1500" dirty="0"/>
          </a:p>
        </p:txBody>
      </p:sp>
      <p:sp>
        <p:nvSpPr>
          <p:cNvPr id="22" name="Text 15"/>
          <p:cNvSpPr txBox="1"/>
          <p:nvPr/>
        </p:nvSpPr>
        <p:spPr>
          <a:xfrm>
            <a:off x="6446520" y="329184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E8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cleaned, deduped,</a:t>
            </a:r>
            <a:endParaRPr lang="en-US" sz="10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E8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watermarked</a:t>
            </a:r>
            <a:endParaRPr lang="en-US" sz="1000" dirty="0"/>
          </a:p>
        </p:txBody>
      </p:sp>
      <p:sp>
        <p:nvSpPr>
          <p:cNvPr id="23" name="Shape 16"/>
          <p:cNvSpPr/>
          <p:nvPr/>
        </p:nvSpPr>
        <p:spPr>
          <a:xfrm>
            <a:off x="8755380" y="2834640"/>
            <a:ext cx="365760" cy="365760"/>
          </a:xfrm>
          <a:prstGeom prst="ellipse">
            <a:avLst/>
          </a:prstGeom>
          <a:solidFill>
            <a:srgbClr val="F7FAFC"/>
          </a:solidFill>
          <a:ln/>
        </p:spPr>
      </p:sp>
      <p:pic>
        <p:nvPicPr>
          <p:cNvPr id="2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06586" y="2885846"/>
            <a:ext cx="263347" cy="263347"/>
          </a:xfrm>
          <a:prstGeom prst="rect">
            <a:avLst/>
          </a:prstGeom>
        </p:spPr>
      </p:pic>
      <p:sp>
        <p:nvSpPr>
          <p:cNvPr id="25" name="Shape 17"/>
          <p:cNvSpPr/>
          <p:nvPr/>
        </p:nvSpPr>
        <p:spPr>
          <a:xfrm>
            <a:off x="9189720" y="1965960"/>
            <a:ext cx="2377440" cy="2103120"/>
          </a:xfrm>
          <a:prstGeom prst="roundRect">
            <a:avLst>
              <a:gd name="adj" fmla="val 3478"/>
            </a:avLst>
          </a:prstGeom>
          <a:solidFill>
            <a:srgbClr val="E8A33D"/>
          </a:solidFill>
          <a:ln/>
        </p:spPr>
      </p:sp>
      <p:sp>
        <p:nvSpPr>
          <p:cNvPr id="26" name="Shape 18"/>
          <p:cNvSpPr/>
          <p:nvPr/>
        </p:nvSpPr>
        <p:spPr>
          <a:xfrm>
            <a:off x="10058400" y="219456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7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148011" y="2284171"/>
            <a:ext cx="460858" cy="460858"/>
          </a:xfrm>
          <a:prstGeom prst="rect">
            <a:avLst/>
          </a:prstGeom>
        </p:spPr>
      </p:pic>
      <p:sp>
        <p:nvSpPr>
          <p:cNvPr id="28" name="Text 19"/>
          <p:cNvSpPr txBox="1"/>
          <p:nvPr/>
        </p:nvSpPr>
        <p:spPr>
          <a:xfrm>
            <a:off x="9189720" y="29260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GOLD</a:t>
            </a:r>
            <a:endParaRPr lang="en-US" sz="1500" dirty="0"/>
          </a:p>
        </p:txBody>
      </p:sp>
      <p:sp>
        <p:nvSpPr>
          <p:cNvPr id="29" name="Text 20"/>
          <p:cNvSpPr txBox="1"/>
          <p:nvPr/>
        </p:nvSpPr>
        <p:spPr>
          <a:xfrm>
            <a:off x="9326880" y="329184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fact_sales +</a:t>
            </a:r>
            <a:endParaRPr lang="en-US" sz="10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dim_customers/products</a:t>
            </a:r>
            <a:endParaRPr lang="en-US" sz="1000" dirty="0"/>
          </a:p>
        </p:txBody>
      </p:sp>
      <p:sp>
        <p:nvSpPr>
          <p:cNvPr id="30" name="Shape 21"/>
          <p:cNvSpPr/>
          <p:nvPr/>
        </p:nvSpPr>
        <p:spPr>
          <a:xfrm>
            <a:off x="548640" y="4434840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065A82"/>
          </a:solidFill>
          <a:ln/>
        </p:spPr>
      </p:sp>
      <p:sp>
        <p:nvSpPr>
          <p:cNvPr id="31" name="Text 22"/>
          <p:cNvSpPr txBox="1"/>
          <p:nvPr/>
        </p:nvSpPr>
        <p:spPr>
          <a:xfrm>
            <a:off x="548640" y="44348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300" dirty="0"/>
          </a:p>
        </p:txBody>
      </p:sp>
      <p:sp>
        <p:nvSpPr>
          <p:cNvPr id="32" name="Text 23"/>
          <p:cNvSpPr txBox="1"/>
          <p:nvPr/>
        </p:nvSpPr>
        <p:spPr>
          <a:xfrm>
            <a:off x="1051560" y="4416552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Streaming reads Kafka, writes append-only to Bronze Delta tables (source of truth, replayable).</a:t>
            </a:r>
            <a:endParaRPr lang="en-US" sz="1150" dirty="0"/>
          </a:p>
        </p:txBody>
      </p:sp>
      <p:sp>
        <p:nvSpPr>
          <p:cNvPr id="33" name="Shape 24"/>
          <p:cNvSpPr/>
          <p:nvPr/>
        </p:nvSpPr>
        <p:spPr>
          <a:xfrm>
            <a:off x="548640" y="5001768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065A82"/>
          </a:solidFill>
          <a:ln/>
        </p:spPr>
      </p:sp>
      <p:sp>
        <p:nvSpPr>
          <p:cNvPr id="34" name="Text 25"/>
          <p:cNvSpPr txBox="1"/>
          <p:nvPr/>
        </p:nvSpPr>
        <p:spPr>
          <a:xfrm>
            <a:off x="548640" y="50017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300" dirty="0"/>
          </a:p>
        </p:txBody>
      </p:sp>
      <p:sp>
        <p:nvSpPr>
          <p:cNvPr id="35" name="Text 26"/>
          <p:cNvSpPr txBox="1"/>
          <p:nvPr/>
        </p:nvSpPr>
        <p:spPr>
          <a:xfrm>
            <a:off x="1051560" y="498348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second stream reads Bronze, applies watermark + dedup + type casting, writes to Silver.</a:t>
            </a:r>
            <a:endParaRPr lang="en-US" sz="1150" dirty="0"/>
          </a:p>
        </p:txBody>
      </p:sp>
      <p:sp>
        <p:nvSpPr>
          <p:cNvPr id="36" name="Shape 27"/>
          <p:cNvSpPr/>
          <p:nvPr/>
        </p:nvSpPr>
        <p:spPr>
          <a:xfrm>
            <a:off x="548640" y="5568696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065A82"/>
          </a:solidFill>
          <a:ln/>
        </p:spPr>
      </p:sp>
      <p:sp>
        <p:nvSpPr>
          <p:cNvPr id="37" name="Text 28"/>
          <p:cNvSpPr txBox="1"/>
          <p:nvPr/>
        </p:nvSpPr>
        <p:spPr>
          <a:xfrm>
            <a:off x="548640" y="556869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300" dirty="0"/>
          </a:p>
        </p:txBody>
      </p:sp>
      <p:sp>
        <p:nvSpPr>
          <p:cNvPr id="38" name="Text 29"/>
          <p:cNvSpPr txBox="1"/>
          <p:nvPr/>
        </p:nvSpPr>
        <p:spPr>
          <a:xfrm>
            <a:off x="1051560" y="5550408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third stream (or foreachBatch merge) aggregates Silver into star-schema Gold tables for BI / ML.</a:t>
            </a:r>
            <a:endParaRPr lang="en-US" sz="1150" dirty="0"/>
          </a:p>
        </p:txBody>
      </p:sp>
      <p:sp>
        <p:nvSpPr>
          <p:cNvPr id="39" name="Text 30"/>
          <p:cNvSpPr txBox="1"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Spark Structured Streaming</a:t>
            </a:r>
            <a:endParaRPr lang="en-US" sz="900" dirty="0"/>
          </a:p>
        </p:txBody>
      </p:sp>
      <p:sp>
        <p:nvSpPr>
          <p:cNvPr id="40" name="Text 31"/>
          <p:cNvSpPr txBox="1"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OPERATING IN PRODUCTION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Monitoring a Streaming Query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916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query.lastProgress</a:t>
            </a:r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and </a:t>
            </a:r>
            <a:pPr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query.status</a:t>
            </a:r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expose metrics you can wire into dashboards and alerts — don’t fly blind in production.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514600"/>
            <a:ext cx="5349240" cy="1691640"/>
          </a:xfrm>
          <a:prstGeom prst="roundRect">
            <a:avLst>
              <a:gd name="adj" fmla="val 4324"/>
            </a:avLst>
          </a:prstGeom>
          <a:solidFill>
            <a:srgbClr val="F7FAFC"/>
          </a:solidFill>
          <a:ln/>
        </p:spPr>
      </p:sp>
      <p:sp>
        <p:nvSpPr>
          <p:cNvPr id="6" name="Shape 4"/>
          <p:cNvSpPr/>
          <p:nvPr/>
        </p:nvSpPr>
        <p:spPr>
          <a:xfrm>
            <a:off x="777240" y="274320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7649" y="2813609"/>
            <a:ext cx="362102" cy="362102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417320" y="2697480"/>
            <a:ext cx="4251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129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inputRowsPerSecond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3383280"/>
            <a:ext cx="4892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Incoming data rate — falling sharply may mean an upstream issue.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6263640" y="2514600"/>
            <a:ext cx="5349240" cy="1691640"/>
          </a:xfrm>
          <a:prstGeom prst="roundRect">
            <a:avLst>
              <a:gd name="adj" fmla="val 4324"/>
            </a:avLst>
          </a:prstGeom>
          <a:solidFill>
            <a:srgbClr val="F7FAFC"/>
          </a:solidFill>
          <a:ln/>
        </p:spPr>
      </p:sp>
      <p:sp>
        <p:nvSpPr>
          <p:cNvPr id="11" name="Shape 8"/>
          <p:cNvSpPr/>
          <p:nvPr/>
        </p:nvSpPr>
        <p:spPr>
          <a:xfrm>
            <a:off x="6492240" y="274320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2649" y="2813609"/>
            <a:ext cx="362102" cy="362102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7132320" y="2697480"/>
            <a:ext cx="4251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129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processedRowsPerSecond</a:t>
            </a:r>
            <a:endParaRPr lang="en-US" sz="1200" dirty="0"/>
          </a:p>
        </p:txBody>
      </p:sp>
      <p:sp>
        <p:nvSpPr>
          <p:cNvPr id="14" name="Text 10"/>
          <p:cNvSpPr txBox="1"/>
          <p:nvPr/>
        </p:nvSpPr>
        <p:spPr>
          <a:xfrm>
            <a:off x="6492240" y="3383280"/>
            <a:ext cx="4892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Throughput of your query — compare against input rate.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548640" y="4480560"/>
            <a:ext cx="5349240" cy="1691640"/>
          </a:xfrm>
          <a:prstGeom prst="roundRect">
            <a:avLst>
              <a:gd name="adj" fmla="val 4324"/>
            </a:avLst>
          </a:prstGeom>
          <a:solidFill>
            <a:srgbClr val="F7FAFC"/>
          </a:solidFill>
          <a:ln/>
        </p:spPr>
      </p:sp>
      <p:sp>
        <p:nvSpPr>
          <p:cNvPr id="16" name="Shape 12"/>
          <p:cNvSpPr/>
          <p:nvPr/>
        </p:nvSpPr>
        <p:spPr>
          <a:xfrm>
            <a:off x="777240" y="470916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7649" y="4779569"/>
            <a:ext cx="362102" cy="362102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1417320" y="4663440"/>
            <a:ext cx="4251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129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batchDuration / triggerExecution</a:t>
            </a:r>
            <a:endParaRPr lang="en-US" sz="1200" dirty="0"/>
          </a:p>
        </p:txBody>
      </p:sp>
      <p:sp>
        <p:nvSpPr>
          <p:cNvPr id="19" name="Text 14"/>
          <p:cNvSpPr txBox="1"/>
          <p:nvPr/>
        </p:nvSpPr>
        <p:spPr>
          <a:xfrm>
            <a:off x="777240" y="5349240"/>
            <a:ext cx="4892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long each micro-batch takes — watch for growing durations.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6263640" y="4480560"/>
            <a:ext cx="5349240" cy="1691640"/>
          </a:xfrm>
          <a:prstGeom prst="roundRect">
            <a:avLst>
              <a:gd name="adj" fmla="val 4324"/>
            </a:avLst>
          </a:prstGeom>
          <a:solidFill>
            <a:srgbClr val="F7FAFC"/>
          </a:solidFill>
          <a:ln/>
        </p:spPr>
      </p:sp>
      <p:sp>
        <p:nvSpPr>
          <p:cNvPr id="21" name="Shape 16"/>
          <p:cNvSpPr/>
          <p:nvPr/>
        </p:nvSpPr>
        <p:spPr>
          <a:xfrm>
            <a:off x="6492240" y="470916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62649" y="4779569"/>
            <a:ext cx="362102" cy="362102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7132320" y="4663440"/>
            <a:ext cx="4251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129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stateOperators.numRowsTotal</a:t>
            </a:r>
            <a:endParaRPr lang="en-US" sz="1200" dirty="0"/>
          </a:p>
        </p:txBody>
      </p:sp>
      <p:sp>
        <p:nvSpPr>
          <p:cNvPr id="24" name="Text 18"/>
          <p:cNvSpPr txBox="1"/>
          <p:nvPr/>
        </p:nvSpPr>
        <p:spPr>
          <a:xfrm>
            <a:off x="6492240" y="5349240"/>
            <a:ext cx="4892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store size — unbounded growth signals a missing/too-loose watermark.</a:t>
            </a:r>
            <a:endParaRPr lang="en-US" sz="1100" dirty="0"/>
          </a:p>
        </p:txBody>
      </p:sp>
      <p:sp>
        <p:nvSpPr>
          <p:cNvPr id="25" name="Text 19"/>
          <p:cNvSpPr txBox="1"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Spark Structured Streaming</a:t>
            </a:r>
            <a:endParaRPr lang="en-US" sz="900" dirty="0"/>
          </a:p>
        </p:txBody>
      </p:sp>
      <p:sp>
        <p:nvSpPr>
          <p:cNvPr id="26" name="Text 20"/>
          <p:cNvSpPr txBox="1"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Interview Cheat Sheet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520440" cy="1417320"/>
          </a:xfrm>
          <a:prstGeom prst="roundRect">
            <a:avLst>
              <a:gd name="adj" fmla="val 5161"/>
            </a:avLst>
          </a:prstGeom>
          <a:solidFill>
            <a:srgbClr val="F7FAFC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77240" y="187452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Micro-batch engine</a:t>
            </a:r>
            <a:endParaRPr lang="en-US" sz="135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240280"/>
            <a:ext cx="3063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execution model; processes data in small batches on a trigger.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343400" y="1737360"/>
            <a:ext cx="3520440" cy="1417320"/>
          </a:xfrm>
          <a:prstGeom prst="roundRect">
            <a:avLst>
              <a:gd name="adj" fmla="val 5161"/>
            </a:avLst>
          </a:prstGeom>
          <a:solidFill>
            <a:srgbClr val="F7FAFC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4572000" y="187452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Watermark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4572000" y="2240280"/>
            <a:ext cx="3063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Bounds lateness &amp; state size: max(eventTime) − threshold.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8138160" y="1737360"/>
            <a:ext cx="3520440" cy="1417320"/>
          </a:xfrm>
          <a:prstGeom prst="roundRect">
            <a:avLst>
              <a:gd name="adj" fmla="val 5161"/>
            </a:avLst>
          </a:prstGeom>
          <a:solidFill>
            <a:srgbClr val="F7FAFC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366760" y="187452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Output mode</a:t>
            </a:r>
            <a:endParaRPr lang="en-US" sz="1350" dirty="0"/>
          </a:p>
        </p:txBody>
      </p:sp>
      <p:sp>
        <p:nvSpPr>
          <p:cNvPr id="12" name="Text 10"/>
          <p:cNvSpPr txBox="1"/>
          <p:nvPr/>
        </p:nvSpPr>
        <p:spPr>
          <a:xfrm>
            <a:off x="8366760" y="2240280"/>
            <a:ext cx="3063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 (new rows), Update (changed rows), Complete (full table).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48640" y="3383280"/>
            <a:ext cx="3520440" cy="1417320"/>
          </a:xfrm>
          <a:prstGeom prst="roundRect">
            <a:avLst>
              <a:gd name="adj" fmla="val 5161"/>
            </a:avLst>
          </a:prstGeom>
          <a:solidFill>
            <a:srgbClr val="F7FAFC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77240" y="352044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Checkpointing</a:t>
            </a:r>
            <a:endParaRPr lang="en-US" sz="1350" dirty="0"/>
          </a:p>
        </p:txBody>
      </p:sp>
      <p:sp>
        <p:nvSpPr>
          <p:cNvPr id="15" name="Text 13"/>
          <p:cNvSpPr txBox="1"/>
          <p:nvPr/>
        </p:nvSpPr>
        <p:spPr>
          <a:xfrm>
            <a:off x="777240" y="3886200"/>
            <a:ext cx="3063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Persists offsets + state for exactly-once, fault-tolerant restarts.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343400" y="3383280"/>
            <a:ext cx="3520440" cy="1417320"/>
          </a:xfrm>
          <a:prstGeom prst="roundRect">
            <a:avLst>
              <a:gd name="adj" fmla="val 5161"/>
            </a:avLst>
          </a:prstGeom>
          <a:solidFill>
            <a:srgbClr val="F7FAFC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4572000" y="352044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foreachBatch</a:t>
            </a:r>
            <a:endParaRPr lang="en-US" sz="1350" dirty="0"/>
          </a:p>
        </p:txBody>
      </p:sp>
      <p:sp>
        <p:nvSpPr>
          <p:cNvPr id="18" name="Text 16"/>
          <p:cNvSpPr txBox="1"/>
          <p:nvPr/>
        </p:nvSpPr>
        <p:spPr>
          <a:xfrm>
            <a:off x="4572000" y="3886200"/>
            <a:ext cx="3063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into the batch API for upserts, multi-sink writes, custom logic.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8138160" y="3383280"/>
            <a:ext cx="3520440" cy="1417320"/>
          </a:xfrm>
          <a:prstGeom prst="roundRect">
            <a:avLst>
              <a:gd name="adj" fmla="val 5161"/>
            </a:avLst>
          </a:prstGeom>
          <a:solidFill>
            <a:srgbClr val="F7FAFC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8366760" y="352044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Stream-stream join</a:t>
            </a:r>
            <a:endParaRPr lang="en-US" sz="1350" dirty="0"/>
          </a:p>
        </p:txBody>
      </p:sp>
      <p:sp>
        <p:nvSpPr>
          <p:cNvPr id="21" name="Text 19"/>
          <p:cNvSpPr txBox="1"/>
          <p:nvPr/>
        </p:nvSpPr>
        <p:spPr>
          <a:xfrm>
            <a:off x="8366760" y="3886200"/>
            <a:ext cx="3063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watermarks on both sides to bound buffered state.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Spark Structured Streaming</a:t>
            </a:r>
            <a:endParaRPr lang="en-US" sz="900" dirty="0"/>
          </a:p>
        </p:txBody>
      </p:sp>
      <p:sp>
        <p:nvSpPr>
          <p:cNvPr id="23" name="Text 21"/>
          <p:cNvSpPr txBox="1"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5303520"/>
            <a:ext cx="457200" cy="457200"/>
          </a:xfrm>
          <a:prstGeom prst="ellipse">
            <a:avLst/>
          </a:prstGeom>
          <a:solidFill>
            <a:srgbClr val="1C7293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464040" y="5303520"/>
            <a:ext cx="411480" cy="411480"/>
          </a:xfrm>
          <a:prstGeom prst="ellipse">
            <a:avLst/>
          </a:prstGeom>
          <a:solidFill>
            <a:srgbClr val="1C7293">
              <a:alpha val="39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149840" y="5303520"/>
            <a:ext cx="365760" cy="365760"/>
          </a:xfrm>
          <a:prstGeom prst="ellipse">
            <a:avLst/>
          </a:prstGeom>
          <a:solidFill>
            <a:srgbClr val="1C7293">
              <a:alpha val="33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0835640" y="5303520"/>
            <a:ext cx="320040" cy="320040"/>
          </a:xfrm>
          <a:prstGeom prst="ellipse">
            <a:avLst/>
          </a:prstGeom>
          <a:solidFill>
            <a:srgbClr val="1C7293">
              <a:alpha val="27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1521440" y="5303520"/>
            <a:ext cx="274320" cy="274320"/>
          </a:xfrm>
          <a:prstGeom prst="ellipse">
            <a:avLst/>
          </a:prstGeom>
          <a:solidFill>
            <a:srgbClr val="1C7293">
              <a:alpha val="21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822960" y="1188720"/>
            <a:ext cx="914400" cy="91440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0976" y="1316736"/>
            <a:ext cx="658368" cy="658368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822960" y="2377440"/>
            <a:ext cx="10332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 now have the core Structured Streaming toolkit</a:t>
            </a:r>
            <a:endParaRPr lang="en-US" sz="3000" dirty="0"/>
          </a:p>
        </p:txBody>
      </p:sp>
      <p:sp>
        <p:nvSpPr>
          <p:cNvPr id="10" name="Text 7"/>
          <p:cNvSpPr txBox="1"/>
          <p:nvPr/>
        </p:nvSpPr>
        <p:spPr>
          <a:xfrm>
            <a:off x="822960" y="329184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 &amp; sinks • output modes &amp; triggers • event time &amp; watermarking • windows &amp; joins • fault tolerance • foreachBatch • medallion architecture • monitoring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822960" y="4343400"/>
            <a:ext cx="2926080" cy="0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822960" y="4526280"/>
            <a:ext cx="9601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i="1" dirty="0">
                <a:solidFill>
                  <a:srgbClr val="9FB6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step: build a small end-to-end demo — Kafka → Bronze → Silver → Gold — and be ready to talk through every box out loud.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2026-08-26T18:20:27Z</dcterms:created>
  <dcterms:modified xsi:type="dcterms:W3CDTF">2026-08-26T18:20:27Z</dcterms:modified>
</cp:coreProperties>
</file>