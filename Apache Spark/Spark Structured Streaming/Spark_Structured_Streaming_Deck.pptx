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6"/>
        </a:solidFill>
      </p:bgPr>
    </p:bg>
    <p:spTree>
      <p:nvGrpSpPr>
        <p:cNvPr id="1" name=""/>
        <p:cNvGrpSpPr/>
        <p:nvPr/>
      </p:nvGrpSpPr>
      <p:grpSpPr>
        <a:xfrm>
          <a:off x="0" y="0"/>
          <a:ext cx="0" cy="0"/>
          <a:chOff x="0" y="0"/>
          <a:chExt cx="0" cy="0"/>
        </a:xfrm>
      </p:grpSpPr>
      <p:sp>
        <p:nvSpPr>
          <p:cNvPr id="2" name="Shape 0"/>
          <p:cNvSpPr/>
          <p:nvPr/>
        </p:nvSpPr>
        <p:spPr>
          <a:xfrm>
            <a:off x="8778240" y="-1645920"/>
            <a:ext cx="5943600" cy="5943600"/>
          </a:xfrm>
          <a:prstGeom prst="ellipse">
            <a:avLst/>
          </a:prstGeom>
          <a:ln w="19050">
            <a:solidFill>
              <a:srgbClr val="00A896">
                <a:alpha val="45000"/>
              </a:srgbClr>
            </a:solidFill>
            <a:prstDash val="solid"/>
          </a:ln>
        </p:spPr>
      </p:sp>
      <p:sp>
        <p:nvSpPr>
          <p:cNvPr id="3" name="Shape 1"/>
          <p:cNvSpPr/>
          <p:nvPr/>
        </p:nvSpPr>
        <p:spPr>
          <a:xfrm>
            <a:off x="9418320" y="-1005840"/>
            <a:ext cx="4663440" cy="4663440"/>
          </a:xfrm>
          <a:prstGeom prst="ellipse">
            <a:avLst/>
          </a:prstGeom>
          <a:ln w="19050">
            <a:solidFill>
              <a:srgbClr val="00A896">
                <a:alpha val="60000"/>
              </a:srgbClr>
            </a:solidFill>
            <a:prstDash val="solid"/>
          </a:ln>
        </p:spPr>
      </p:sp>
      <p:sp>
        <p:nvSpPr>
          <p:cNvPr id="4" name="Shape 2"/>
          <p:cNvSpPr/>
          <p:nvPr/>
        </p:nvSpPr>
        <p:spPr>
          <a:xfrm>
            <a:off x="10058400" y="-365760"/>
            <a:ext cx="3383280" cy="3383280"/>
          </a:xfrm>
          <a:prstGeom prst="ellipse">
            <a:avLst/>
          </a:prstGeom>
          <a:ln w="19050">
            <a:solidFill>
              <a:srgbClr val="02C39A">
                <a:alpha val="80000"/>
              </a:srgbClr>
            </a:solidFill>
            <a:prstDash val="solid"/>
          </a:ln>
        </p:spPr>
      </p:sp>
      <p:sp>
        <p:nvSpPr>
          <p:cNvPr id="5" name="Text 3"/>
          <p:cNvSpPr txBox="1"/>
          <p:nvPr/>
        </p:nvSpPr>
        <p:spPr>
          <a:xfrm>
            <a:off x="731520" y="1783080"/>
            <a:ext cx="7315200" cy="457200"/>
          </a:xfrm>
          <a:prstGeom prst="rect">
            <a:avLst/>
          </a:prstGeom>
          <a:noFill/>
          <a:ln/>
        </p:spPr>
        <p:txBody>
          <a:bodyPr wrap="square" lIns="0" tIns="0" rIns="0" bIns="0" rtlCol="0" anchor="ctr"/>
          <a:lstStyle/>
          <a:p>
            <a:pPr indent="0" marL="0">
              <a:buNone/>
            </a:pPr>
            <a:r>
              <a:rPr lang="en-US" sz="1600" b="1" spc="300" kern="0" dirty="0">
                <a:solidFill>
                  <a:srgbClr val="02C39A"/>
                </a:solidFill>
                <a:latin typeface="Calibri" pitchFamily="34" charset="0"/>
                <a:ea typeface="Calibri" pitchFamily="34" charset="-122"/>
                <a:cs typeface="Calibri" pitchFamily="34" charset="-120"/>
              </a:rPr>
              <a:t>APACHE SPARK</a:t>
            </a:r>
            <a:endParaRPr lang="en-US" sz="1600" dirty="0"/>
          </a:p>
        </p:txBody>
      </p:sp>
      <p:sp>
        <p:nvSpPr>
          <p:cNvPr id="6" name="Text 4"/>
          <p:cNvSpPr txBox="1"/>
          <p:nvPr/>
        </p:nvSpPr>
        <p:spPr>
          <a:xfrm>
            <a:off x="731520" y="2194560"/>
            <a:ext cx="9601200" cy="1371600"/>
          </a:xfrm>
          <a:prstGeom prst="rect">
            <a:avLst/>
          </a:prstGeom>
          <a:noFill/>
          <a:ln/>
        </p:spPr>
        <p:txBody>
          <a:bodyPr wrap="square" lIns="0" tIns="0" rIns="0" bIns="0" rtlCol="0" anchor="ctr"/>
          <a:lstStyle/>
          <a:p>
            <a:pPr indent="0" marL="0">
              <a:buNone/>
            </a:pPr>
            <a:r>
              <a:rPr lang="en-US" sz="4600" b="1" dirty="0">
                <a:solidFill>
                  <a:srgbClr val="FFFFFF"/>
                </a:solidFill>
                <a:latin typeface="Century Schoolbook" pitchFamily="34" charset="0"/>
                <a:ea typeface="Century Schoolbook" pitchFamily="34" charset="-122"/>
                <a:cs typeface="Century Schoolbook" pitchFamily="34" charset="-120"/>
              </a:rPr>
              <a:t>Structured Streaming</a:t>
            </a:r>
            <a:endParaRPr lang="en-US" sz="4600" dirty="0"/>
          </a:p>
        </p:txBody>
      </p:sp>
      <p:sp>
        <p:nvSpPr>
          <p:cNvPr id="7" name="Text 5"/>
          <p:cNvSpPr txBox="1"/>
          <p:nvPr/>
        </p:nvSpPr>
        <p:spPr>
          <a:xfrm>
            <a:off x="731520" y="3291840"/>
            <a:ext cx="8229600" cy="548640"/>
          </a:xfrm>
          <a:prstGeom prst="rect">
            <a:avLst/>
          </a:prstGeom>
          <a:noFill/>
          <a:ln/>
        </p:spPr>
        <p:txBody>
          <a:bodyPr wrap="square" lIns="0" tIns="0" rIns="0" bIns="0" rtlCol="0" anchor="ctr"/>
          <a:lstStyle/>
          <a:p>
            <a:pPr indent="0" marL="0">
              <a:buNone/>
            </a:pPr>
            <a:r>
              <a:rPr lang="en-US" sz="1600" i="1" dirty="0">
                <a:solidFill>
                  <a:srgbClr val="9FC3C4"/>
                </a:solidFill>
                <a:latin typeface="Calibri" pitchFamily="34" charset="0"/>
                <a:ea typeface="Calibri" pitchFamily="34" charset="-122"/>
                <a:cs typeface="Calibri" pitchFamily="34" charset="-120"/>
              </a:rPr>
              <a:t>A complete, in-depth guide: from readStream to watermarks</a:t>
            </a:r>
            <a:endParaRPr lang="en-US" sz="1600" dirty="0"/>
          </a:p>
        </p:txBody>
      </p:sp>
      <p:sp>
        <p:nvSpPr>
          <p:cNvPr id="8" name="Shape 6"/>
          <p:cNvSpPr/>
          <p:nvPr/>
        </p:nvSpPr>
        <p:spPr>
          <a:xfrm>
            <a:off x="731520" y="3931920"/>
            <a:ext cx="2011680" cy="0"/>
          </a:xfrm>
          <a:prstGeom prst="line">
            <a:avLst/>
          </a:prstGeom>
          <a:noFill/>
          <a:ln w="25400">
            <a:solidFill>
              <a:srgbClr val="00A896"/>
            </a:solidFill>
            <a:prstDash val="solid"/>
          </a:ln>
        </p:spPr>
      </p:sp>
      <p:sp>
        <p:nvSpPr>
          <p:cNvPr id="9" name="Shape 7"/>
          <p:cNvSpPr/>
          <p:nvPr/>
        </p:nvSpPr>
        <p:spPr>
          <a:xfrm>
            <a:off x="731520" y="4242816"/>
            <a:ext cx="73152" cy="73152"/>
          </a:xfrm>
          <a:prstGeom prst="ellipse">
            <a:avLst/>
          </a:prstGeom>
          <a:solidFill>
            <a:srgbClr val="02C39A"/>
          </a:solidFill>
          <a:ln/>
        </p:spPr>
      </p:sp>
      <p:sp>
        <p:nvSpPr>
          <p:cNvPr id="10" name="Text 8"/>
          <p:cNvSpPr txBox="1"/>
          <p:nvPr/>
        </p:nvSpPr>
        <p:spPr>
          <a:xfrm>
            <a:off x="932688" y="4087368"/>
            <a:ext cx="5486400" cy="320040"/>
          </a:xfrm>
          <a:prstGeom prst="rect">
            <a:avLst/>
          </a:prstGeom>
          <a:noFill/>
          <a:ln/>
        </p:spPr>
        <p:txBody>
          <a:bodyPr wrap="square" lIns="0" tIns="0" rIns="0" bIns="0" rtlCol="0" anchor="ctr"/>
          <a:lstStyle/>
          <a:p>
            <a:pPr indent="0" marL="0">
              <a:buNone/>
            </a:pPr>
            <a:r>
              <a:rPr lang="en-US" sz="1250" dirty="0">
                <a:solidFill>
                  <a:srgbClr val="9FC3C4"/>
                </a:solidFill>
                <a:latin typeface="Calibri" pitchFamily="34" charset="0"/>
                <a:ea typeface="Calibri" pitchFamily="34" charset="-122"/>
                <a:cs typeface="Calibri" pitchFamily="34" charset="-120"/>
              </a:rPr>
              <a:t>Core concepts &amp; API</a:t>
            </a:r>
            <a:endParaRPr lang="en-US" sz="1250" dirty="0"/>
          </a:p>
        </p:txBody>
      </p:sp>
      <p:sp>
        <p:nvSpPr>
          <p:cNvPr id="11" name="Shape 9"/>
          <p:cNvSpPr/>
          <p:nvPr/>
        </p:nvSpPr>
        <p:spPr>
          <a:xfrm>
            <a:off x="731520" y="4608576"/>
            <a:ext cx="73152" cy="73152"/>
          </a:xfrm>
          <a:prstGeom prst="ellipse">
            <a:avLst/>
          </a:prstGeom>
          <a:solidFill>
            <a:srgbClr val="02C39A"/>
          </a:solidFill>
          <a:ln/>
        </p:spPr>
      </p:sp>
      <p:sp>
        <p:nvSpPr>
          <p:cNvPr id="12" name="Text 10"/>
          <p:cNvSpPr txBox="1"/>
          <p:nvPr/>
        </p:nvSpPr>
        <p:spPr>
          <a:xfrm>
            <a:off x="932688" y="4453128"/>
            <a:ext cx="5486400" cy="320040"/>
          </a:xfrm>
          <a:prstGeom prst="rect">
            <a:avLst/>
          </a:prstGeom>
          <a:noFill/>
          <a:ln/>
        </p:spPr>
        <p:txBody>
          <a:bodyPr wrap="square" lIns="0" tIns="0" rIns="0" bIns="0" rtlCol="0" anchor="ctr"/>
          <a:lstStyle/>
          <a:p>
            <a:pPr indent="0" marL="0">
              <a:buNone/>
            </a:pPr>
            <a:r>
              <a:rPr lang="en-US" sz="1250" dirty="0">
                <a:solidFill>
                  <a:srgbClr val="9FC3C4"/>
                </a:solidFill>
                <a:latin typeface="Calibri" pitchFamily="34" charset="0"/>
                <a:ea typeface="Calibri" pitchFamily="34" charset="-122"/>
                <a:cs typeface="Calibri" pitchFamily="34" charset="-120"/>
              </a:rPr>
              <a:t>Transformations &amp; checkpoints</a:t>
            </a:r>
            <a:endParaRPr lang="en-US" sz="1250" dirty="0"/>
          </a:p>
        </p:txBody>
      </p:sp>
      <p:sp>
        <p:nvSpPr>
          <p:cNvPr id="13" name="Shape 11"/>
          <p:cNvSpPr/>
          <p:nvPr/>
        </p:nvSpPr>
        <p:spPr>
          <a:xfrm>
            <a:off x="731520" y="4974336"/>
            <a:ext cx="73152" cy="73152"/>
          </a:xfrm>
          <a:prstGeom prst="ellipse">
            <a:avLst/>
          </a:prstGeom>
          <a:solidFill>
            <a:srgbClr val="02C39A"/>
          </a:solidFill>
          <a:ln/>
        </p:spPr>
      </p:sp>
      <p:sp>
        <p:nvSpPr>
          <p:cNvPr id="14" name="Text 12"/>
          <p:cNvSpPr txBox="1"/>
          <p:nvPr/>
        </p:nvSpPr>
        <p:spPr>
          <a:xfrm>
            <a:off x="932688" y="4818888"/>
            <a:ext cx="5486400" cy="320040"/>
          </a:xfrm>
          <a:prstGeom prst="rect">
            <a:avLst/>
          </a:prstGeom>
          <a:noFill/>
          <a:ln/>
        </p:spPr>
        <p:txBody>
          <a:bodyPr wrap="square" lIns="0" tIns="0" rIns="0" bIns="0" rtlCol="0" anchor="ctr"/>
          <a:lstStyle/>
          <a:p>
            <a:pPr indent="0" marL="0">
              <a:buNone/>
            </a:pPr>
            <a:r>
              <a:rPr lang="en-US" sz="1250" dirty="0">
                <a:solidFill>
                  <a:srgbClr val="9FC3C4"/>
                </a:solidFill>
                <a:latin typeface="Calibri" pitchFamily="34" charset="0"/>
                <a:ea typeface="Calibri" pitchFamily="34" charset="-122"/>
                <a:cs typeface="Calibri" pitchFamily="34" charset="-120"/>
              </a:rPr>
              <a:t>Output modes &amp; triggers</a:t>
            </a:r>
            <a:endParaRPr lang="en-US" sz="1250" dirty="0"/>
          </a:p>
        </p:txBody>
      </p:sp>
      <p:sp>
        <p:nvSpPr>
          <p:cNvPr id="15" name="Shape 13"/>
          <p:cNvSpPr/>
          <p:nvPr/>
        </p:nvSpPr>
        <p:spPr>
          <a:xfrm>
            <a:off x="731520" y="5340096"/>
            <a:ext cx="73152" cy="73152"/>
          </a:xfrm>
          <a:prstGeom prst="ellipse">
            <a:avLst/>
          </a:prstGeom>
          <a:solidFill>
            <a:srgbClr val="02C39A"/>
          </a:solidFill>
          <a:ln/>
        </p:spPr>
      </p:sp>
      <p:sp>
        <p:nvSpPr>
          <p:cNvPr id="16" name="Text 14"/>
          <p:cNvSpPr txBox="1"/>
          <p:nvPr/>
        </p:nvSpPr>
        <p:spPr>
          <a:xfrm>
            <a:off x="932688" y="5184648"/>
            <a:ext cx="5486400" cy="320040"/>
          </a:xfrm>
          <a:prstGeom prst="rect">
            <a:avLst/>
          </a:prstGeom>
          <a:noFill/>
          <a:ln/>
        </p:spPr>
        <p:txBody>
          <a:bodyPr wrap="square" lIns="0" tIns="0" rIns="0" bIns="0" rtlCol="0" anchor="ctr"/>
          <a:lstStyle/>
          <a:p>
            <a:pPr indent="0" marL="0">
              <a:buNone/>
            </a:pPr>
            <a:r>
              <a:rPr lang="en-US" sz="1250" dirty="0">
                <a:solidFill>
                  <a:srgbClr val="9FC3C4"/>
                </a:solidFill>
                <a:latin typeface="Calibri" pitchFamily="34" charset="0"/>
                <a:ea typeface="Calibri" pitchFamily="34" charset="-122"/>
                <a:cs typeface="Calibri" pitchFamily="34" charset="-120"/>
              </a:rPr>
              <a:t>Event time, windows &amp; watermarks</a:t>
            </a:r>
            <a:endParaRPr lang="en-US" sz="1250" dirty="0"/>
          </a:p>
        </p:txBody>
      </p:sp>
      <p:sp>
        <p:nvSpPr>
          <p:cNvPr id="17" name="Shape 15"/>
          <p:cNvSpPr/>
          <p:nvPr/>
        </p:nvSpPr>
        <p:spPr>
          <a:xfrm>
            <a:off x="731520" y="5705856"/>
            <a:ext cx="73152" cy="73152"/>
          </a:xfrm>
          <a:prstGeom prst="ellipse">
            <a:avLst/>
          </a:prstGeom>
          <a:solidFill>
            <a:srgbClr val="02C39A"/>
          </a:solidFill>
          <a:ln/>
        </p:spPr>
      </p:sp>
      <p:sp>
        <p:nvSpPr>
          <p:cNvPr id="18" name="Text 16"/>
          <p:cNvSpPr txBox="1"/>
          <p:nvPr/>
        </p:nvSpPr>
        <p:spPr>
          <a:xfrm>
            <a:off x="932688" y="5550408"/>
            <a:ext cx="5486400" cy="320040"/>
          </a:xfrm>
          <a:prstGeom prst="rect">
            <a:avLst/>
          </a:prstGeom>
          <a:noFill/>
          <a:ln/>
        </p:spPr>
        <p:txBody>
          <a:bodyPr wrap="square" lIns="0" tIns="0" rIns="0" bIns="0" rtlCol="0" anchor="ctr"/>
          <a:lstStyle/>
          <a:p>
            <a:pPr indent="0" marL="0">
              <a:buNone/>
            </a:pPr>
            <a:r>
              <a:rPr lang="en-US" sz="1250" dirty="0">
                <a:solidFill>
                  <a:srgbClr val="9FC3C4"/>
                </a:solidFill>
                <a:latin typeface="Calibri" pitchFamily="34" charset="0"/>
                <a:ea typeface="Calibri" pitchFamily="34" charset="-122"/>
                <a:cs typeface="Calibri" pitchFamily="34" charset="-120"/>
              </a:rPr>
              <a:t>Use cases &amp; best practices</a:t>
            </a:r>
            <a:endParaRPr lang="en-US" sz="1250" dirty="0"/>
          </a:p>
        </p:txBody>
      </p:sp>
      <p:sp>
        <p:nvSpPr>
          <p:cNvPr id="19" name="Text 17"/>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20" name="Text 18"/>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0B1F26"/>
                </a:solidFill>
                <a:latin typeface="Century Schoolbook" pitchFamily="34" charset="0"/>
                <a:ea typeface="Century Schoolbook" pitchFamily="34" charset="-122"/>
                <a:cs typeface="Century Schoolbook" pitchFamily="34" charset="-120"/>
              </a:rPr>
              <a:t>What Is Streaming?</a:t>
            </a:r>
            <a:endParaRPr lang="en-US" sz="3200" dirty="0"/>
          </a:p>
        </p:txBody>
      </p:sp>
      <p:sp>
        <p:nvSpPr>
          <p:cNvPr id="3" name="Text 1"/>
          <p:cNvSpPr txBox="1"/>
          <p:nvPr/>
        </p:nvSpPr>
        <p:spPr>
          <a:xfrm>
            <a:off x="548640" y="1051560"/>
            <a:ext cx="8686800" cy="457200"/>
          </a:xfrm>
          <a:prstGeom prst="rect">
            <a:avLst/>
          </a:prstGeom>
          <a:noFill/>
          <a:ln/>
        </p:spPr>
        <p:txBody>
          <a:bodyPr wrap="square" lIns="0" tIns="0" rIns="0" bIns="0" rtlCol="0" anchor="ctr"/>
          <a:lstStyle/>
          <a:p>
            <a:pPr indent="0" marL="0">
              <a:buNone/>
            </a:pPr>
            <a:r>
              <a:rPr lang="en-US" sz="1350" i="1" dirty="0">
                <a:solidFill>
                  <a:srgbClr val="5A7A7C"/>
                </a:solidFill>
                <a:latin typeface="Calibri" pitchFamily="34" charset="0"/>
                <a:ea typeface="Calibri" pitchFamily="34" charset="-122"/>
                <a:cs typeface="Calibri" pitchFamily="34" charset="-120"/>
              </a:rPr>
              <a:t>The shift from collecting data first to reacting to it as it happens.</a:t>
            </a:r>
            <a:endParaRPr lang="en-US" sz="1350" dirty="0"/>
          </a:p>
        </p:txBody>
      </p:sp>
      <p:sp>
        <p:nvSpPr>
          <p:cNvPr id="4" name="Shape 2"/>
          <p:cNvSpPr/>
          <p:nvPr/>
        </p:nvSpPr>
        <p:spPr>
          <a:xfrm>
            <a:off x="548640" y="1691640"/>
            <a:ext cx="5394960" cy="1965960"/>
          </a:xfrm>
          <a:prstGeom prst="roundRect">
            <a:avLst>
              <a:gd name="adj" fmla="val 4651"/>
            </a:avLst>
          </a:prstGeom>
          <a:solidFill>
            <a:srgbClr val="FFFFFF"/>
          </a:solidFill>
          <a:ln w="12700">
            <a:solidFill>
              <a:srgbClr val="CFE4E4"/>
            </a:solidFill>
            <a:prstDash val="solid"/>
          </a:ln>
          <a:effectLst>
            <a:outerShdw sx="100000" sy="100000" kx="0" ky="0" algn="bl" rotWithShape="0" blurRad="76200" dist="25400" dir="5400000">
              <a:srgbClr val="888888">
                <a:alpha val="20000"/>
              </a:srgbClr>
            </a:outerShdw>
          </a:effectLst>
        </p:spPr>
      </p:sp>
      <p:sp>
        <p:nvSpPr>
          <p:cNvPr id="5" name="Text 3"/>
          <p:cNvSpPr txBox="1"/>
          <p:nvPr/>
        </p:nvSpPr>
        <p:spPr>
          <a:xfrm>
            <a:off x="822960" y="1874520"/>
            <a:ext cx="3657600" cy="36576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Definition</a:t>
            </a:r>
            <a:endParaRPr lang="en-US" sz="1500" dirty="0"/>
          </a:p>
        </p:txBody>
      </p:sp>
      <p:sp>
        <p:nvSpPr>
          <p:cNvPr id="6" name="Text 4"/>
          <p:cNvSpPr txBox="1"/>
          <p:nvPr/>
        </p:nvSpPr>
        <p:spPr>
          <a:xfrm>
            <a:off x="822960" y="2240280"/>
            <a:ext cx="4846320" cy="1280160"/>
          </a:xfrm>
          <a:prstGeom prst="rect">
            <a:avLst/>
          </a:prstGeom>
          <a:noFill/>
          <a:ln/>
        </p:spPr>
        <p:txBody>
          <a:bodyPr wrap="square" lIns="0" tIns="0" rIns="0" bIns="0" rtlCol="0" anchor="ctr"/>
          <a:lstStyle/>
          <a:p>
            <a:pPr indent="0" marL="0">
              <a:lnSpc>
                <a:spcPct val="125000"/>
              </a:lnSpc>
              <a:buNone/>
            </a:pPr>
            <a:r>
              <a:rPr lang="en-US" sz="1250" dirty="0">
                <a:solidFill>
                  <a:srgbClr val="3E5A5C"/>
                </a:solidFill>
                <a:latin typeface="Calibri" pitchFamily="34" charset="0"/>
                <a:ea typeface="Calibri" pitchFamily="34" charset="-122"/>
                <a:cs typeface="Calibri" pitchFamily="34" charset="-120"/>
              </a:rPr>
              <a:t>Streaming means processing data continuously as it arrives, instead of waiting until all the data has been collected. Each new record is handled the moment it shows up, rather than in one large, delayed run.</a:t>
            </a:r>
            <a:endParaRPr lang="en-US" sz="1250" dirty="0"/>
          </a:p>
        </p:txBody>
      </p:sp>
      <p:sp>
        <p:nvSpPr>
          <p:cNvPr id="7" name="Shape 5"/>
          <p:cNvSpPr/>
          <p:nvPr/>
        </p:nvSpPr>
        <p:spPr>
          <a:xfrm>
            <a:off x="6172200" y="1691640"/>
            <a:ext cx="5440680" cy="1965960"/>
          </a:xfrm>
          <a:prstGeom prst="roundRect">
            <a:avLst>
              <a:gd name="adj" fmla="val 4651"/>
            </a:avLst>
          </a:prstGeom>
          <a:solidFill>
            <a:srgbClr val="0B1F26"/>
          </a:solidFill>
          <a:ln/>
        </p:spPr>
      </p:sp>
      <p:sp>
        <p:nvSpPr>
          <p:cNvPr id="8" name="Text 6"/>
          <p:cNvSpPr txBox="1"/>
          <p:nvPr/>
        </p:nvSpPr>
        <p:spPr>
          <a:xfrm>
            <a:off x="6446520" y="1874520"/>
            <a:ext cx="3657600" cy="365760"/>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Why It Matters</a:t>
            </a:r>
            <a:endParaRPr lang="en-US" sz="1500" dirty="0"/>
          </a:p>
        </p:txBody>
      </p:sp>
      <p:sp>
        <p:nvSpPr>
          <p:cNvPr id="9" name="Shape 7"/>
          <p:cNvSpPr/>
          <p:nvPr/>
        </p:nvSpPr>
        <p:spPr>
          <a:xfrm>
            <a:off x="6446520" y="2414016"/>
            <a:ext cx="82296" cy="82296"/>
          </a:xfrm>
          <a:prstGeom prst="ellipse">
            <a:avLst/>
          </a:prstGeom>
          <a:solidFill>
            <a:srgbClr val="02C39A"/>
          </a:solidFill>
          <a:ln/>
        </p:spPr>
      </p:sp>
      <p:sp>
        <p:nvSpPr>
          <p:cNvPr id="10" name="Text 8"/>
          <p:cNvSpPr txBox="1"/>
          <p:nvPr/>
        </p:nvSpPr>
        <p:spPr>
          <a:xfrm>
            <a:off x="6647688" y="2258568"/>
            <a:ext cx="4645152" cy="502920"/>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Decisions and dashboards reflect what's happening right now, not what happened hours ago</a:t>
            </a:r>
            <a:endParaRPr lang="en-US" sz="1150" dirty="0"/>
          </a:p>
        </p:txBody>
      </p:sp>
      <p:sp>
        <p:nvSpPr>
          <p:cNvPr id="11" name="Shape 9"/>
          <p:cNvSpPr/>
          <p:nvPr/>
        </p:nvSpPr>
        <p:spPr>
          <a:xfrm>
            <a:off x="6446520" y="2825496"/>
            <a:ext cx="82296" cy="82296"/>
          </a:xfrm>
          <a:prstGeom prst="ellipse">
            <a:avLst/>
          </a:prstGeom>
          <a:solidFill>
            <a:srgbClr val="02C39A"/>
          </a:solidFill>
          <a:ln/>
        </p:spPr>
      </p:sp>
      <p:sp>
        <p:nvSpPr>
          <p:cNvPr id="12" name="Text 10"/>
          <p:cNvSpPr txBox="1"/>
          <p:nvPr/>
        </p:nvSpPr>
        <p:spPr>
          <a:xfrm>
            <a:off x="6647688" y="2670048"/>
            <a:ext cx="4645152" cy="502920"/>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Systems can react to events (fraud, outages, orders) within seconds of them occurring</a:t>
            </a:r>
            <a:endParaRPr lang="en-US" sz="1150" dirty="0"/>
          </a:p>
        </p:txBody>
      </p:sp>
      <p:sp>
        <p:nvSpPr>
          <p:cNvPr id="13" name="Shape 11"/>
          <p:cNvSpPr/>
          <p:nvPr/>
        </p:nvSpPr>
        <p:spPr>
          <a:xfrm>
            <a:off x="6446520" y="3236976"/>
            <a:ext cx="82296" cy="82296"/>
          </a:xfrm>
          <a:prstGeom prst="ellipse">
            <a:avLst/>
          </a:prstGeom>
          <a:solidFill>
            <a:srgbClr val="02C39A"/>
          </a:solidFill>
          <a:ln/>
        </p:spPr>
      </p:sp>
      <p:sp>
        <p:nvSpPr>
          <p:cNvPr id="14" name="Text 12"/>
          <p:cNvSpPr txBox="1"/>
          <p:nvPr/>
        </p:nvSpPr>
        <p:spPr>
          <a:xfrm>
            <a:off x="6647688" y="3081528"/>
            <a:ext cx="4645152" cy="502920"/>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Data volume no longer has to accumulate before it becomes useful</a:t>
            </a:r>
            <a:endParaRPr lang="en-US" sz="1150" dirty="0"/>
          </a:p>
        </p:txBody>
      </p:sp>
      <p:sp>
        <p:nvSpPr>
          <p:cNvPr id="15" name="Text 13"/>
          <p:cNvSpPr txBox="1"/>
          <p:nvPr/>
        </p:nvSpPr>
        <p:spPr>
          <a:xfrm>
            <a:off x="548640" y="3886200"/>
            <a:ext cx="4572000" cy="365760"/>
          </a:xfrm>
          <a:prstGeom prst="rect">
            <a:avLst/>
          </a:prstGeom>
          <a:noFill/>
          <a:ln/>
        </p:spPr>
        <p:txBody>
          <a:bodyPr wrap="square" lIns="0" tIns="0" rIns="0" bIns="0" rtlCol="0" anchor="ctr"/>
          <a:lstStyle/>
          <a:p>
            <a:pPr indent="0" marL="0">
              <a:buNone/>
            </a:pPr>
            <a:r>
              <a:rPr lang="en-US" sz="1500" b="1" dirty="0">
                <a:solidFill>
                  <a:srgbClr val="0B1F26"/>
                </a:solidFill>
                <a:latin typeface="Calibri" pitchFamily="34" charset="0"/>
                <a:ea typeface="Calibri" pitchFamily="34" charset="-122"/>
                <a:cs typeface="Calibri" pitchFamily="34" charset="-120"/>
              </a:rPr>
              <a:t>The Core Idea</a:t>
            </a:r>
            <a:endParaRPr lang="en-US" sz="1500" dirty="0"/>
          </a:p>
        </p:txBody>
      </p:sp>
      <p:sp>
        <p:nvSpPr>
          <p:cNvPr id="16" name="Shape 14"/>
          <p:cNvSpPr/>
          <p:nvPr/>
        </p:nvSpPr>
        <p:spPr>
          <a:xfrm>
            <a:off x="548640" y="4343400"/>
            <a:ext cx="10881360" cy="685800"/>
          </a:xfrm>
          <a:prstGeom prst="roundRect">
            <a:avLst>
              <a:gd name="adj" fmla="val 10667"/>
            </a:avLst>
          </a:prstGeom>
          <a:solidFill>
            <a:srgbClr val="FFFFFF"/>
          </a:solidFill>
          <a:ln w="12700">
            <a:solidFill>
              <a:srgbClr val="CFE4E4"/>
            </a:solidFill>
            <a:prstDash val="solid"/>
          </a:ln>
        </p:spPr>
      </p:sp>
      <p:sp>
        <p:nvSpPr>
          <p:cNvPr id="17" name="Text 15"/>
          <p:cNvSpPr txBox="1"/>
          <p:nvPr/>
        </p:nvSpPr>
        <p:spPr>
          <a:xfrm>
            <a:off x="777240" y="4343400"/>
            <a:ext cx="2743200" cy="685800"/>
          </a:xfrm>
          <a:prstGeom prst="rect">
            <a:avLst/>
          </a:prstGeom>
          <a:noFill/>
          <a:ln/>
        </p:spPr>
        <p:txBody>
          <a:bodyPr wrap="square" lIns="0" tIns="0" rIns="0" bIns="0" rtlCol="0" anchor="ctr"/>
          <a:lstStyle/>
          <a:p>
            <a:pPr indent="0" marL="0">
              <a:buNone/>
            </a:pPr>
            <a:r>
              <a:rPr lang="en-US" sz="1300" b="1" dirty="0">
                <a:solidFill>
                  <a:srgbClr val="0B1F26"/>
                </a:solidFill>
                <a:latin typeface="Calibri" pitchFamily="34" charset="0"/>
                <a:ea typeface="Calibri" pitchFamily="34" charset="-122"/>
                <a:cs typeface="Calibri" pitchFamily="34" charset="-120"/>
              </a:rPr>
              <a:t>Traditional approach</a:t>
            </a:r>
            <a:endParaRPr lang="en-US" sz="1300" dirty="0"/>
          </a:p>
        </p:txBody>
      </p:sp>
      <p:sp>
        <p:nvSpPr>
          <p:cNvPr id="18" name="Text 16"/>
          <p:cNvSpPr txBox="1"/>
          <p:nvPr/>
        </p:nvSpPr>
        <p:spPr>
          <a:xfrm>
            <a:off x="3566160" y="4343400"/>
            <a:ext cx="7680960" cy="685800"/>
          </a:xfrm>
          <a:prstGeom prst="rect">
            <a:avLst/>
          </a:prstGeom>
          <a:noFill/>
          <a:ln/>
        </p:spPr>
        <p:txBody>
          <a:bodyPr wrap="square" lIns="0" tIns="0" rIns="0" bIns="0" rtlCol="0" anchor="ctr"/>
          <a:lstStyle/>
          <a:p>
            <a:pPr indent="0" marL="0">
              <a:buNone/>
            </a:pPr>
            <a:r>
              <a:rPr lang="en-US" sz="1250" dirty="0">
                <a:solidFill>
                  <a:srgbClr val="3E5A5C"/>
                </a:solidFill>
                <a:latin typeface="Calibri" pitchFamily="34" charset="0"/>
                <a:ea typeface="Calibri" pitchFamily="34" charset="-122"/>
                <a:cs typeface="Calibri" pitchFamily="34" charset="-120"/>
              </a:rPr>
              <a:t>Wait → collect a full dataset → then process it in one pass</a:t>
            </a:r>
            <a:endParaRPr lang="en-US" sz="1250" dirty="0"/>
          </a:p>
        </p:txBody>
      </p:sp>
      <p:sp>
        <p:nvSpPr>
          <p:cNvPr id="19" name="Shape 17"/>
          <p:cNvSpPr/>
          <p:nvPr/>
        </p:nvSpPr>
        <p:spPr>
          <a:xfrm>
            <a:off x="548640" y="5166360"/>
            <a:ext cx="10881360" cy="685800"/>
          </a:xfrm>
          <a:prstGeom prst="roundRect">
            <a:avLst>
              <a:gd name="adj" fmla="val 10667"/>
            </a:avLst>
          </a:prstGeom>
          <a:solidFill>
            <a:srgbClr val="E4F3F2"/>
          </a:solidFill>
          <a:ln w="12700">
            <a:solidFill>
              <a:srgbClr val="CFE4E4"/>
            </a:solidFill>
            <a:prstDash val="solid"/>
          </a:ln>
        </p:spPr>
      </p:sp>
      <p:sp>
        <p:nvSpPr>
          <p:cNvPr id="20" name="Text 18"/>
          <p:cNvSpPr txBox="1"/>
          <p:nvPr/>
        </p:nvSpPr>
        <p:spPr>
          <a:xfrm>
            <a:off x="777240" y="5166360"/>
            <a:ext cx="2743200" cy="685800"/>
          </a:xfrm>
          <a:prstGeom prst="rect">
            <a:avLst/>
          </a:prstGeom>
          <a:noFill/>
          <a:ln/>
        </p:spPr>
        <p:txBody>
          <a:bodyPr wrap="square" lIns="0" tIns="0" rIns="0" bIns="0" rtlCol="0" anchor="ctr"/>
          <a:lstStyle/>
          <a:p>
            <a:pPr indent="0" marL="0">
              <a:buNone/>
            </a:pPr>
            <a:r>
              <a:rPr lang="en-US" sz="1300" b="1" dirty="0">
                <a:solidFill>
                  <a:srgbClr val="0B1F26"/>
                </a:solidFill>
                <a:latin typeface="Calibri" pitchFamily="34" charset="0"/>
                <a:ea typeface="Calibri" pitchFamily="34" charset="-122"/>
                <a:cs typeface="Calibri" pitchFamily="34" charset="-120"/>
              </a:rPr>
              <a:t>Streaming approach</a:t>
            </a:r>
            <a:endParaRPr lang="en-US" sz="1300" dirty="0"/>
          </a:p>
        </p:txBody>
      </p:sp>
      <p:sp>
        <p:nvSpPr>
          <p:cNvPr id="21" name="Text 19"/>
          <p:cNvSpPr txBox="1"/>
          <p:nvPr/>
        </p:nvSpPr>
        <p:spPr>
          <a:xfrm>
            <a:off x="3566160" y="5166360"/>
            <a:ext cx="7680960" cy="685800"/>
          </a:xfrm>
          <a:prstGeom prst="rect">
            <a:avLst/>
          </a:prstGeom>
          <a:noFill/>
          <a:ln/>
        </p:spPr>
        <p:txBody>
          <a:bodyPr wrap="square" lIns="0" tIns="0" rIns="0" bIns="0" rtlCol="0" anchor="ctr"/>
          <a:lstStyle/>
          <a:p>
            <a:pPr indent="0" marL="0">
              <a:buNone/>
            </a:pPr>
            <a:r>
              <a:rPr lang="en-US" sz="1250" dirty="0">
                <a:solidFill>
                  <a:srgbClr val="3E5A5C"/>
                </a:solidFill>
                <a:latin typeface="Calibri" pitchFamily="34" charset="0"/>
                <a:ea typeface="Calibri" pitchFamily="34" charset="-122"/>
                <a:cs typeface="Calibri" pitchFamily="34" charset="-120"/>
              </a:rPr>
              <a:t>Process each record (or small micro-batch) the moment it arrives</a:t>
            </a:r>
            <a:endParaRPr lang="en-US" sz="1250" dirty="0"/>
          </a:p>
        </p:txBody>
      </p:sp>
      <p:sp>
        <p:nvSpPr>
          <p:cNvPr id="22" name="Text 20"/>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23" name="Text 21"/>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26"/>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9436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What Is Structured Streaming?</a:t>
            </a:r>
            <a:endParaRPr lang="en-US" sz="3000" dirty="0"/>
          </a:p>
        </p:txBody>
      </p:sp>
      <p:sp>
        <p:nvSpPr>
          <p:cNvPr id="3" name="Text 1"/>
          <p:cNvSpPr txBox="1"/>
          <p:nvPr/>
        </p:nvSpPr>
        <p:spPr>
          <a:xfrm>
            <a:off x="548640" y="960120"/>
            <a:ext cx="5760720" cy="731520"/>
          </a:xfrm>
          <a:prstGeom prst="rect">
            <a:avLst/>
          </a:prstGeom>
          <a:noFill/>
          <a:ln/>
        </p:spPr>
        <p:txBody>
          <a:bodyPr wrap="square" lIns="0" tIns="0" rIns="0" bIns="0" rtlCol="0" anchor="ctr"/>
          <a:lstStyle/>
          <a:p>
            <a:pPr indent="0" marL="0">
              <a:lnSpc>
                <a:spcPct val="120000"/>
              </a:lnSpc>
              <a:buNone/>
            </a:pPr>
            <a:r>
              <a:rPr lang="en-US" sz="1300" i="1" dirty="0">
                <a:solidFill>
                  <a:srgbClr val="9FC3C4"/>
                </a:solidFill>
                <a:latin typeface="Calibri" pitchFamily="34" charset="0"/>
                <a:ea typeface="Calibri" pitchFamily="34" charset="-122"/>
                <a:cs typeface="Calibri" pitchFamily="34" charset="-120"/>
              </a:rPr>
              <a:t>Spark's stream-processing engine — the same DataFrame &amp; Spark SQL APIs you already use for batch, applied to a continuous flow of data.</a:t>
            </a:r>
            <a:endParaRPr lang="en-US" sz="1300" dirty="0"/>
          </a:p>
        </p:txBody>
      </p:sp>
      <p:sp>
        <p:nvSpPr>
          <p:cNvPr id="4" name="Shape 2"/>
          <p:cNvSpPr/>
          <p:nvPr/>
        </p:nvSpPr>
        <p:spPr>
          <a:xfrm>
            <a:off x="548640" y="1783080"/>
            <a:ext cx="5760720" cy="365760"/>
          </a:xfrm>
          <a:prstGeom prst="roundRect">
            <a:avLst>
              <a:gd name="adj" fmla="val 20000"/>
            </a:avLst>
          </a:prstGeom>
          <a:solidFill>
            <a:srgbClr val="028090"/>
          </a:solidFill>
          <a:ln/>
        </p:spPr>
      </p:sp>
      <p:sp>
        <p:nvSpPr>
          <p:cNvPr id="5" name="Text 3"/>
          <p:cNvSpPr txBox="1"/>
          <p:nvPr/>
        </p:nvSpPr>
        <p:spPr>
          <a:xfrm>
            <a:off x="548640" y="1783080"/>
            <a:ext cx="576072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Structured Streaming  =  Spark DataFrame  +  continuous incoming data</a:t>
            </a:r>
            <a:endParaRPr lang="en-US" sz="1200" dirty="0"/>
          </a:p>
        </p:txBody>
      </p:sp>
      <p:sp>
        <p:nvSpPr>
          <p:cNvPr id="6" name="Text 4"/>
          <p:cNvSpPr txBox="1"/>
          <p:nvPr/>
        </p:nvSpPr>
        <p:spPr>
          <a:xfrm>
            <a:off x="548640" y="2331720"/>
            <a:ext cx="3657600" cy="365760"/>
          </a:xfrm>
          <a:prstGeom prst="rect">
            <a:avLst/>
          </a:prstGeom>
          <a:noFill/>
          <a:ln/>
        </p:spPr>
        <p:txBody>
          <a:bodyPr wrap="square" lIns="0" tIns="0" rIns="0" bIns="0" rtlCol="0" anchor="ctr"/>
          <a:lstStyle/>
          <a:p>
            <a:pPr indent="0" marL="0">
              <a:buNone/>
            </a:pPr>
            <a:r>
              <a:rPr lang="en-US" sz="1500" b="1" dirty="0">
                <a:solidFill>
                  <a:srgbClr val="00A896"/>
                </a:solidFill>
                <a:latin typeface="Calibri" pitchFamily="34" charset="0"/>
                <a:ea typeface="Calibri" pitchFamily="34" charset="-122"/>
                <a:cs typeface="Calibri" pitchFamily="34" charset="-120"/>
              </a:rPr>
              <a:t>Key Benefits</a:t>
            </a:r>
            <a:endParaRPr lang="en-US" sz="1500" dirty="0"/>
          </a:p>
        </p:txBody>
      </p:sp>
      <p:sp>
        <p:nvSpPr>
          <p:cNvPr id="7" name="Shape 5"/>
          <p:cNvSpPr/>
          <p:nvPr/>
        </p:nvSpPr>
        <p:spPr>
          <a:xfrm>
            <a:off x="548640" y="2871216"/>
            <a:ext cx="82296" cy="82296"/>
          </a:xfrm>
          <a:prstGeom prst="ellipse">
            <a:avLst/>
          </a:prstGeom>
          <a:solidFill>
            <a:srgbClr val="02C39A"/>
          </a:solidFill>
          <a:ln/>
        </p:spPr>
      </p:sp>
      <p:sp>
        <p:nvSpPr>
          <p:cNvPr id="8" name="Text 6"/>
          <p:cNvSpPr txBox="1"/>
          <p:nvPr/>
        </p:nvSpPr>
        <p:spPr>
          <a:xfrm>
            <a:off x="749808" y="2715768"/>
            <a:ext cx="5559552" cy="658368"/>
          </a:xfrm>
          <a:prstGeom prst="rect">
            <a:avLst/>
          </a:prstGeom>
          <a:noFill/>
          <a:ln/>
        </p:spPr>
        <p:txBody>
          <a:bodyPr wrap="square" lIns="0" tIns="0" rIns="0" bIns="0" rtlCol="0" anchor="t"/>
          <a:lstStyle/>
          <a:p>
            <a:pPr indent="0" marL="0">
              <a:lnSpc>
                <a:spcPct val="115000"/>
              </a:lnSpc>
              <a:buNone/>
            </a:pPr>
            <a:r>
              <a:rPr lang="en-US" sz="1150" dirty="0">
                <a:solidFill>
                  <a:srgbClr val="EAF4F4"/>
                </a:solidFill>
                <a:latin typeface="Calibri" pitchFamily="34" charset="0"/>
                <a:ea typeface="Calibri" pitchFamily="34" charset="-122"/>
                <a:cs typeface="Calibri" pitchFamily="34" charset="-120"/>
              </a:rPr>
              <a:t>Unified API — the exact same filter(), groupBy(), and join() calls used in batch jobs work unchanged on a stream</a:t>
            </a:r>
            <a:endParaRPr lang="en-US" sz="1150" dirty="0"/>
          </a:p>
        </p:txBody>
      </p:sp>
      <p:sp>
        <p:nvSpPr>
          <p:cNvPr id="9" name="Shape 7"/>
          <p:cNvSpPr/>
          <p:nvPr/>
        </p:nvSpPr>
        <p:spPr>
          <a:xfrm>
            <a:off x="548640" y="3438144"/>
            <a:ext cx="82296" cy="82296"/>
          </a:xfrm>
          <a:prstGeom prst="ellipse">
            <a:avLst/>
          </a:prstGeom>
          <a:solidFill>
            <a:srgbClr val="02C39A"/>
          </a:solidFill>
          <a:ln/>
        </p:spPr>
      </p:sp>
      <p:sp>
        <p:nvSpPr>
          <p:cNvPr id="10" name="Text 8"/>
          <p:cNvSpPr txBox="1"/>
          <p:nvPr/>
        </p:nvSpPr>
        <p:spPr>
          <a:xfrm>
            <a:off x="749808" y="3282696"/>
            <a:ext cx="5559552" cy="658368"/>
          </a:xfrm>
          <a:prstGeom prst="rect">
            <a:avLst/>
          </a:prstGeom>
          <a:noFill/>
          <a:ln/>
        </p:spPr>
        <p:txBody>
          <a:bodyPr wrap="square" lIns="0" tIns="0" rIns="0" bIns="0" rtlCol="0" anchor="t"/>
          <a:lstStyle/>
          <a:p>
            <a:pPr indent="0" marL="0">
              <a:lnSpc>
                <a:spcPct val="115000"/>
              </a:lnSpc>
              <a:buNone/>
            </a:pPr>
            <a:r>
              <a:rPr lang="en-US" sz="1150" dirty="0">
                <a:solidFill>
                  <a:srgbClr val="EAF4F4"/>
                </a:solidFill>
                <a:latin typeface="Calibri" pitchFamily="34" charset="0"/>
                <a:ea typeface="Calibri" pitchFamily="34" charset="-122"/>
                <a:cs typeface="Calibri" pitchFamily="34" charset="-120"/>
              </a:rPr>
              <a:t>Incremental execution — Spark only computes what's new since the last micro-batch, not the whole dataset again</a:t>
            </a:r>
            <a:endParaRPr lang="en-US" sz="1150" dirty="0"/>
          </a:p>
        </p:txBody>
      </p:sp>
      <p:sp>
        <p:nvSpPr>
          <p:cNvPr id="11" name="Shape 9"/>
          <p:cNvSpPr/>
          <p:nvPr/>
        </p:nvSpPr>
        <p:spPr>
          <a:xfrm>
            <a:off x="548640" y="4005072"/>
            <a:ext cx="82296" cy="82296"/>
          </a:xfrm>
          <a:prstGeom prst="ellipse">
            <a:avLst/>
          </a:prstGeom>
          <a:solidFill>
            <a:srgbClr val="02C39A"/>
          </a:solidFill>
          <a:ln/>
        </p:spPr>
      </p:sp>
      <p:sp>
        <p:nvSpPr>
          <p:cNvPr id="12" name="Text 10"/>
          <p:cNvSpPr txBox="1"/>
          <p:nvPr/>
        </p:nvSpPr>
        <p:spPr>
          <a:xfrm>
            <a:off x="749808" y="3849624"/>
            <a:ext cx="5559552" cy="658368"/>
          </a:xfrm>
          <a:prstGeom prst="rect">
            <a:avLst/>
          </a:prstGeom>
          <a:noFill/>
          <a:ln/>
        </p:spPr>
        <p:txBody>
          <a:bodyPr wrap="square" lIns="0" tIns="0" rIns="0" bIns="0" rtlCol="0" anchor="t"/>
          <a:lstStyle/>
          <a:p>
            <a:pPr indent="0" marL="0">
              <a:lnSpc>
                <a:spcPct val="115000"/>
              </a:lnSpc>
              <a:buNone/>
            </a:pPr>
            <a:r>
              <a:rPr lang="en-US" sz="1150" dirty="0">
                <a:solidFill>
                  <a:srgbClr val="EAF4F4"/>
                </a:solidFill>
                <a:latin typeface="Calibri" pitchFamily="34" charset="0"/>
                <a:ea typeface="Calibri" pitchFamily="34" charset="-122"/>
                <a:cs typeface="Calibri" pitchFamily="34" charset="-120"/>
              </a:rPr>
              <a:t>Built-in fault tolerance — checkpointing lets a query recover exactly where it left off after a failure</a:t>
            </a:r>
            <a:endParaRPr lang="en-US" sz="1150" dirty="0"/>
          </a:p>
        </p:txBody>
      </p:sp>
      <p:sp>
        <p:nvSpPr>
          <p:cNvPr id="13" name="Shape 11"/>
          <p:cNvSpPr/>
          <p:nvPr/>
        </p:nvSpPr>
        <p:spPr>
          <a:xfrm>
            <a:off x="548640" y="4572000"/>
            <a:ext cx="82296" cy="82296"/>
          </a:xfrm>
          <a:prstGeom prst="ellipse">
            <a:avLst/>
          </a:prstGeom>
          <a:solidFill>
            <a:srgbClr val="02C39A"/>
          </a:solidFill>
          <a:ln/>
        </p:spPr>
      </p:sp>
      <p:sp>
        <p:nvSpPr>
          <p:cNvPr id="14" name="Text 12"/>
          <p:cNvSpPr txBox="1"/>
          <p:nvPr/>
        </p:nvSpPr>
        <p:spPr>
          <a:xfrm>
            <a:off x="749808" y="4416552"/>
            <a:ext cx="5559552" cy="658368"/>
          </a:xfrm>
          <a:prstGeom prst="rect">
            <a:avLst/>
          </a:prstGeom>
          <a:noFill/>
          <a:ln/>
        </p:spPr>
        <p:txBody>
          <a:bodyPr wrap="square" lIns="0" tIns="0" rIns="0" bIns="0" rtlCol="0" anchor="t"/>
          <a:lstStyle/>
          <a:p>
            <a:pPr indent="0" marL="0">
              <a:lnSpc>
                <a:spcPct val="115000"/>
              </a:lnSpc>
              <a:buNone/>
            </a:pPr>
            <a:r>
              <a:rPr lang="en-US" sz="1150" dirty="0">
                <a:solidFill>
                  <a:srgbClr val="EAF4F4"/>
                </a:solidFill>
                <a:latin typeface="Calibri" pitchFamily="34" charset="0"/>
                <a:ea typeface="Calibri" pitchFamily="34" charset="-122"/>
                <a:cs typeface="Calibri" pitchFamily="34" charset="-120"/>
              </a:rPr>
              <a:t>Declarative — you describe the transformation once; Spark figures out how to run it continuously</a:t>
            </a:r>
            <a:endParaRPr lang="en-US" sz="1150" dirty="0"/>
          </a:p>
        </p:txBody>
      </p:sp>
      <p:sp>
        <p:nvSpPr>
          <p:cNvPr id="15" name="Text 13"/>
          <p:cNvSpPr txBox="1"/>
          <p:nvPr/>
        </p:nvSpPr>
        <p:spPr>
          <a:xfrm>
            <a:off x="548640" y="5349240"/>
            <a:ext cx="3657600" cy="320040"/>
          </a:xfrm>
          <a:prstGeom prst="rect">
            <a:avLst/>
          </a:prstGeom>
          <a:noFill/>
          <a:ln/>
        </p:spPr>
        <p:txBody>
          <a:bodyPr wrap="square" lIns="0" tIns="0" rIns="0" bIns="0" rtlCol="0" anchor="ctr"/>
          <a:lstStyle/>
          <a:p>
            <a:pPr indent="0" marL="0">
              <a:buNone/>
            </a:pPr>
            <a:r>
              <a:rPr lang="en-US" sz="1300" b="1" dirty="0">
                <a:solidFill>
                  <a:srgbClr val="9FC3C4"/>
                </a:solidFill>
                <a:latin typeface="Calibri" pitchFamily="34" charset="0"/>
                <a:ea typeface="Calibri" pitchFamily="34" charset="-122"/>
                <a:cs typeface="Calibri" pitchFamily="34" charset="-120"/>
              </a:rPr>
              <a:t>The pattern</a:t>
            </a:r>
            <a:endParaRPr lang="en-US" sz="1300" dirty="0"/>
          </a:p>
        </p:txBody>
      </p:sp>
      <p:sp>
        <p:nvSpPr>
          <p:cNvPr id="16" name="Text 14"/>
          <p:cNvSpPr txBox="1"/>
          <p:nvPr/>
        </p:nvSpPr>
        <p:spPr>
          <a:xfrm>
            <a:off x="548640" y="5623560"/>
            <a:ext cx="5760720" cy="320040"/>
          </a:xfrm>
          <a:prstGeom prst="rect">
            <a:avLst/>
          </a:prstGeom>
          <a:noFill/>
          <a:ln/>
        </p:spPr>
        <p:txBody>
          <a:bodyPr wrap="square" lIns="0" tIns="0" rIns="0" bIns="0" rtlCol="0" anchor="ctr"/>
          <a:lstStyle/>
          <a:p>
            <a:pPr indent="0" marL="0">
              <a:buNone/>
            </a:pPr>
            <a:r>
              <a:rPr lang="en-US" sz="1200" dirty="0">
                <a:solidFill>
                  <a:srgbClr val="02C39A"/>
                </a:solidFill>
                <a:latin typeface="Courier New" pitchFamily="34" charset="0"/>
                <a:ea typeface="Courier New" pitchFamily="34" charset="-122"/>
                <a:cs typeface="Courier New" pitchFamily="34" charset="-120"/>
              </a:rPr>
              <a:t>readStream  →  transform (DataFrame ops)  →  writeStream</a:t>
            </a:r>
            <a:endParaRPr lang="en-US" sz="1200" dirty="0"/>
          </a:p>
        </p:txBody>
      </p:sp>
      <p:sp>
        <p:nvSpPr>
          <p:cNvPr id="17" name="Shape 15"/>
          <p:cNvSpPr/>
          <p:nvPr/>
        </p:nvSpPr>
        <p:spPr>
          <a:xfrm>
            <a:off x="6583680" y="960120"/>
            <a:ext cx="5029200" cy="5029200"/>
          </a:xfrm>
          <a:prstGeom prst="roundRect">
            <a:avLst>
              <a:gd name="adj" fmla="val 1091"/>
            </a:avLst>
          </a:prstGeom>
          <a:solidFill>
            <a:srgbClr val="0E2A31"/>
          </a:solidFill>
          <a:ln w="12700">
            <a:solidFill>
              <a:srgbClr val="1D4E52"/>
            </a:solidFill>
            <a:prstDash val="solid"/>
          </a:ln>
        </p:spPr>
      </p:sp>
      <p:sp>
        <p:nvSpPr>
          <p:cNvPr id="18" name="Text 16"/>
          <p:cNvSpPr txBox="1"/>
          <p:nvPr/>
        </p:nvSpPr>
        <p:spPr>
          <a:xfrm>
            <a:off x="6812280" y="1106424"/>
            <a:ext cx="4572000" cy="4736592"/>
          </a:xfrm>
          <a:prstGeom prst="rect">
            <a:avLst/>
          </a:prstGeom>
          <a:noFill/>
          <a:ln/>
        </p:spPr>
        <p:txBody>
          <a:bodyPr wrap="square" lIns="0" tIns="0" rIns="0" bIns="0" rtlCol="0" anchor="t"/>
          <a:lstStyle/>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df = (</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spark.readStream</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.format("json")</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.schema(schema)</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.load("/data/orders")</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a:t>
            </a:r>
            <a:endParaRPr lang="en-US" sz="1150" dirty="0"/>
          </a:p>
          <a:p>
            <a:pPr indent="0" marL="0">
              <a:lnSpc>
                <a:spcPct val="112000"/>
              </a:lnSpc>
              <a:buNone/>
            </a:pP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same DataFrame API as batch</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result = df.filter(df.amount &gt; 100)</a:t>
            </a:r>
            <a:endParaRPr lang="en-US" sz="1150" dirty="0"/>
          </a:p>
          <a:p>
            <a:pPr indent="0" marL="0">
              <a:lnSpc>
                <a:spcPct val="112000"/>
              </a:lnSpc>
              <a:buNone/>
            </a:pP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query = (</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result.writeStream</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.format("console")</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.outputMode("append")</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.option("checkpointLocation",</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"/chk/orders")</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.start()</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a:t>
            </a:r>
            <a:endParaRPr lang="en-US" sz="1150" dirty="0"/>
          </a:p>
          <a:p>
            <a:pPr indent="0" marL="0">
              <a:lnSpc>
                <a:spcPct val="112000"/>
              </a:lnSpc>
              <a:buNone/>
            </a:pP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query.awaitTermination()</a:t>
            </a:r>
            <a:endParaRPr lang="en-US" sz="1150" dirty="0"/>
          </a:p>
        </p:txBody>
      </p:sp>
      <p:sp>
        <p:nvSpPr>
          <p:cNvPr id="19" name="Text 17"/>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20" name="Text 18"/>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94360"/>
          </a:xfrm>
          <a:prstGeom prst="rect">
            <a:avLst/>
          </a:prstGeom>
          <a:noFill/>
          <a:ln/>
        </p:spPr>
        <p:txBody>
          <a:bodyPr wrap="square" lIns="0" tIns="0" rIns="0" bIns="0" rtlCol="0" anchor="ctr"/>
          <a:lstStyle/>
          <a:p>
            <a:pPr indent="0" marL="0">
              <a:buNone/>
            </a:pPr>
            <a:r>
              <a:rPr lang="en-US" sz="3000" b="1" dirty="0">
                <a:solidFill>
                  <a:srgbClr val="0B1F26"/>
                </a:solidFill>
                <a:latin typeface="Century Schoolbook" pitchFamily="34" charset="0"/>
                <a:ea typeface="Century Schoolbook" pitchFamily="34" charset="-122"/>
                <a:cs typeface="Century Schoolbook" pitchFamily="34" charset="-120"/>
              </a:rPr>
              <a:t>Batch vs. Streaming</a:t>
            </a:r>
            <a:endParaRPr lang="en-US" sz="3000" dirty="0"/>
          </a:p>
        </p:txBody>
      </p:sp>
      <p:sp>
        <p:nvSpPr>
          <p:cNvPr id="3" name="Text 1"/>
          <p:cNvSpPr txBox="1"/>
          <p:nvPr/>
        </p:nvSpPr>
        <p:spPr>
          <a:xfrm>
            <a:off x="548640" y="960120"/>
            <a:ext cx="8686800" cy="411480"/>
          </a:xfrm>
          <a:prstGeom prst="rect">
            <a:avLst/>
          </a:prstGeom>
          <a:noFill/>
          <a:ln/>
        </p:spPr>
        <p:txBody>
          <a:bodyPr wrap="square" lIns="0" tIns="0" rIns="0" bIns="0" rtlCol="0" anchor="ctr"/>
          <a:lstStyle/>
          <a:p>
            <a:pPr indent="0" marL="0">
              <a:buNone/>
            </a:pPr>
            <a:r>
              <a:rPr lang="en-US" sz="1300" i="1" dirty="0">
                <a:solidFill>
                  <a:srgbClr val="5A7A7C"/>
                </a:solidFill>
                <a:latin typeface="Calibri" pitchFamily="34" charset="0"/>
                <a:ea typeface="Calibri" pitchFamily="34" charset="-122"/>
                <a:cs typeface="Calibri" pitchFamily="34" charset="-120"/>
              </a:rPr>
              <a:t>Same engine, same APIs — the difference is when and how often the code runs.</a:t>
            </a:r>
            <a:endParaRPr lang="en-US" sz="1300" dirty="0"/>
          </a:p>
        </p:txBody>
      </p:sp>
      <p:sp>
        <p:nvSpPr>
          <p:cNvPr id="4" name="Shape 2"/>
          <p:cNvSpPr/>
          <p:nvPr/>
        </p:nvSpPr>
        <p:spPr>
          <a:xfrm>
            <a:off x="548640" y="1463040"/>
            <a:ext cx="5212080" cy="4434840"/>
          </a:xfrm>
          <a:prstGeom prst="roundRect">
            <a:avLst>
              <a:gd name="adj" fmla="val 2062"/>
            </a:avLst>
          </a:prstGeom>
          <a:solidFill>
            <a:srgbClr val="FFFFFF"/>
          </a:solidFill>
          <a:ln w="12700">
            <a:solidFill>
              <a:srgbClr val="CFE4E4"/>
            </a:solidFill>
            <a:prstDash val="solid"/>
          </a:ln>
          <a:effectLst>
            <a:outerShdw sx="100000" sy="100000" kx="0" ky="0" algn="bl" rotWithShape="0" blurRad="76200" dist="25400" dir="5400000">
              <a:srgbClr val="888888">
                <a:alpha val="20000"/>
              </a:srgbClr>
            </a:outerShdw>
          </a:effectLst>
        </p:spPr>
      </p:sp>
      <p:sp>
        <p:nvSpPr>
          <p:cNvPr id="5" name="Shape 3"/>
          <p:cNvSpPr/>
          <p:nvPr/>
        </p:nvSpPr>
        <p:spPr>
          <a:xfrm>
            <a:off x="6309360" y="1463040"/>
            <a:ext cx="5212080" cy="4434840"/>
          </a:xfrm>
          <a:prstGeom prst="roundRect">
            <a:avLst>
              <a:gd name="adj" fmla="val 2062"/>
            </a:avLst>
          </a:prstGeom>
          <a:solidFill>
            <a:srgbClr val="FFFFFF"/>
          </a:solidFill>
          <a:ln w="12700">
            <a:solidFill>
              <a:srgbClr val="CFE4E4"/>
            </a:solidFill>
            <a:prstDash val="solid"/>
          </a:ln>
          <a:effectLst>
            <a:outerShdw sx="100000" sy="100000" kx="0" ky="0" algn="bl" rotWithShape="0" blurRad="76200" dist="25400" dir="5400000">
              <a:srgbClr val="888888">
                <a:alpha val="20000"/>
              </a:srgbClr>
            </a:outerShdw>
          </a:effectLst>
        </p:spPr>
      </p:sp>
      <p:sp>
        <p:nvSpPr>
          <p:cNvPr id="6" name="Text 4"/>
          <p:cNvSpPr txBox="1"/>
          <p:nvPr/>
        </p:nvSpPr>
        <p:spPr>
          <a:xfrm>
            <a:off x="868680" y="1691640"/>
            <a:ext cx="2743200" cy="365760"/>
          </a:xfrm>
          <a:prstGeom prst="rect">
            <a:avLst/>
          </a:prstGeom>
          <a:noFill/>
          <a:ln/>
        </p:spPr>
        <p:txBody>
          <a:bodyPr wrap="square" lIns="0" tIns="0" rIns="0" bIns="0" rtlCol="0" anchor="ctr"/>
          <a:lstStyle/>
          <a:p>
            <a:pPr indent="0" marL="0">
              <a:buNone/>
            </a:pPr>
            <a:r>
              <a:rPr lang="en-US" sz="1400" b="1" spc="200" kern="0" dirty="0">
                <a:solidFill>
                  <a:srgbClr val="5A7A7C"/>
                </a:solidFill>
                <a:latin typeface="Calibri" pitchFamily="34" charset="0"/>
                <a:ea typeface="Calibri" pitchFamily="34" charset="-122"/>
                <a:cs typeface="Calibri" pitchFamily="34" charset="-120"/>
              </a:rPr>
              <a:t>BATCH</a:t>
            </a:r>
            <a:endParaRPr lang="en-US" sz="1400" dirty="0"/>
          </a:p>
        </p:txBody>
      </p:sp>
      <p:sp>
        <p:nvSpPr>
          <p:cNvPr id="7" name="Text 5"/>
          <p:cNvSpPr txBox="1"/>
          <p:nvPr/>
        </p:nvSpPr>
        <p:spPr>
          <a:xfrm>
            <a:off x="868680" y="2057400"/>
            <a:ext cx="4572000" cy="365760"/>
          </a:xfrm>
          <a:prstGeom prst="rect">
            <a:avLst/>
          </a:prstGeom>
          <a:noFill/>
          <a:ln/>
        </p:spPr>
        <p:txBody>
          <a:bodyPr wrap="square" lIns="0" tIns="0" rIns="0" bIns="0" rtlCol="0" anchor="ctr"/>
          <a:lstStyle/>
          <a:p>
            <a:pPr indent="0" marL="0">
              <a:buNone/>
            </a:pPr>
            <a:r>
              <a:rPr lang="en-US" sz="1300" b="1" dirty="0">
                <a:solidFill>
                  <a:srgbClr val="0B1F26"/>
                </a:solidFill>
                <a:latin typeface="Calibri" pitchFamily="34" charset="0"/>
                <a:ea typeface="Calibri" pitchFamily="34" charset="-122"/>
                <a:cs typeface="Calibri" pitchFamily="34" charset="-120"/>
              </a:rPr>
              <a:t>Process data that already exists</a:t>
            </a:r>
            <a:endParaRPr lang="en-US" sz="1300" dirty="0"/>
          </a:p>
        </p:txBody>
      </p:sp>
      <p:sp>
        <p:nvSpPr>
          <p:cNvPr id="8" name="Shape 6"/>
          <p:cNvSpPr/>
          <p:nvPr/>
        </p:nvSpPr>
        <p:spPr>
          <a:xfrm>
            <a:off x="868680" y="2468880"/>
            <a:ext cx="4572000" cy="365760"/>
          </a:xfrm>
          <a:prstGeom prst="roundRect">
            <a:avLst>
              <a:gd name="adj" fmla="val 20000"/>
            </a:avLst>
          </a:prstGeom>
          <a:solidFill>
            <a:srgbClr val="E4F3F2"/>
          </a:solidFill>
          <a:ln/>
        </p:spPr>
      </p:sp>
      <p:sp>
        <p:nvSpPr>
          <p:cNvPr id="9" name="Text 7"/>
          <p:cNvSpPr txBox="1"/>
          <p:nvPr/>
        </p:nvSpPr>
        <p:spPr>
          <a:xfrm>
            <a:off x="868680" y="2468880"/>
            <a:ext cx="4572000" cy="365760"/>
          </a:xfrm>
          <a:prstGeom prst="rect">
            <a:avLst/>
          </a:prstGeom>
          <a:noFill/>
          <a:ln/>
        </p:spPr>
        <p:txBody>
          <a:bodyPr wrap="square" lIns="0" tIns="0" rIns="0" bIns="0" rtlCol="0" anchor="ctr"/>
          <a:lstStyle/>
          <a:p>
            <a:pPr algn="ctr" indent="0" marL="0">
              <a:buNone/>
            </a:pPr>
            <a:r>
              <a:rPr lang="en-US" sz="1150" b="1" dirty="0">
                <a:solidFill>
                  <a:srgbClr val="028090"/>
                </a:solidFill>
                <a:latin typeface="Calibri" pitchFamily="34" charset="0"/>
                <a:ea typeface="Calibri" pitchFamily="34" charset="-122"/>
                <a:cs typeface="Calibri" pitchFamily="34" charset="-120"/>
              </a:rPr>
              <a:t>read  →  transform  →  write</a:t>
            </a:r>
            <a:endParaRPr lang="en-US" sz="1150" dirty="0"/>
          </a:p>
        </p:txBody>
      </p:sp>
      <p:sp>
        <p:nvSpPr>
          <p:cNvPr id="10" name="Shape 8"/>
          <p:cNvSpPr/>
          <p:nvPr/>
        </p:nvSpPr>
        <p:spPr>
          <a:xfrm>
            <a:off x="868680" y="3099816"/>
            <a:ext cx="82296" cy="82296"/>
          </a:xfrm>
          <a:prstGeom prst="ellipse">
            <a:avLst/>
          </a:prstGeom>
          <a:solidFill>
            <a:srgbClr val="028090"/>
          </a:solidFill>
          <a:ln/>
        </p:spPr>
      </p:sp>
      <p:sp>
        <p:nvSpPr>
          <p:cNvPr id="11" name="Text 9"/>
          <p:cNvSpPr txBox="1"/>
          <p:nvPr/>
        </p:nvSpPr>
        <p:spPr>
          <a:xfrm>
            <a:off x="1069848" y="2944368"/>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Runs once, on a fixed, finite dataset</a:t>
            </a:r>
            <a:endParaRPr lang="en-US" sz="1100" dirty="0"/>
          </a:p>
        </p:txBody>
      </p:sp>
      <p:sp>
        <p:nvSpPr>
          <p:cNvPr id="12" name="Shape 10"/>
          <p:cNvSpPr/>
          <p:nvPr/>
        </p:nvSpPr>
        <p:spPr>
          <a:xfrm>
            <a:off x="868680" y="3483864"/>
            <a:ext cx="82296" cy="82296"/>
          </a:xfrm>
          <a:prstGeom prst="ellipse">
            <a:avLst/>
          </a:prstGeom>
          <a:solidFill>
            <a:srgbClr val="028090"/>
          </a:solidFill>
          <a:ln/>
        </p:spPr>
      </p:sp>
      <p:sp>
        <p:nvSpPr>
          <p:cNvPr id="13" name="Text 11"/>
          <p:cNvSpPr txBox="1"/>
          <p:nvPr/>
        </p:nvSpPr>
        <p:spPr>
          <a:xfrm>
            <a:off x="1069848" y="3328416"/>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Job finishes and the process exits</a:t>
            </a:r>
            <a:endParaRPr lang="en-US" sz="1100" dirty="0"/>
          </a:p>
        </p:txBody>
      </p:sp>
      <p:sp>
        <p:nvSpPr>
          <p:cNvPr id="14" name="Shape 12"/>
          <p:cNvSpPr/>
          <p:nvPr/>
        </p:nvSpPr>
        <p:spPr>
          <a:xfrm>
            <a:off x="868680" y="3867912"/>
            <a:ext cx="82296" cy="82296"/>
          </a:xfrm>
          <a:prstGeom prst="ellipse">
            <a:avLst/>
          </a:prstGeom>
          <a:solidFill>
            <a:srgbClr val="028090"/>
          </a:solidFill>
          <a:ln/>
        </p:spPr>
      </p:sp>
      <p:sp>
        <p:nvSpPr>
          <p:cNvPr id="15" name="Text 13"/>
          <p:cNvSpPr txBox="1"/>
          <p:nvPr/>
        </p:nvSpPr>
        <p:spPr>
          <a:xfrm>
            <a:off x="1069848" y="3712464"/>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Latency measured in minutes to hours</a:t>
            </a:r>
            <a:endParaRPr lang="en-US" sz="1100" dirty="0"/>
          </a:p>
        </p:txBody>
      </p:sp>
      <p:sp>
        <p:nvSpPr>
          <p:cNvPr id="16" name="Shape 14"/>
          <p:cNvSpPr/>
          <p:nvPr/>
        </p:nvSpPr>
        <p:spPr>
          <a:xfrm>
            <a:off x="868680" y="4251960"/>
            <a:ext cx="82296" cy="82296"/>
          </a:xfrm>
          <a:prstGeom prst="ellipse">
            <a:avLst/>
          </a:prstGeom>
          <a:solidFill>
            <a:srgbClr val="028090"/>
          </a:solidFill>
          <a:ln/>
        </p:spPr>
      </p:sp>
      <p:sp>
        <p:nvSpPr>
          <p:cNvPr id="17" name="Text 15"/>
          <p:cNvSpPr txBox="1"/>
          <p:nvPr/>
        </p:nvSpPr>
        <p:spPr>
          <a:xfrm>
            <a:off x="1069848" y="4096512"/>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Simpler to reason about and debug</a:t>
            </a:r>
            <a:endParaRPr lang="en-US" sz="1100" dirty="0"/>
          </a:p>
        </p:txBody>
      </p:sp>
      <p:sp>
        <p:nvSpPr>
          <p:cNvPr id="18" name="Shape 16"/>
          <p:cNvSpPr/>
          <p:nvPr/>
        </p:nvSpPr>
        <p:spPr>
          <a:xfrm>
            <a:off x="868680" y="4663440"/>
            <a:ext cx="4572000" cy="1051560"/>
          </a:xfrm>
          <a:prstGeom prst="roundRect">
            <a:avLst>
              <a:gd name="adj" fmla="val 5217"/>
            </a:avLst>
          </a:prstGeom>
          <a:solidFill>
            <a:srgbClr val="0E2A31"/>
          </a:solidFill>
          <a:ln w="12700">
            <a:solidFill>
              <a:srgbClr val="1D4E52"/>
            </a:solidFill>
            <a:prstDash val="solid"/>
          </a:ln>
        </p:spPr>
      </p:sp>
      <p:sp>
        <p:nvSpPr>
          <p:cNvPr id="19" name="Text 17"/>
          <p:cNvSpPr txBox="1"/>
          <p:nvPr/>
        </p:nvSpPr>
        <p:spPr>
          <a:xfrm>
            <a:off x="1097280" y="4809744"/>
            <a:ext cx="4114800" cy="758952"/>
          </a:xfrm>
          <a:prstGeom prst="rect">
            <a:avLst/>
          </a:prstGeom>
          <a:noFill/>
          <a:ln/>
        </p:spPr>
        <p:txBody>
          <a:bodyPr wrap="square" lIns="0" tIns="0" rIns="0" bIns="0" rtlCol="0" anchor="t"/>
          <a:lstStyle/>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df = spark.read.format("json")</a:t>
            </a:r>
            <a:endParaRPr lang="en-US" sz="1000" dirty="0"/>
          </a:p>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  .load("/data/orders")</a:t>
            </a:r>
            <a:endParaRPr lang="en-US" sz="1000" dirty="0"/>
          </a:p>
          <a:p>
            <a:pPr indent="0" marL="0">
              <a:lnSpc>
                <a:spcPct val="112000"/>
              </a:lnSpc>
              <a:buNone/>
            </a:pPr>
            <a:endParaRPr lang="en-US" sz="1000" dirty="0"/>
          </a:p>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df.write.format("parquet")</a:t>
            </a:r>
            <a:endParaRPr lang="en-US" sz="1000" dirty="0"/>
          </a:p>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  .save("/out")</a:t>
            </a:r>
            <a:endParaRPr lang="en-US" sz="1000" dirty="0"/>
          </a:p>
        </p:txBody>
      </p:sp>
      <p:sp>
        <p:nvSpPr>
          <p:cNvPr id="20" name="Text 18"/>
          <p:cNvSpPr txBox="1"/>
          <p:nvPr/>
        </p:nvSpPr>
        <p:spPr>
          <a:xfrm>
            <a:off x="6629400" y="1691640"/>
            <a:ext cx="2743200" cy="365760"/>
          </a:xfrm>
          <a:prstGeom prst="rect">
            <a:avLst/>
          </a:prstGeom>
          <a:noFill/>
          <a:ln/>
        </p:spPr>
        <p:txBody>
          <a:bodyPr wrap="square" lIns="0" tIns="0" rIns="0" bIns="0" rtlCol="0" anchor="ctr"/>
          <a:lstStyle/>
          <a:p>
            <a:pPr indent="0" marL="0">
              <a:buNone/>
            </a:pPr>
            <a:r>
              <a:rPr lang="en-US" sz="1400" b="1" spc="200" kern="0" dirty="0">
                <a:solidFill>
                  <a:srgbClr val="028090"/>
                </a:solidFill>
                <a:latin typeface="Calibri" pitchFamily="34" charset="0"/>
                <a:ea typeface="Calibri" pitchFamily="34" charset="-122"/>
                <a:cs typeface="Calibri" pitchFamily="34" charset="-120"/>
              </a:rPr>
              <a:t>STREAMING</a:t>
            </a:r>
            <a:endParaRPr lang="en-US" sz="1400" dirty="0"/>
          </a:p>
        </p:txBody>
      </p:sp>
      <p:sp>
        <p:nvSpPr>
          <p:cNvPr id="21" name="Text 19"/>
          <p:cNvSpPr txBox="1"/>
          <p:nvPr/>
        </p:nvSpPr>
        <p:spPr>
          <a:xfrm>
            <a:off x="6629400" y="2057400"/>
            <a:ext cx="4572000" cy="365760"/>
          </a:xfrm>
          <a:prstGeom prst="rect">
            <a:avLst/>
          </a:prstGeom>
          <a:noFill/>
          <a:ln/>
        </p:spPr>
        <p:txBody>
          <a:bodyPr wrap="square" lIns="0" tIns="0" rIns="0" bIns="0" rtlCol="0" anchor="ctr"/>
          <a:lstStyle/>
          <a:p>
            <a:pPr indent="0" marL="0">
              <a:buNone/>
            </a:pPr>
            <a:r>
              <a:rPr lang="en-US" sz="1300" b="1" dirty="0">
                <a:solidFill>
                  <a:srgbClr val="0B1F26"/>
                </a:solidFill>
                <a:latin typeface="Calibri" pitchFamily="34" charset="0"/>
                <a:ea typeface="Calibri" pitchFamily="34" charset="-122"/>
                <a:cs typeface="Calibri" pitchFamily="34" charset="-120"/>
              </a:rPr>
              <a:t>Process data continuously as it arrives</a:t>
            </a:r>
            <a:endParaRPr lang="en-US" sz="1300" dirty="0"/>
          </a:p>
        </p:txBody>
      </p:sp>
      <p:sp>
        <p:nvSpPr>
          <p:cNvPr id="22" name="Shape 20"/>
          <p:cNvSpPr/>
          <p:nvPr/>
        </p:nvSpPr>
        <p:spPr>
          <a:xfrm>
            <a:off x="6629400" y="2468880"/>
            <a:ext cx="4572000" cy="365760"/>
          </a:xfrm>
          <a:prstGeom prst="roundRect">
            <a:avLst>
              <a:gd name="adj" fmla="val 20000"/>
            </a:avLst>
          </a:prstGeom>
          <a:solidFill>
            <a:srgbClr val="028090"/>
          </a:solidFill>
          <a:ln/>
        </p:spPr>
      </p:sp>
      <p:sp>
        <p:nvSpPr>
          <p:cNvPr id="23" name="Text 21"/>
          <p:cNvSpPr txBox="1"/>
          <p:nvPr/>
        </p:nvSpPr>
        <p:spPr>
          <a:xfrm>
            <a:off x="6629400" y="2468880"/>
            <a:ext cx="457200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readStream  →  transform  →  writeStream</a:t>
            </a:r>
            <a:endParaRPr lang="en-US" sz="1150" dirty="0"/>
          </a:p>
        </p:txBody>
      </p:sp>
      <p:sp>
        <p:nvSpPr>
          <p:cNvPr id="24" name="Shape 22"/>
          <p:cNvSpPr/>
          <p:nvPr/>
        </p:nvSpPr>
        <p:spPr>
          <a:xfrm>
            <a:off x="6629400" y="3099816"/>
            <a:ext cx="82296" cy="82296"/>
          </a:xfrm>
          <a:prstGeom prst="ellipse">
            <a:avLst/>
          </a:prstGeom>
          <a:solidFill>
            <a:srgbClr val="028090"/>
          </a:solidFill>
          <a:ln/>
        </p:spPr>
      </p:sp>
      <p:sp>
        <p:nvSpPr>
          <p:cNvPr id="25" name="Text 23"/>
          <p:cNvSpPr txBox="1"/>
          <p:nvPr/>
        </p:nvSpPr>
        <p:spPr>
          <a:xfrm>
            <a:off x="6830568" y="2944368"/>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Runs indefinitely against an unbounded stream</a:t>
            </a:r>
            <a:endParaRPr lang="en-US" sz="1100" dirty="0"/>
          </a:p>
        </p:txBody>
      </p:sp>
      <p:sp>
        <p:nvSpPr>
          <p:cNvPr id="26" name="Shape 24"/>
          <p:cNvSpPr/>
          <p:nvPr/>
        </p:nvSpPr>
        <p:spPr>
          <a:xfrm>
            <a:off x="6629400" y="3483864"/>
            <a:ext cx="82296" cy="82296"/>
          </a:xfrm>
          <a:prstGeom prst="ellipse">
            <a:avLst/>
          </a:prstGeom>
          <a:solidFill>
            <a:srgbClr val="028090"/>
          </a:solidFill>
          <a:ln/>
        </p:spPr>
      </p:sp>
      <p:sp>
        <p:nvSpPr>
          <p:cNvPr id="27" name="Text 25"/>
          <p:cNvSpPr txBox="1"/>
          <p:nvPr/>
        </p:nvSpPr>
        <p:spPr>
          <a:xfrm>
            <a:off x="6830568" y="3328416"/>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Process stays alive, processing micro-batches</a:t>
            </a:r>
            <a:endParaRPr lang="en-US" sz="1100" dirty="0"/>
          </a:p>
        </p:txBody>
      </p:sp>
      <p:sp>
        <p:nvSpPr>
          <p:cNvPr id="28" name="Shape 26"/>
          <p:cNvSpPr/>
          <p:nvPr/>
        </p:nvSpPr>
        <p:spPr>
          <a:xfrm>
            <a:off x="6629400" y="3867912"/>
            <a:ext cx="82296" cy="82296"/>
          </a:xfrm>
          <a:prstGeom prst="ellipse">
            <a:avLst/>
          </a:prstGeom>
          <a:solidFill>
            <a:srgbClr val="028090"/>
          </a:solidFill>
          <a:ln/>
        </p:spPr>
      </p:sp>
      <p:sp>
        <p:nvSpPr>
          <p:cNvPr id="29" name="Text 27"/>
          <p:cNvSpPr txBox="1"/>
          <p:nvPr/>
        </p:nvSpPr>
        <p:spPr>
          <a:xfrm>
            <a:off x="6830568" y="3712464"/>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Latency measured in seconds to minutes</a:t>
            </a:r>
            <a:endParaRPr lang="en-US" sz="1100" dirty="0"/>
          </a:p>
        </p:txBody>
      </p:sp>
      <p:sp>
        <p:nvSpPr>
          <p:cNvPr id="30" name="Shape 28"/>
          <p:cNvSpPr/>
          <p:nvPr/>
        </p:nvSpPr>
        <p:spPr>
          <a:xfrm>
            <a:off x="6629400" y="4251960"/>
            <a:ext cx="82296" cy="82296"/>
          </a:xfrm>
          <a:prstGeom prst="ellipse">
            <a:avLst/>
          </a:prstGeom>
          <a:solidFill>
            <a:srgbClr val="028090"/>
          </a:solidFill>
          <a:ln/>
        </p:spPr>
      </p:sp>
      <p:sp>
        <p:nvSpPr>
          <p:cNvPr id="31" name="Text 29"/>
          <p:cNvSpPr txBox="1"/>
          <p:nvPr/>
        </p:nvSpPr>
        <p:spPr>
          <a:xfrm>
            <a:off x="6830568" y="4096512"/>
            <a:ext cx="4370832" cy="475488"/>
          </a:xfrm>
          <a:prstGeom prst="rect">
            <a:avLst/>
          </a:prstGeom>
          <a:noFill/>
          <a:ln/>
        </p:spPr>
        <p:txBody>
          <a:bodyPr wrap="square" lIns="0" tIns="0" rIns="0" bIns="0" rtlCol="0" anchor="t"/>
          <a:lstStyle/>
          <a:p>
            <a:pPr indent="0" marL="0">
              <a:lnSpc>
                <a:spcPct val="110000"/>
              </a:lnSpc>
              <a:buNone/>
            </a:pPr>
            <a:r>
              <a:rPr lang="en-US" sz="1100" dirty="0">
                <a:solidFill>
                  <a:srgbClr val="3E5A5C"/>
                </a:solidFill>
                <a:latin typeface="Calibri" pitchFamily="34" charset="0"/>
                <a:ea typeface="Calibri" pitchFamily="34" charset="-122"/>
                <a:cs typeface="Calibri" pitchFamily="34" charset="-120"/>
              </a:rPr>
              <a:t>Needs checkpointing to be fault-tolerant</a:t>
            </a:r>
            <a:endParaRPr lang="en-US" sz="1100" dirty="0"/>
          </a:p>
        </p:txBody>
      </p:sp>
      <p:sp>
        <p:nvSpPr>
          <p:cNvPr id="32" name="Shape 30"/>
          <p:cNvSpPr/>
          <p:nvPr/>
        </p:nvSpPr>
        <p:spPr>
          <a:xfrm>
            <a:off x="6629400" y="4663440"/>
            <a:ext cx="4572000" cy="1051560"/>
          </a:xfrm>
          <a:prstGeom prst="roundRect">
            <a:avLst>
              <a:gd name="adj" fmla="val 5217"/>
            </a:avLst>
          </a:prstGeom>
          <a:solidFill>
            <a:srgbClr val="0E2A31"/>
          </a:solidFill>
          <a:ln w="12700">
            <a:solidFill>
              <a:srgbClr val="1D4E52"/>
            </a:solidFill>
            <a:prstDash val="solid"/>
          </a:ln>
        </p:spPr>
      </p:sp>
      <p:sp>
        <p:nvSpPr>
          <p:cNvPr id="33" name="Text 31"/>
          <p:cNvSpPr txBox="1"/>
          <p:nvPr/>
        </p:nvSpPr>
        <p:spPr>
          <a:xfrm>
            <a:off x="6858000" y="4809744"/>
            <a:ext cx="4114800" cy="758952"/>
          </a:xfrm>
          <a:prstGeom prst="rect">
            <a:avLst/>
          </a:prstGeom>
          <a:noFill/>
          <a:ln/>
        </p:spPr>
        <p:txBody>
          <a:bodyPr wrap="square" lIns="0" tIns="0" rIns="0" bIns="0" rtlCol="0" anchor="t"/>
          <a:lstStyle/>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df = spark.readStream.format("json")</a:t>
            </a:r>
            <a:endParaRPr lang="en-US" sz="1000" dirty="0"/>
          </a:p>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  .load("/data/orders")</a:t>
            </a:r>
            <a:endParaRPr lang="en-US" sz="1000" dirty="0"/>
          </a:p>
          <a:p>
            <a:pPr indent="0" marL="0">
              <a:lnSpc>
                <a:spcPct val="112000"/>
              </a:lnSpc>
              <a:buNone/>
            </a:pPr>
            <a:endParaRPr lang="en-US" sz="1000" dirty="0"/>
          </a:p>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df.writeStream.format("parquet")</a:t>
            </a:r>
            <a:endParaRPr lang="en-US" sz="1000" dirty="0"/>
          </a:p>
          <a:p>
            <a:pPr indent="0" marL="0">
              <a:lnSpc>
                <a:spcPct val="112000"/>
              </a:lnSpc>
              <a:buNone/>
            </a:pPr>
            <a:r>
              <a:rPr lang="en-US" sz="1000" dirty="0">
                <a:solidFill>
                  <a:srgbClr val="BFEFE0"/>
                </a:solidFill>
                <a:latin typeface="Courier New" pitchFamily="34" charset="0"/>
                <a:ea typeface="Courier New" pitchFamily="34" charset="-122"/>
                <a:cs typeface="Courier New" pitchFamily="34" charset="-120"/>
              </a:rPr>
              <a:t>  .start()</a:t>
            </a:r>
            <a:endParaRPr lang="en-US" sz="1000" dirty="0"/>
          </a:p>
        </p:txBody>
      </p:sp>
      <p:sp>
        <p:nvSpPr>
          <p:cNvPr id="34" name="Text 32"/>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35" name="Text 33"/>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94360"/>
          </a:xfrm>
          <a:prstGeom prst="rect">
            <a:avLst/>
          </a:prstGeom>
          <a:noFill/>
          <a:ln/>
        </p:spPr>
        <p:txBody>
          <a:bodyPr wrap="square" lIns="0" tIns="0" rIns="0" bIns="0" rtlCol="0" anchor="ctr"/>
          <a:lstStyle/>
          <a:p>
            <a:pPr indent="0" marL="0">
              <a:buNone/>
            </a:pPr>
            <a:r>
              <a:rPr lang="en-US" sz="2800" b="1" dirty="0">
                <a:solidFill>
                  <a:srgbClr val="0B1F26"/>
                </a:solidFill>
                <a:latin typeface="Century Schoolbook" pitchFamily="34" charset="0"/>
                <a:ea typeface="Century Schoolbook" pitchFamily="34" charset="-122"/>
                <a:cs typeface="Century Schoolbook" pitchFamily="34" charset="-120"/>
              </a:rPr>
              <a:t>Stateless vs. Stateful Transformations</a:t>
            </a:r>
            <a:endParaRPr lang="en-US" sz="2800" dirty="0"/>
          </a:p>
        </p:txBody>
      </p:sp>
      <p:sp>
        <p:nvSpPr>
          <p:cNvPr id="3" name="Text 1"/>
          <p:cNvSpPr txBox="1"/>
          <p:nvPr/>
        </p:nvSpPr>
        <p:spPr>
          <a:xfrm>
            <a:off x="548640" y="914400"/>
            <a:ext cx="9601200" cy="365760"/>
          </a:xfrm>
          <a:prstGeom prst="rect">
            <a:avLst/>
          </a:prstGeom>
          <a:noFill/>
          <a:ln/>
        </p:spPr>
        <p:txBody>
          <a:bodyPr wrap="square" lIns="0" tIns="0" rIns="0" bIns="0" rtlCol="0" anchor="ctr"/>
          <a:lstStyle/>
          <a:p>
            <a:pPr indent="0" marL="0">
              <a:buNone/>
            </a:pPr>
            <a:r>
              <a:rPr lang="en-US" sz="1300" i="1" dirty="0">
                <a:solidFill>
                  <a:srgbClr val="5A7A7C"/>
                </a:solidFill>
                <a:latin typeface="Calibri" pitchFamily="34" charset="0"/>
                <a:ea typeface="Calibri" pitchFamily="34" charset="-122"/>
                <a:cs typeface="Calibri" pitchFamily="34" charset="-120"/>
              </a:rPr>
              <a:t>Whether Spark needs to remember anything from records it already processed.</a:t>
            </a:r>
            <a:endParaRPr lang="en-US" sz="1300" dirty="0"/>
          </a:p>
        </p:txBody>
      </p:sp>
      <p:sp>
        <p:nvSpPr>
          <p:cNvPr id="4" name="Shape 2"/>
          <p:cNvSpPr/>
          <p:nvPr/>
        </p:nvSpPr>
        <p:spPr>
          <a:xfrm>
            <a:off x="548640" y="1417320"/>
            <a:ext cx="5212080" cy="4434840"/>
          </a:xfrm>
          <a:prstGeom prst="roundRect">
            <a:avLst>
              <a:gd name="adj" fmla="val 2062"/>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5" name="Text 3"/>
          <p:cNvSpPr txBox="1"/>
          <p:nvPr/>
        </p:nvSpPr>
        <p:spPr>
          <a:xfrm>
            <a:off x="868680" y="1645920"/>
            <a:ext cx="3657600" cy="411480"/>
          </a:xfrm>
          <a:prstGeom prst="rect">
            <a:avLst/>
          </a:prstGeom>
          <a:noFill/>
          <a:ln/>
        </p:spPr>
        <p:txBody>
          <a:bodyPr wrap="square" lIns="0" tIns="0" rIns="0" bIns="0" rtlCol="0" anchor="ctr"/>
          <a:lstStyle/>
          <a:p>
            <a:pPr indent="0" marL="0">
              <a:buNone/>
            </a:pPr>
            <a:r>
              <a:rPr lang="en-US" sz="1900" b="1" dirty="0">
                <a:solidFill>
                  <a:srgbClr val="028090"/>
                </a:solidFill>
                <a:latin typeface="Calibri" pitchFamily="34" charset="0"/>
                <a:ea typeface="Calibri" pitchFamily="34" charset="-122"/>
                <a:cs typeface="Calibri" pitchFamily="34" charset="-120"/>
              </a:rPr>
              <a:t>Stateless</a:t>
            </a:r>
            <a:endParaRPr lang="en-US" sz="1900" dirty="0"/>
          </a:p>
        </p:txBody>
      </p:sp>
      <p:sp>
        <p:nvSpPr>
          <p:cNvPr id="6" name="Text 4"/>
          <p:cNvSpPr txBox="1"/>
          <p:nvPr/>
        </p:nvSpPr>
        <p:spPr>
          <a:xfrm>
            <a:off x="868680" y="2130552"/>
            <a:ext cx="4572000" cy="868680"/>
          </a:xfrm>
          <a:prstGeom prst="rect">
            <a:avLst/>
          </a:prstGeom>
          <a:noFill/>
          <a:ln/>
        </p:spPr>
        <p:txBody>
          <a:bodyPr wrap="square" lIns="0" tIns="0" rIns="0" bIns="0" rtlCol="0" anchor="ctr"/>
          <a:lstStyle/>
          <a:p>
            <a:pPr indent="0" marL="0">
              <a:lnSpc>
                <a:spcPct val="120000"/>
              </a:lnSpc>
              <a:buNone/>
            </a:pPr>
            <a:r>
              <a:rPr lang="en-US" sz="1200" dirty="0">
                <a:solidFill>
                  <a:srgbClr val="3E5A5C"/>
                </a:solidFill>
                <a:latin typeface="Calibri" pitchFamily="34" charset="0"/>
                <a:ea typeface="Calibri" pitchFamily="34" charset="-122"/>
                <a:cs typeface="Calibri" pitchFamily="34" charset="-120"/>
              </a:rPr>
              <a:t>Spark processes each incoming record without needing to remember information from previous records. Every row is transformed independently and immediately.</a:t>
            </a:r>
            <a:endParaRPr lang="en-US" sz="1200" dirty="0"/>
          </a:p>
        </p:txBody>
      </p:sp>
      <p:sp>
        <p:nvSpPr>
          <p:cNvPr id="7" name="Shape 5"/>
          <p:cNvSpPr/>
          <p:nvPr/>
        </p:nvSpPr>
        <p:spPr>
          <a:xfrm>
            <a:off x="868680" y="3108960"/>
            <a:ext cx="2148840" cy="347472"/>
          </a:xfrm>
          <a:prstGeom prst="roundRect">
            <a:avLst>
              <a:gd name="adj" fmla="val 15789"/>
            </a:avLst>
          </a:prstGeom>
          <a:solidFill>
            <a:srgbClr val="E4F3F2"/>
          </a:solidFill>
          <a:ln/>
        </p:spPr>
      </p:sp>
      <p:sp>
        <p:nvSpPr>
          <p:cNvPr id="8" name="Text 6"/>
          <p:cNvSpPr txBox="1"/>
          <p:nvPr/>
        </p:nvSpPr>
        <p:spPr>
          <a:xfrm>
            <a:off x="868680" y="3108960"/>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select()</a:t>
            </a:r>
            <a:endParaRPr lang="en-US" sz="1100" dirty="0"/>
          </a:p>
        </p:txBody>
      </p:sp>
      <p:sp>
        <p:nvSpPr>
          <p:cNvPr id="9" name="Shape 7"/>
          <p:cNvSpPr/>
          <p:nvPr/>
        </p:nvSpPr>
        <p:spPr>
          <a:xfrm>
            <a:off x="3246120" y="3108960"/>
            <a:ext cx="2148840" cy="347472"/>
          </a:xfrm>
          <a:prstGeom prst="roundRect">
            <a:avLst>
              <a:gd name="adj" fmla="val 15789"/>
            </a:avLst>
          </a:prstGeom>
          <a:solidFill>
            <a:srgbClr val="E4F3F2"/>
          </a:solidFill>
          <a:ln/>
        </p:spPr>
      </p:sp>
      <p:sp>
        <p:nvSpPr>
          <p:cNvPr id="10" name="Text 8"/>
          <p:cNvSpPr txBox="1"/>
          <p:nvPr/>
        </p:nvSpPr>
        <p:spPr>
          <a:xfrm>
            <a:off x="3246120" y="3108960"/>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filter()</a:t>
            </a:r>
            <a:endParaRPr lang="en-US" sz="1100" dirty="0"/>
          </a:p>
        </p:txBody>
      </p:sp>
      <p:sp>
        <p:nvSpPr>
          <p:cNvPr id="11" name="Shape 9"/>
          <p:cNvSpPr/>
          <p:nvPr/>
        </p:nvSpPr>
        <p:spPr>
          <a:xfrm>
            <a:off x="868680" y="3529584"/>
            <a:ext cx="2148840" cy="347472"/>
          </a:xfrm>
          <a:prstGeom prst="roundRect">
            <a:avLst>
              <a:gd name="adj" fmla="val 15789"/>
            </a:avLst>
          </a:prstGeom>
          <a:solidFill>
            <a:srgbClr val="E4F3F2"/>
          </a:solidFill>
          <a:ln/>
        </p:spPr>
      </p:sp>
      <p:sp>
        <p:nvSpPr>
          <p:cNvPr id="12" name="Text 10"/>
          <p:cNvSpPr txBox="1"/>
          <p:nvPr/>
        </p:nvSpPr>
        <p:spPr>
          <a:xfrm>
            <a:off x="868680" y="3529584"/>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withColumn()</a:t>
            </a:r>
            <a:endParaRPr lang="en-US" sz="1100" dirty="0"/>
          </a:p>
        </p:txBody>
      </p:sp>
      <p:sp>
        <p:nvSpPr>
          <p:cNvPr id="13" name="Shape 11"/>
          <p:cNvSpPr/>
          <p:nvPr/>
        </p:nvSpPr>
        <p:spPr>
          <a:xfrm>
            <a:off x="3246120" y="3529584"/>
            <a:ext cx="2148840" cy="347472"/>
          </a:xfrm>
          <a:prstGeom prst="roundRect">
            <a:avLst>
              <a:gd name="adj" fmla="val 15789"/>
            </a:avLst>
          </a:prstGeom>
          <a:solidFill>
            <a:srgbClr val="E4F3F2"/>
          </a:solidFill>
          <a:ln/>
        </p:spPr>
      </p:sp>
      <p:sp>
        <p:nvSpPr>
          <p:cNvPr id="14" name="Text 12"/>
          <p:cNvSpPr txBox="1"/>
          <p:nvPr/>
        </p:nvSpPr>
        <p:spPr>
          <a:xfrm>
            <a:off x="3246120" y="3529584"/>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drop()</a:t>
            </a:r>
            <a:endParaRPr lang="en-US" sz="1100" dirty="0"/>
          </a:p>
        </p:txBody>
      </p:sp>
      <p:sp>
        <p:nvSpPr>
          <p:cNvPr id="15" name="Shape 13"/>
          <p:cNvSpPr/>
          <p:nvPr/>
        </p:nvSpPr>
        <p:spPr>
          <a:xfrm>
            <a:off x="868680" y="3950208"/>
            <a:ext cx="2148840" cy="347472"/>
          </a:xfrm>
          <a:prstGeom prst="roundRect">
            <a:avLst>
              <a:gd name="adj" fmla="val 15789"/>
            </a:avLst>
          </a:prstGeom>
          <a:solidFill>
            <a:srgbClr val="E4F3F2"/>
          </a:solidFill>
          <a:ln/>
        </p:spPr>
      </p:sp>
      <p:sp>
        <p:nvSpPr>
          <p:cNvPr id="16" name="Text 14"/>
          <p:cNvSpPr txBox="1"/>
          <p:nvPr/>
        </p:nvSpPr>
        <p:spPr>
          <a:xfrm>
            <a:off x="868680" y="3950208"/>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cast()</a:t>
            </a:r>
            <a:endParaRPr lang="en-US" sz="1100" dirty="0"/>
          </a:p>
        </p:txBody>
      </p:sp>
      <p:sp>
        <p:nvSpPr>
          <p:cNvPr id="17" name="Shape 15"/>
          <p:cNvSpPr/>
          <p:nvPr/>
        </p:nvSpPr>
        <p:spPr>
          <a:xfrm>
            <a:off x="3246120" y="3950208"/>
            <a:ext cx="2148840" cy="347472"/>
          </a:xfrm>
          <a:prstGeom prst="roundRect">
            <a:avLst>
              <a:gd name="adj" fmla="val 15789"/>
            </a:avLst>
          </a:prstGeom>
          <a:solidFill>
            <a:srgbClr val="E4F3F2"/>
          </a:solidFill>
          <a:ln/>
        </p:spPr>
      </p:sp>
      <p:sp>
        <p:nvSpPr>
          <p:cNvPr id="18" name="Text 16"/>
          <p:cNvSpPr txBox="1"/>
          <p:nvPr/>
        </p:nvSpPr>
        <p:spPr>
          <a:xfrm>
            <a:off x="3246120" y="3950208"/>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union()</a:t>
            </a:r>
            <a:endParaRPr lang="en-US" sz="1100" dirty="0"/>
          </a:p>
        </p:txBody>
      </p:sp>
      <p:sp>
        <p:nvSpPr>
          <p:cNvPr id="19" name="Shape 17"/>
          <p:cNvSpPr/>
          <p:nvPr/>
        </p:nvSpPr>
        <p:spPr>
          <a:xfrm>
            <a:off x="868680" y="4370832"/>
            <a:ext cx="2148840" cy="347472"/>
          </a:xfrm>
          <a:prstGeom prst="roundRect">
            <a:avLst>
              <a:gd name="adj" fmla="val 15789"/>
            </a:avLst>
          </a:prstGeom>
          <a:solidFill>
            <a:srgbClr val="E4F3F2"/>
          </a:solidFill>
          <a:ln/>
        </p:spPr>
      </p:sp>
      <p:sp>
        <p:nvSpPr>
          <p:cNvPr id="20" name="Text 18"/>
          <p:cNvSpPr txBox="1"/>
          <p:nvPr/>
        </p:nvSpPr>
        <p:spPr>
          <a:xfrm>
            <a:off x="868680" y="4370832"/>
            <a:ext cx="2148840" cy="347472"/>
          </a:xfrm>
          <a:prstGeom prst="rect">
            <a:avLst/>
          </a:prstGeom>
          <a:noFill/>
          <a:ln/>
        </p:spPr>
        <p:txBody>
          <a:bodyPr wrap="square" lIns="0" tIns="0" rIns="0" bIns="0" rtlCol="0" anchor="ctr"/>
          <a:lstStyle/>
          <a:p>
            <a:pPr algn="ctr" indent="0" marL="0">
              <a:buNone/>
            </a:pPr>
            <a:r>
              <a:rPr lang="en-US" sz="1100" b="1" dirty="0">
                <a:solidFill>
                  <a:srgbClr val="028090"/>
                </a:solidFill>
                <a:latin typeface="Courier New" pitchFamily="34" charset="0"/>
                <a:ea typeface="Courier New" pitchFamily="34" charset="-122"/>
                <a:cs typeface="Courier New" pitchFamily="34" charset="-120"/>
              </a:rPr>
              <a:t>map()</a:t>
            </a:r>
            <a:endParaRPr lang="en-US" sz="1100" dirty="0"/>
          </a:p>
        </p:txBody>
      </p:sp>
      <p:sp>
        <p:nvSpPr>
          <p:cNvPr id="21" name="Text 19"/>
          <p:cNvSpPr txBox="1"/>
          <p:nvPr/>
        </p:nvSpPr>
        <p:spPr>
          <a:xfrm>
            <a:off x="868680" y="5120640"/>
            <a:ext cx="4572000" cy="640080"/>
          </a:xfrm>
          <a:prstGeom prst="rect">
            <a:avLst/>
          </a:prstGeom>
          <a:noFill/>
          <a:ln/>
        </p:spPr>
        <p:txBody>
          <a:bodyPr wrap="square" lIns="0" tIns="0" rIns="0" bIns="0" rtlCol="0" anchor="ctr"/>
          <a:lstStyle/>
          <a:p>
            <a:pPr indent="0" marL="0">
              <a:lnSpc>
                <a:spcPct val="115000"/>
              </a:lnSpc>
              <a:buNone/>
            </a:pPr>
            <a:r>
              <a:rPr lang="en-US" sz="1100" i="1" dirty="0">
                <a:solidFill>
                  <a:srgbClr val="6B8F90"/>
                </a:solidFill>
                <a:latin typeface="Calibri" pitchFamily="34" charset="0"/>
                <a:ea typeface="Calibri" pitchFamily="34" charset="-122"/>
                <a:cs typeface="Calibri" pitchFamily="34" charset="-120"/>
              </a:rPr>
              <a:t>Typical use: cleaning, filtering rows, renaming or casting columns, parsing a single record's fields.</a:t>
            </a:r>
            <a:endParaRPr lang="en-US" sz="1100" dirty="0"/>
          </a:p>
        </p:txBody>
      </p:sp>
      <p:sp>
        <p:nvSpPr>
          <p:cNvPr id="22" name="Shape 20"/>
          <p:cNvSpPr/>
          <p:nvPr/>
        </p:nvSpPr>
        <p:spPr>
          <a:xfrm>
            <a:off x="6309360" y="1417320"/>
            <a:ext cx="5212080" cy="4434840"/>
          </a:xfrm>
          <a:prstGeom prst="roundRect">
            <a:avLst>
              <a:gd name="adj" fmla="val 2062"/>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23" name="Text 21"/>
          <p:cNvSpPr txBox="1"/>
          <p:nvPr/>
        </p:nvSpPr>
        <p:spPr>
          <a:xfrm>
            <a:off x="6629400" y="1645920"/>
            <a:ext cx="3657600" cy="411480"/>
          </a:xfrm>
          <a:prstGeom prst="rect">
            <a:avLst/>
          </a:prstGeom>
          <a:noFill/>
          <a:ln/>
        </p:spPr>
        <p:txBody>
          <a:bodyPr wrap="square" lIns="0" tIns="0" rIns="0" bIns="0" rtlCol="0" anchor="ctr"/>
          <a:lstStyle/>
          <a:p>
            <a:pPr indent="0" marL="0">
              <a:buNone/>
            </a:pPr>
            <a:r>
              <a:rPr lang="en-US" sz="1900" b="1" dirty="0">
                <a:solidFill>
                  <a:srgbClr val="00A896"/>
                </a:solidFill>
                <a:latin typeface="Calibri" pitchFamily="34" charset="0"/>
                <a:ea typeface="Calibri" pitchFamily="34" charset="-122"/>
                <a:cs typeface="Calibri" pitchFamily="34" charset="-120"/>
              </a:rPr>
              <a:t>Stateful</a:t>
            </a:r>
            <a:endParaRPr lang="en-US" sz="1900" dirty="0"/>
          </a:p>
        </p:txBody>
      </p:sp>
      <p:sp>
        <p:nvSpPr>
          <p:cNvPr id="24" name="Text 22"/>
          <p:cNvSpPr txBox="1"/>
          <p:nvPr/>
        </p:nvSpPr>
        <p:spPr>
          <a:xfrm>
            <a:off x="6629400" y="2130552"/>
            <a:ext cx="4572000" cy="868680"/>
          </a:xfrm>
          <a:prstGeom prst="rect">
            <a:avLst/>
          </a:prstGeom>
          <a:noFill/>
          <a:ln/>
        </p:spPr>
        <p:txBody>
          <a:bodyPr wrap="square" lIns="0" tIns="0" rIns="0" bIns="0" rtlCol="0" anchor="ctr"/>
          <a:lstStyle/>
          <a:p>
            <a:pPr indent="0" marL="0">
              <a:lnSpc>
                <a:spcPct val="120000"/>
              </a:lnSpc>
              <a:buNone/>
            </a:pPr>
            <a:r>
              <a:rPr lang="en-US" sz="1200" dirty="0">
                <a:solidFill>
                  <a:srgbClr val="3E5A5C"/>
                </a:solidFill>
                <a:latin typeface="Calibri" pitchFamily="34" charset="0"/>
                <a:ea typeface="Calibri" pitchFamily="34" charset="-122"/>
                <a:cs typeface="Calibri" pitchFamily="34" charset="-120"/>
              </a:rPr>
              <a:t>Spark must remember information from previous data — like a running total or a set of seen keys — to compute the current result correctly.</a:t>
            </a:r>
            <a:endParaRPr lang="en-US" sz="1200" dirty="0"/>
          </a:p>
        </p:txBody>
      </p:sp>
      <p:sp>
        <p:nvSpPr>
          <p:cNvPr id="25" name="Shape 23"/>
          <p:cNvSpPr/>
          <p:nvPr/>
        </p:nvSpPr>
        <p:spPr>
          <a:xfrm>
            <a:off x="6629400" y="3108960"/>
            <a:ext cx="3291840" cy="384048"/>
          </a:xfrm>
          <a:prstGeom prst="roundRect">
            <a:avLst>
              <a:gd name="adj" fmla="val 14286"/>
            </a:avLst>
          </a:prstGeom>
          <a:solidFill>
            <a:srgbClr val="E4F3F2"/>
          </a:solidFill>
          <a:ln/>
        </p:spPr>
      </p:sp>
      <p:sp>
        <p:nvSpPr>
          <p:cNvPr id="26" name="Text 24"/>
          <p:cNvSpPr txBox="1"/>
          <p:nvPr/>
        </p:nvSpPr>
        <p:spPr>
          <a:xfrm>
            <a:off x="6629400" y="3108960"/>
            <a:ext cx="3291840" cy="384048"/>
          </a:xfrm>
          <a:prstGeom prst="rect">
            <a:avLst/>
          </a:prstGeom>
          <a:noFill/>
          <a:ln/>
        </p:spPr>
        <p:txBody>
          <a:bodyPr wrap="square" lIns="0" tIns="0" rIns="0" bIns="0" rtlCol="0" anchor="ctr"/>
          <a:lstStyle/>
          <a:p>
            <a:pPr algn="ctr" indent="0" marL="0">
              <a:buNone/>
            </a:pPr>
            <a:r>
              <a:rPr lang="en-US" sz="1150" b="1" dirty="0">
                <a:solidFill>
                  <a:srgbClr val="00A896"/>
                </a:solidFill>
                <a:latin typeface="Courier New" pitchFamily="34" charset="0"/>
                <a:ea typeface="Courier New" pitchFamily="34" charset="-122"/>
                <a:cs typeface="Courier New" pitchFamily="34" charset="-120"/>
              </a:rPr>
              <a:t>groupBy().sum()</a:t>
            </a:r>
            <a:endParaRPr lang="en-US" sz="1150" dirty="0"/>
          </a:p>
        </p:txBody>
      </p:sp>
      <p:sp>
        <p:nvSpPr>
          <p:cNvPr id="27" name="Shape 25"/>
          <p:cNvSpPr/>
          <p:nvPr/>
        </p:nvSpPr>
        <p:spPr>
          <a:xfrm>
            <a:off x="6629400" y="3566160"/>
            <a:ext cx="3291840" cy="384048"/>
          </a:xfrm>
          <a:prstGeom prst="roundRect">
            <a:avLst>
              <a:gd name="adj" fmla="val 14286"/>
            </a:avLst>
          </a:prstGeom>
          <a:solidFill>
            <a:srgbClr val="E4F3F2"/>
          </a:solidFill>
          <a:ln/>
        </p:spPr>
      </p:sp>
      <p:sp>
        <p:nvSpPr>
          <p:cNvPr id="28" name="Text 26"/>
          <p:cNvSpPr txBox="1"/>
          <p:nvPr/>
        </p:nvSpPr>
        <p:spPr>
          <a:xfrm>
            <a:off x="6629400" y="3566160"/>
            <a:ext cx="3291840" cy="384048"/>
          </a:xfrm>
          <a:prstGeom prst="rect">
            <a:avLst/>
          </a:prstGeom>
          <a:noFill/>
          <a:ln/>
        </p:spPr>
        <p:txBody>
          <a:bodyPr wrap="square" lIns="0" tIns="0" rIns="0" bIns="0" rtlCol="0" anchor="ctr"/>
          <a:lstStyle/>
          <a:p>
            <a:pPr algn="ctr" indent="0" marL="0">
              <a:buNone/>
            </a:pPr>
            <a:r>
              <a:rPr lang="en-US" sz="1150" b="1" dirty="0">
                <a:solidFill>
                  <a:srgbClr val="00A896"/>
                </a:solidFill>
                <a:latin typeface="Courier New" pitchFamily="34" charset="0"/>
                <a:ea typeface="Courier New" pitchFamily="34" charset="-122"/>
                <a:cs typeface="Courier New" pitchFamily="34" charset="-120"/>
              </a:rPr>
              <a:t>groupBy().count()</a:t>
            </a:r>
            <a:endParaRPr lang="en-US" sz="1150" dirty="0"/>
          </a:p>
        </p:txBody>
      </p:sp>
      <p:sp>
        <p:nvSpPr>
          <p:cNvPr id="29" name="Shape 27"/>
          <p:cNvSpPr/>
          <p:nvPr/>
        </p:nvSpPr>
        <p:spPr>
          <a:xfrm>
            <a:off x="6629400" y="4023360"/>
            <a:ext cx="3291840" cy="384048"/>
          </a:xfrm>
          <a:prstGeom prst="roundRect">
            <a:avLst>
              <a:gd name="adj" fmla="val 14286"/>
            </a:avLst>
          </a:prstGeom>
          <a:solidFill>
            <a:srgbClr val="E4F3F2"/>
          </a:solidFill>
          <a:ln/>
        </p:spPr>
      </p:sp>
      <p:sp>
        <p:nvSpPr>
          <p:cNvPr id="30" name="Text 28"/>
          <p:cNvSpPr txBox="1"/>
          <p:nvPr/>
        </p:nvSpPr>
        <p:spPr>
          <a:xfrm>
            <a:off x="6629400" y="4023360"/>
            <a:ext cx="3291840" cy="384048"/>
          </a:xfrm>
          <a:prstGeom prst="rect">
            <a:avLst/>
          </a:prstGeom>
          <a:noFill/>
          <a:ln/>
        </p:spPr>
        <p:txBody>
          <a:bodyPr wrap="square" lIns="0" tIns="0" rIns="0" bIns="0" rtlCol="0" anchor="ctr"/>
          <a:lstStyle/>
          <a:p>
            <a:pPr algn="ctr" indent="0" marL="0">
              <a:buNone/>
            </a:pPr>
            <a:r>
              <a:rPr lang="en-US" sz="1150" b="1" dirty="0">
                <a:solidFill>
                  <a:srgbClr val="00A896"/>
                </a:solidFill>
                <a:latin typeface="Courier New" pitchFamily="34" charset="0"/>
                <a:ea typeface="Courier New" pitchFamily="34" charset="-122"/>
                <a:cs typeface="Courier New" pitchFamily="34" charset="-120"/>
              </a:rPr>
              <a:t>groupBy().agg()</a:t>
            </a:r>
            <a:endParaRPr lang="en-US" sz="1150" dirty="0"/>
          </a:p>
        </p:txBody>
      </p:sp>
      <p:sp>
        <p:nvSpPr>
          <p:cNvPr id="31" name="Shape 29"/>
          <p:cNvSpPr/>
          <p:nvPr/>
        </p:nvSpPr>
        <p:spPr>
          <a:xfrm>
            <a:off x="6629400" y="4480560"/>
            <a:ext cx="3291840" cy="384048"/>
          </a:xfrm>
          <a:prstGeom prst="roundRect">
            <a:avLst>
              <a:gd name="adj" fmla="val 14286"/>
            </a:avLst>
          </a:prstGeom>
          <a:solidFill>
            <a:srgbClr val="E4F3F2"/>
          </a:solidFill>
          <a:ln/>
        </p:spPr>
      </p:sp>
      <p:sp>
        <p:nvSpPr>
          <p:cNvPr id="32" name="Text 30"/>
          <p:cNvSpPr txBox="1"/>
          <p:nvPr/>
        </p:nvSpPr>
        <p:spPr>
          <a:xfrm>
            <a:off x="6629400" y="4480560"/>
            <a:ext cx="3291840" cy="384048"/>
          </a:xfrm>
          <a:prstGeom prst="rect">
            <a:avLst/>
          </a:prstGeom>
          <a:noFill/>
          <a:ln/>
        </p:spPr>
        <p:txBody>
          <a:bodyPr wrap="square" lIns="0" tIns="0" rIns="0" bIns="0" rtlCol="0" anchor="ctr"/>
          <a:lstStyle/>
          <a:p>
            <a:pPr algn="ctr" indent="0" marL="0">
              <a:buNone/>
            </a:pPr>
            <a:r>
              <a:rPr lang="en-US" sz="1150" b="1" dirty="0">
                <a:solidFill>
                  <a:srgbClr val="00A896"/>
                </a:solidFill>
                <a:latin typeface="Courier New" pitchFamily="34" charset="0"/>
                <a:ea typeface="Courier New" pitchFamily="34" charset="-122"/>
                <a:cs typeface="Courier New" pitchFamily="34" charset="-120"/>
              </a:rPr>
              <a:t>window aggregation</a:t>
            </a:r>
            <a:endParaRPr lang="en-US" sz="1150" dirty="0"/>
          </a:p>
        </p:txBody>
      </p:sp>
      <p:sp>
        <p:nvSpPr>
          <p:cNvPr id="33" name="Text 31"/>
          <p:cNvSpPr txBox="1"/>
          <p:nvPr/>
        </p:nvSpPr>
        <p:spPr>
          <a:xfrm>
            <a:off x="6629400" y="5120640"/>
            <a:ext cx="4572000" cy="640080"/>
          </a:xfrm>
          <a:prstGeom prst="rect">
            <a:avLst/>
          </a:prstGeom>
          <a:noFill/>
          <a:ln/>
        </p:spPr>
        <p:txBody>
          <a:bodyPr wrap="square" lIns="0" tIns="0" rIns="0" bIns="0" rtlCol="0" anchor="ctr"/>
          <a:lstStyle/>
          <a:p>
            <a:pPr indent="0" marL="0">
              <a:lnSpc>
                <a:spcPct val="115000"/>
              </a:lnSpc>
              <a:buNone/>
            </a:pPr>
            <a:r>
              <a:rPr lang="en-US" sz="1100" i="1" dirty="0">
                <a:solidFill>
                  <a:srgbClr val="6B8F90"/>
                </a:solidFill>
                <a:latin typeface="Calibri" pitchFamily="34" charset="0"/>
                <a:ea typeface="Calibri" pitchFamily="34" charset="-122"/>
                <a:cs typeface="Calibri" pitchFamily="34" charset="-120"/>
              </a:rPr>
              <a:t>Typical use: running totals, deduplication, sessionization, and any windowed aggregation. This state lives in the checkpoint location.</a:t>
            </a:r>
            <a:endParaRPr lang="en-US" sz="1100" dirty="0"/>
          </a:p>
        </p:txBody>
      </p:sp>
      <p:sp>
        <p:nvSpPr>
          <p:cNvPr id="34" name="Text 32"/>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35" name="Text 33"/>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26"/>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9436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Checkpointing</a:t>
            </a:r>
            <a:endParaRPr lang="en-US" sz="3000" dirty="0"/>
          </a:p>
        </p:txBody>
      </p:sp>
      <p:sp>
        <p:nvSpPr>
          <p:cNvPr id="3" name="Text 1"/>
          <p:cNvSpPr txBox="1"/>
          <p:nvPr/>
        </p:nvSpPr>
        <p:spPr>
          <a:xfrm>
            <a:off x="548640" y="914400"/>
            <a:ext cx="10881360" cy="685800"/>
          </a:xfrm>
          <a:prstGeom prst="rect">
            <a:avLst/>
          </a:prstGeom>
          <a:noFill/>
          <a:ln/>
        </p:spPr>
        <p:txBody>
          <a:bodyPr wrap="square" lIns="0" tIns="0" rIns="0" bIns="0" rtlCol="0" anchor="ctr"/>
          <a:lstStyle/>
          <a:p>
            <a:pPr indent="0" marL="0">
              <a:lnSpc>
                <a:spcPct val="120000"/>
              </a:lnSpc>
              <a:buNone/>
            </a:pPr>
            <a:r>
              <a:rPr lang="en-US" sz="1250" i="1" dirty="0">
                <a:solidFill>
                  <a:srgbClr val="9FC3C4"/>
                </a:solidFill>
                <a:latin typeface="Calibri" pitchFamily="34" charset="0"/>
                <a:ea typeface="Calibri" pitchFamily="34" charset="-122"/>
                <a:cs typeface="Calibri" pitchFamily="34" charset="-120"/>
              </a:rPr>
              <a:t>A location where Spark stores progress &amp; state info for a streaming query — its recovery mechanism. If the query crashes or is restarted, Spark reads the checkpoint and resumes exactly where it left off, instead of starting over or reprocessing data.</a:t>
            </a:r>
            <a:endParaRPr lang="en-US" sz="1250" dirty="0"/>
          </a:p>
        </p:txBody>
      </p:sp>
      <p:sp>
        <p:nvSpPr>
          <p:cNvPr id="4" name="Shape 2"/>
          <p:cNvSpPr/>
          <p:nvPr/>
        </p:nvSpPr>
        <p:spPr>
          <a:xfrm>
            <a:off x="548640" y="1828800"/>
            <a:ext cx="2788920" cy="1737360"/>
          </a:xfrm>
          <a:prstGeom prst="roundRect">
            <a:avLst>
              <a:gd name="adj" fmla="val 5263"/>
            </a:avLst>
          </a:prstGeom>
          <a:solidFill>
            <a:srgbClr val="13303A"/>
          </a:solidFill>
          <a:ln w="12700">
            <a:solidFill>
              <a:srgbClr val="1D4E52"/>
            </a:solidFill>
            <a:prstDash val="solid"/>
          </a:ln>
        </p:spPr>
      </p:sp>
      <p:sp>
        <p:nvSpPr>
          <p:cNvPr id="5" name="Shape 3"/>
          <p:cNvSpPr/>
          <p:nvPr/>
        </p:nvSpPr>
        <p:spPr>
          <a:xfrm>
            <a:off x="777240" y="2057400"/>
            <a:ext cx="457200" cy="457200"/>
          </a:xfrm>
          <a:prstGeom prst="ellipse">
            <a:avLst/>
          </a:prstGeom>
          <a:solidFill>
            <a:srgbClr val="02C39A"/>
          </a:solidFill>
          <a:ln/>
        </p:spPr>
      </p:sp>
      <p:sp>
        <p:nvSpPr>
          <p:cNvPr id="6" name="Text 4"/>
          <p:cNvSpPr txBox="1"/>
          <p:nvPr/>
        </p:nvSpPr>
        <p:spPr>
          <a:xfrm>
            <a:off x="777240" y="2057400"/>
            <a:ext cx="457200" cy="45720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371600" y="2029968"/>
            <a:ext cx="1783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Commits</a:t>
            </a:r>
            <a:endParaRPr lang="en-US" sz="1500" dirty="0"/>
          </a:p>
        </p:txBody>
      </p:sp>
      <p:sp>
        <p:nvSpPr>
          <p:cNvPr id="8" name="Text 6"/>
          <p:cNvSpPr txBox="1"/>
          <p:nvPr/>
        </p:nvSpPr>
        <p:spPr>
          <a:xfrm>
            <a:off x="777240" y="2606040"/>
            <a:ext cx="2331720" cy="868680"/>
          </a:xfrm>
          <a:prstGeom prst="rect">
            <a:avLst/>
          </a:prstGeom>
          <a:noFill/>
          <a:ln/>
        </p:spPr>
        <p:txBody>
          <a:bodyPr wrap="square" lIns="0" tIns="0" rIns="0" bIns="0" rtlCol="0" anchor="ctr"/>
          <a:lstStyle/>
          <a:p>
            <a:pPr indent="0" marL="0">
              <a:lnSpc>
                <a:spcPct val="115000"/>
              </a:lnSpc>
              <a:buNone/>
            </a:pPr>
            <a:r>
              <a:rPr lang="en-US" sz="1100" dirty="0">
                <a:solidFill>
                  <a:srgbClr val="9FC3C4"/>
                </a:solidFill>
                <a:latin typeface="Calibri" pitchFamily="34" charset="0"/>
                <a:ea typeface="Calibri" pitchFamily="34" charset="-122"/>
                <a:cs typeface="Calibri" pitchFamily="34" charset="-120"/>
              </a:rPr>
              <a:t>Information about successfully committed micro-batches — which batches finished.</a:t>
            </a:r>
            <a:endParaRPr lang="en-US" sz="1100" dirty="0"/>
          </a:p>
        </p:txBody>
      </p:sp>
      <p:sp>
        <p:nvSpPr>
          <p:cNvPr id="9" name="Shape 7"/>
          <p:cNvSpPr/>
          <p:nvPr/>
        </p:nvSpPr>
        <p:spPr>
          <a:xfrm>
            <a:off x="3566160" y="1828800"/>
            <a:ext cx="2788920" cy="1737360"/>
          </a:xfrm>
          <a:prstGeom prst="roundRect">
            <a:avLst>
              <a:gd name="adj" fmla="val 5263"/>
            </a:avLst>
          </a:prstGeom>
          <a:solidFill>
            <a:srgbClr val="13303A"/>
          </a:solidFill>
          <a:ln w="12700">
            <a:solidFill>
              <a:srgbClr val="1D4E52"/>
            </a:solidFill>
            <a:prstDash val="solid"/>
          </a:ln>
        </p:spPr>
      </p:sp>
      <p:sp>
        <p:nvSpPr>
          <p:cNvPr id="10" name="Shape 8"/>
          <p:cNvSpPr/>
          <p:nvPr/>
        </p:nvSpPr>
        <p:spPr>
          <a:xfrm>
            <a:off x="3794760" y="2057400"/>
            <a:ext cx="457200" cy="457200"/>
          </a:xfrm>
          <a:prstGeom prst="ellipse">
            <a:avLst/>
          </a:prstGeom>
          <a:solidFill>
            <a:srgbClr val="02C39A"/>
          </a:solidFill>
          <a:ln/>
        </p:spPr>
      </p:sp>
      <p:sp>
        <p:nvSpPr>
          <p:cNvPr id="11" name="Text 9"/>
          <p:cNvSpPr txBox="1"/>
          <p:nvPr/>
        </p:nvSpPr>
        <p:spPr>
          <a:xfrm>
            <a:off x="3794760" y="2057400"/>
            <a:ext cx="457200" cy="45720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389120" y="2029968"/>
            <a:ext cx="1783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Offsets</a:t>
            </a:r>
            <a:endParaRPr lang="en-US" sz="1500" dirty="0"/>
          </a:p>
        </p:txBody>
      </p:sp>
      <p:sp>
        <p:nvSpPr>
          <p:cNvPr id="13" name="Text 11"/>
          <p:cNvSpPr txBox="1"/>
          <p:nvPr/>
        </p:nvSpPr>
        <p:spPr>
          <a:xfrm>
            <a:off x="3794760" y="2606040"/>
            <a:ext cx="2331720" cy="868680"/>
          </a:xfrm>
          <a:prstGeom prst="rect">
            <a:avLst/>
          </a:prstGeom>
          <a:noFill/>
          <a:ln/>
        </p:spPr>
        <p:txBody>
          <a:bodyPr wrap="square" lIns="0" tIns="0" rIns="0" bIns="0" rtlCol="0" anchor="ctr"/>
          <a:lstStyle/>
          <a:p>
            <a:pPr indent="0" marL="0">
              <a:lnSpc>
                <a:spcPct val="115000"/>
              </a:lnSpc>
              <a:buNone/>
            </a:pPr>
            <a:r>
              <a:rPr lang="en-US" sz="1100" dirty="0">
                <a:solidFill>
                  <a:srgbClr val="9FC3C4"/>
                </a:solidFill>
                <a:latin typeface="Calibri" pitchFamily="34" charset="0"/>
                <a:ea typeface="Calibri" pitchFamily="34" charset="-122"/>
                <a:cs typeface="Calibri" pitchFamily="34" charset="-120"/>
              </a:rPr>
              <a:t>Offset/progress information for the source — how far Spark has read.</a:t>
            </a:r>
            <a:endParaRPr lang="en-US" sz="1100" dirty="0"/>
          </a:p>
        </p:txBody>
      </p:sp>
      <p:sp>
        <p:nvSpPr>
          <p:cNvPr id="14" name="Shape 12"/>
          <p:cNvSpPr/>
          <p:nvPr/>
        </p:nvSpPr>
        <p:spPr>
          <a:xfrm>
            <a:off x="548640" y="3794760"/>
            <a:ext cx="2788920" cy="1737360"/>
          </a:xfrm>
          <a:prstGeom prst="roundRect">
            <a:avLst>
              <a:gd name="adj" fmla="val 5263"/>
            </a:avLst>
          </a:prstGeom>
          <a:solidFill>
            <a:srgbClr val="13303A"/>
          </a:solidFill>
          <a:ln w="12700">
            <a:solidFill>
              <a:srgbClr val="1D4E52"/>
            </a:solidFill>
            <a:prstDash val="solid"/>
          </a:ln>
        </p:spPr>
      </p:sp>
      <p:sp>
        <p:nvSpPr>
          <p:cNvPr id="15" name="Shape 13"/>
          <p:cNvSpPr/>
          <p:nvPr/>
        </p:nvSpPr>
        <p:spPr>
          <a:xfrm>
            <a:off x="777240" y="4023360"/>
            <a:ext cx="457200" cy="457200"/>
          </a:xfrm>
          <a:prstGeom prst="ellipse">
            <a:avLst/>
          </a:prstGeom>
          <a:solidFill>
            <a:srgbClr val="02C39A"/>
          </a:solidFill>
          <a:ln/>
        </p:spPr>
      </p:sp>
      <p:sp>
        <p:nvSpPr>
          <p:cNvPr id="16" name="Text 14"/>
          <p:cNvSpPr txBox="1"/>
          <p:nvPr/>
        </p:nvSpPr>
        <p:spPr>
          <a:xfrm>
            <a:off x="777240" y="4023360"/>
            <a:ext cx="457200" cy="45720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371600" y="3995928"/>
            <a:ext cx="1783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Source</a:t>
            </a:r>
            <a:endParaRPr lang="en-US" sz="1500" dirty="0"/>
          </a:p>
        </p:txBody>
      </p:sp>
      <p:sp>
        <p:nvSpPr>
          <p:cNvPr id="18" name="Text 16"/>
          <p:cNvSpPr txBox="1"/>
          <p:nvPr/>
        </p:nvSpPr>
        <p:spPr>
          <a:xfrm>
            <a:off x="777240" y="4572000"/>
            <a:ext cx="2331720" cy="868680"/>
          </a:xfrm>
          <a:prstGeom prst="rect">
            <a:avLst/>
          </a:prstGeom>
          <a:noFill/>
          <a:ln/>
        </p:spPr>
        <p:txBody>
          <a:bodyPr wrap="square" lIns="0" tIns="0" rIns="0" bIns="0" rtlCol="0" anchor="ctr"/>
          <a:lstStyle/>
          <a:p>
            <a:pPr indent="0" marL="0">
              <a:lnSpc>
                <a:spcPct val="115000"/>
              </a:lnSpc>
              <a:buNone/>
            </a:pPr>
            <a:r>
              <a:rPr lang="en-US" sz="1100" dirty="0">
                <a:solidFill>
                  <a:srgbClr val="9FC3C4"/>
                </a:solidFill>
                <a:latin typeface="Calibri" pitchFamily="34" charset="0"/>
                <a:ea typeface="Calibri" pitchFamily="34" charset="-122"/>
                <a:cs typeface="Calibri" pitchFamily="34" charset="-120"/>
              </a:rPr>
              <a:t>Information about the streaming source(s) — where it's reading data from.</a:t>
            </a:r>
            <a:endParaRPr lang="en-US" sz="1100" dirty="0"/>
          </a:p>
        </p:txBody>
      </p:sp>
      <p:sp>
        <p:nvSpPr>
          <p:cNvPr id="19" name="Shape 17"/>
          <p:cNvSpPr/>
          <p:nvPr/>
        </p:nvSpPr>
        <p:spPr>
          <a:xfrm>
            <a:off x="3566160" y="3794760"/>
            <a:ext cx="2788920" cy="1737360"/>
          </a:xfrm>
          <a:prstGeom prst="roundRect">
            <a:avLst>
              <a:gd name="adj" fmla="val 5263"/>
            </a:avLst>
          </a:prstGeom>
          <a:solidFill>
            <a:srgbClr val="13303A"/>
          </a:solidFill>
          <a:ln w="12700">
            <a:solidFill>
              <a:srgbClr val="1D4E52"/>
            </a:solidFill>
            <a:prstDash val="solid"/>
          </a:ln>
        </p:spPr>
      </p:sp>
      <p:sp>
        <p:nvSpPr>
          <p:cNvPr id="20" name="Shape 18"/>
          <p:cNvSpPr/>
          <p:nvPr/>
        </p:nvSpPr>
        <p:spPr>
          <a:xfrm>
            <a:off x="3794760" y="4023360"/>
            <a:ext cx="457200" cy="457200"/>
          </a:xfrm>
          <a:prstGeom prst="ellipse">
            <a:avLst/>
          </a:prstGeom>
          <a:solidFill>
            <a:srgbClr val="02C39A"/>
          </a:solidFill>
          <a:ln/>
        </p:spPr>
      </p:sp>
      <p:sp>
        <p:nvSpPr>
          <p:cNvPr id="21" name="Text 19"/>
          <p:cNvSpPr txBox="1"/>
          <p:nvPr/>
        </p:nvSpPr>
        <p:spPr>
          <a:xfrm>
            <a:off x="3794760" y="4023360"/>
            <a:ext cx="457200" cy="45720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4389120" y="3995928"/>
            <a:ext cx="178308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State</a:t>
            </a:r>
            <a:endParaRPr lang="en-US" sz="1500" dirty="0"/>
          </a:p>
        </p:txBody>
      </p:sp>
      <p:sp>
        <p:nvSpPr>
          <p:cNvPr id="23" name="Text 21"/>
          <p:cNvSpPr txBox="1"/>
          <p:nvPr/>
        </p:nvSpPr>
        <p:spPr>
          <a:xfrm>
            <a:off x="3794760" y="4572000"/>
            <a:ext cx="2331720" cy="868680"/>
          </a:xfrm>
          <a:prstGeom prst="rect">
            <a:avLst/>
          </a:prstGeom>
          <a:noFill/>
          <a:ln/>
        </p:spPr>
        <p:txBody>
          <a:bodyPr wrap="square" lIns="0" tIns="0" rIns="0" bIns="0" rtlCol="0" anchor="ctr"/>
          <a:lstStyle/>
          <a:p>
            <a:pPr indent="0" marL="0">
              <a:lnSpc>
                <a:spcPct val="115000"/>
              </a:lnSpc>
              <a:buNone/>
            </a:pPr>
            <a:r>
              <a:rPr lang="en-US" sz="1100" dirty="0">
                <a:solidFill>
                  <a:srgbClr val="9FC3C4"/>
                </a:solidFill>
                <a:latin typeface="Calibri" pitchFamily="34" charset="0"/>
                <a:ea typeface="Calibri" pitchFamily="34" charset="-122"/>
                <a:cs typeface="Calibri" pitchFamily="34" charset="-120"/>
              </a:rPr>
              <a:t>Stateful operator state — what previous state Spark needs to remember.</a:t>
            </a:r>
            <a:endParaRPr lang="en-US" sz="1100" dirty="0"/>
          </a:p>
        </p:txBody>
      </p:sp>
      <p:sp>
        <p:nvSpPr>
          <p:cNvPr id="24" name="Shape 22"/>
          <p:cNvSpPr/>
          <p:nvPr/>
        </p:nvSpPr>
        <p:spPr>
          <a:xfrm>
            <a:off x="6720840" y="1828800"/>
            <a:ext cx="4892040" cy="2423160"/>
          </a:xfrm>
          <a:prstGeom prst="roundRect">
            <a:avLst>
              <a:gd name="adj" fmla="val 2264"/>
            </a:avLst>
          </a:prstGeom>
          <a:solidFill>
            <a:srgbClr val="0E2A31"/>
          </a:solidFill>
          <a:ln w="12700">
            <a:solidFill>
              <a:srgbClr val="1D4E52"/>
            </a:solidFill>
            <a:prstDash val="solid"/>
          </a:ln>
        </p:spPr>
      </p:sp>
      <p:sp>
        <p:nvSpPr>
          <p:cNvPr id="25" name="Text 23"/>
          <p:cNvSpPr txBox="1"/>
          <p:nvPr/>
        </p:nvSpPr>
        <p:spPr>
          <a:xfrm>
            <a:off x="6949440" y="1975104"/>
            <a:ext cx="4434840" cy="2130552"/>
          </a:xfrm>
          <a:prstGeom prst="rect">
            <a:avLst/>
          </a:prstGeom>
          <a:noFill/>
          <a:ln/>
        </p:spPr>
        <p:txBody>
          <a:bodyPr wrap="square" lIns="0" tIns="0" rIns="0" bIns="0" rtlCol="0" anchor="t"/>
          <a:lstStyle/>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query = (</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df.writeStream</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.format("parquet")</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.option("path",</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"/data/output")</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.option("checkpointLocation",</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"/data/checkpoint")</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    .start()</a:t>
            </a:r>
            <a:endParaRPr lang="en-US" sz="1150" dirty="0"/>
          </a:p>
          <a:p>
            <a:pPr indent="0" marL="0">
              <a:lnSpc>
                <a:spcPct val="112000"/>
              </a:lnSpc>
              <a:buNone/>
            </a:pPr>
            <a:r>
              <a:rPr lang="en-US" sz="1150" dirty="0">
                <a:solidFill>
                  <a:srgbClr val="BFEFE0"/>
                </a:solidFill>
                <a:latin typeface="Courier New" pitchFamily="34" charset="0"/>
                <a:ea typeface="Courier New" pitchFamily="34" charset="-122"/>
                <a:cs typeface="Courier New" pitchFamily="34" charset="-120"/>
              </a:rPr>
              <a:t>)</a:t>
            </a:r>
            <a:endParaRPr lang="en-US" sz="1150" dirty="0"/>
          </a:p>
        </p:txBody>
      </p:sp>
      <p:sp>
        <p:nvSpPr>
          <p:cNvPr id="26" name="Shape 24"/>
          <p:cNvSpPr/>
          <p:nvPr/>
        </p:nvSpPr>
        <p:spPr>
          <a:xfrm>
            <a:off x="6720840" y="4434840"/>
            <a:ext cx="4892040" cy="960120"/>
          </a:xfrm>
          <a:prstGeom prst="roundRect">
            <a:avLst>
              <a:gd name="adj" fmla="val 7619"/>
            </a:avLst>
          </a:prstGeom>
          <a:solidFill>
            <a:srgbClr val="0F262D"/>
          </a:solidFill>
          <a:ln w="12700">
            <a:solidFill>
              <a:srgbClr val="1D4E52"/>
            </a:solidFill>
            <a:prstDash val="solid"/>
          </a:ln>
        </p:spPr>
      </p:sp>
      <p:sp>
        <p:nvSpPr>
          <p:cNvPr id="27" name="Text 25"/>
          <p:cNvSpPr txBox="1"/>
          <p:nvPr/>
        </p:nvSpPr>
        <p:spPr>
          <a:xfrm>
            <a:off x="6949440" y="4526280"/>
            <a:ext cx="4434840" cy="777240"/>
          </a:xfrm>
          <a:prstGeom prst="rect">
            <a:avLst/>
          </a:prstGeom>
          <a:noFill/>
          <a:ln/>
        </p:spPr>
        <p:txBody>
          <a:bodyPr wrap="square" lIns="0" tIns="0" rIns="0" bIns="0" rtlCol="0" anchor="ctr"/>
          <a:lstStyle/>
          <a:p>
            <a:pPr indent="0" marL="0">
              <a:lnSpc>
                <a:spcPct val="120000"/>
              </a:lnSpc>
              <a:buNone/>
            </a:pPr>
            <a:r>
              <a:rPr lang="en-US" sz="1050" i="1" dirty="0">
                <a:solidFill>
                  <a:srgbClr val="02C39A"/>
                </a:solidFill>
                <a:latin typeface="Calibri" pitchFamily="34" charset="0"/>
                <a:ea typeface="Calibri" pitchFamily="34" charset="-122"/>
                <a:cs typeface="Calibri" pitchFamily="34" charset="-120"/>
              </a:rPr>
              <a:t>Best practice: never reuse a checkpoint directory across two different queries — the offsets and state won't match the new logic, causing incorrect or failed restarts.</a:t>
            </a:r>
            <a:endParaRPr lang="en-US" sz="1050" dirty="0"/>
          </a:p>
        </p:txBody>
      </p:sp>
      <p:sp>
        <p:nvSpPr>
          <p:cNvPr id="28" name="Text 26"/>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29" name="Text 27"/>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94360"/>
          </a:xfrm>
          <a:prstGeom prst="rect">
            <a:avLst/>
          </a:prstGeom>
          <a:noFill/>
          <a:ln/>
        </p:spPr>
        <p:txBody>
          <a:bodyPr wrap="square" lIns="0" tIns="0" rIns="0" bIns="0" rtlCol="0" anchor="ctr"/>
          <a:lstStyle/>
          <a:p>
            <a:pPr indent="0" marL="0">
              <a:buNone/>
            </a:pPr>
            <a:r>
              <a:rPr lang="en-US" sz="3000" b="1" dirty="0">
                <a:solidFill>
                  <a:srgbClr val="0B1F26"/>
                </a:solidFill>
                <a:latin typeface="Century Schoolbook" pitchFamily="34" charset="0"/>
                <a:ea typeface="Century Schoolbook" pitchFamily="34" charset="-122"/>
                <a:cs typeface="Century Schoolbook" pitchFamily="34" charset="-120"/>
              </a:rPr>
              <a:t>Output Modes</a:t>
            </a:r>
            <a:endParaRPr lang="en-US" sz="3000" dirty="0"/>
          </a:p>
        </p:txBody>
      </p:sp>
      <p:sp>
        <p:nvSpPr>
          <p:cNvPr id="3" name="Text 1"/>
          <p:cNvSpPr txBox="1"/>
          <p:nvPr/>
        </p:nvSpPr>
        <p:spPr>
          <a:xfrm>
            <a:off x="548640" y="960120"/>
            <a:ext cx="9601200" cy="411480"/>
          </a:xfrm>
          <a:prstGeom prst="rect">
            <a:avLst/>
          </a:prstGeom>
          <a:noFill/>
          <a:ln/>
        </p:spPr>
        <p:txBody>
          <a:bodyPr wrap="square" lIns="0" tIns="0" rIns="0" bIns="0" rtlCol="0" anchor="ctr"/>
          <a:lstStyle/>
          <a:p>
            <a:pPr indent="0" marL="0">
              <a:buNone/>
            </a:pPr>
            <a:r>
              <a:rPr lang="en-US" sz="1300" i="1" dirty="0">
                <a:solidFill>
                  <a:srgbClr val="5A7A7C"/>
                </a:solidFill>
                <a:latin typeface="Calibri" pitchFamily="34" charset="0"/>
                <a:ea typeface="Calibri" pitchFamily="34" charset="-122"/>
                <a:cs typeface="Calibri" pitchFamily="34" charset="-120"/>
              </a:rPr>
              <a:t>Tells Spark which rows should be written to the sink every time the streaming query produces an updated result.</a:t>
            </a:r>
            <a:endParaRPr lang="en-US" sz="1300" dirty="0"/>
          </a:p>
        </p:txBody>
      </p:sp>
      <p:sp>
        <p:nvSpPr>
          <p:cNvPr id="4" name="Shape 2"/>
          <p:cNvSpPr/>
          <p:nvPr/>
        </p:nvSpPr>
        <p:spPr>
          <a:xfrm>
            <a:off x="548640" y="1600200"/>
            <a:ext cx="3520440" cy="4434840"/>
          </a:xfrm>
          <a:prstGeom prst="roundRect">
            <a:avLst>
              <a:gd name="adj" fmla="val 2597"/>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5" name="Shape 3"/>
          <p:cNvSpPr/>
          <p:nvPr/>
        </p:nvSpPr>
        <p:spPr>
          <a:xfrm>
            <a:off x="548640" y="1600200"/>
            <a:ext cx="3520440" cy="502920"/>
          </a:xfrm>
          <a:prstGeom prst="roundRect">
            <a:avLst>
              <a:gd name="adj" fmla="val 18182"/>
            </a:avLst>
          </a:prstGeom>
          <a:solidFill>
            <a:srgbClr val="028090"/>
          </a:solidFill>
          <a:ln/>
        </p:spPr>
      </p:sp>
      <p:sp>
        <p:nvSpPr>
          <p:cNvPr id="6" name="Shape 4"/>
          <p:cNvSpPr/>
          <p:nvPr/>
        </p:nvSpPr>
        <p:spPr>
          <a:xfrm>
            <a:off x="548640" y="1874520"/>
            <a:ext cx="3520440" cy="228600"/>
          </a:xfrm>
          <a:prstGeom prst="rect">
            <a:avLst/>
          </a:prstGeom>
          <a:solidFill>
            <a:srgbClr val="028090"/>
          </a:solidFill>
          <a:ln/>
        </p:spPr>
      </p:sp>
      <p:sp>
        <p:nvSpPr>
          <p:cNvPr id="7" name="Text 5"/>
          <p:cNvSpPr txBox="1"/>
          <p:nvPr/>
        </p:nvSpPr>
        <p:spPr>
          <a:xfrm>
            <a:off x="548640" y="1600200"/>
            <a:ext cx="35204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Append</a:t>
            </a:r>
            <a:endParaRPr lang="en-US" sz="1600" dirty="0"/>
          </a:p>
        </p:txBody>
      </p:sp>
      <p:sp>
        <p:nvSpPr>
          <p:cNvPr id="8" name="Text 6"/>
          <p:cNvSpPr txBox="1"/>
          <p:nvPr/>
        </p:nvSpPr>
        <p:spPr>
          <a:xfrm>
            <a:off x="822960" y="2331720"/>
            <a:ext cx="2971800" cy="1691640"/>
          </a:xfrm>
          <a:prstGeom prst="rect">
            <a:avLst/>
          </a:prstGeom>
          <a:noFill/>
          <a:ln/>
        </p:spPr>
        <p:txBody>
          <a:bodyPr wrap="square" lIns="0" tIns="0" rIns="0" bIns="0" rtlCol="0" anchor="ctr"/>
          <a:lstStyle/>
          <a:p>
            <a:pPr indent="0" marL="0">
              <a:lnSpc>
                <a:spcPct val="122000"/>
              </a:lnSpc>
              <a:buNone/>
            </a:pPr>
            <a:r>
              <a:rPr lang="en-US" sz="1200" dirty="0">
                <a:solidFill>
                  <a:srgbClr val="3E5A5C"/>
                </a:solidFill>
                <a:latin typeface="Calibri" pitchFamily="34" charset="0"/>
                <a:ea typeface="Calibri" pitchFamily="34" charset="-122"/>
                <a:cs typeface="Calibri" pitchFamily="34" charset="-120"/>
              </a:rPr>
              <a:t>Only new rows that are finalized are written to the output. Spark never rewrites old output rows once they've been emitted.</a:t>
            </a:r>
            <a:endParaRPr lang="en-US" sz="1200" dirty="0"/>
          </a:p>
        </p:txBody>
      </p:sp>
      <p:sp>
        <p:nvSpPr>
          <p:cNvPr id="9" name="Shape 7"/>
          <p:cNvSpPr/>
          <p:nvPr/>
        </p:nvSpPr>
        <p:spPr>
          <a:xfrm>
            <a:off x="822960" y="4114800"/>
            <a:ext cx="2971800" cy="0"/>
          </a:xfrm>
          <a:prstGeom prst="line">
            <a:avLst/>
          </a:prstGeom>
          <a:noFill/>
          <a:ln w="12700">
            <a:solidFill>
              <a:srgbClr val="CFE4E4"/>
            </a:solidFill>
            <a:prstDash val="solid"/>
          </a:ln>
        </p:spPr>
      </p:sp>
      <p:sp>
        <p:nvSpPr>
          <p:cNvPr id="10" name="Text 8"/>
          <p:cNvSpPr txBox="1"/>
          <p:nvPr/>
        </p:nvSpPr>
        <p:spPr>
          <a:xfrm>
            <a:off x="822960" y="4251960"/>
            <a:ext cx="2971800" cy="274320"/>
          </a:xfrm>
          <a:prstGeom prst="rect">
            <a:avLst/>
          </a:prstGeom>
          <a:noFill/>
          <a:ln/>
        </p:spPr>
        <p:txBody>
          <a:bodyPr wrap="square" lIns="0" tIns="0" rIns="0" bIns="0" rtlCol="0" anchor="ctr"/>
          <a:lstStyle/>
          <a:p>
            <a:pPr indent="0" marL="0">
              <a:buNone/>
            </a:pPr>
            <a:r>
              <a:rPr lang="en-US" sz="950" b="1" spc="100" kern="0" dirty="0">
                <a:solidFill>
                  <a:srgbClr val="9FB8B9"/>
                </a:solidFill>
                <a:latin typeface="Calibri" pitchFamily="34" charset="0"/>
                <a:ea typeface="Calibri" pitchFamily="34" charset="-122"/>
                <a:cs typeface="Calibri" pitchFamily="34" charset="-120"/>
              </a:rPr>
              <a:t>BEST FOR</a:t>
            </a:r>
            <a:endParaRPr lang="en-US" sz="950" dirty="0"/>
          </a:p>
        </p:txBody>
      </p:sp>
      <p:sp>
        <p:nvSpPr>
          <p:cNvPr id="11" name="Text 9"/>
          <p:cNvSpPr txBox="1"/>
          <p:nvPr/>
        </p:nvSpPr>
        <p:spPr>
          <a:xfrm>
            <a:off x="822960" y="4526280"/>
            <a:ext cx="2971800" cy="1280160"/>
          </a:xfrm>
          <a:prstGeom prst="rect">
            <a:avLst/>
          </a:prstGeom>
          <a:noFill/>
          <a:ln/>
        </p:spPr>
        <p:txBody>
          <a:bodyPr wrap="square" lIns="0" tIns="0" rIns="0" bIns="0" rtlCol="0" anchor="ctr"/>
          <a:lstStyle/>
          <a:p>
            <a:pPr indent="0" marL="0">
              <a:lnSpc>
                <a:spcPct val="120000"/>
              </a:lnSpc>
              <a:buNone/>
            </a:pPr>
            <a:r>
              <a:rPr lang="en-US" sz="1150" b="1" i="1" dirty="0">
                <a:solidFill>
                  <a:srgbClr val="028090"/>
                </a:solidFill>
                <a:latin typeface="Calibri" pitchFamily="34" charset="0"/>
                <a:ea typeface="Calibri" pitchFamily="34" charset="-122"/>
                <a:cs typeface="Calibri" pitchFamily="34" charset="-120"/>
              </a:rPr>
              <a:t>Stateless transformations; sinks like files, Kafka</a:t>
            </a:r>
            <a:endParaRPr lang="en-US" sz="1150" dirty="0"/>
          </a:p>
        </p:txBody>
      </p:sp>
      <p:sp>
        <p:nvSpPr>
          <p:cNvPr id="12" name="Shape 10"/>
          <p:cNvSpPr/>
          <p:nvPr/>
        </p:nvSpPr>
        <p:spPr>
          <a:xfrm>
            <a:off x="4297680" y="1600200"/>
            <a:ext cx="3520440" cy="4434840"/>
          </a:xfrm>
          <a:prstGeom prst="roundRect">
            <a:avLst>
              <a:gd name="adj" fmla="val 2597"/>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13" name="Shape 11"/>
          <p:cNvSpPr/>
          <p:nvPr/>
        </p:nvSpPr>
        <p:spPr>
          <a:xfrm>
            <a:off x="4297680" y="1600200"/>
            <a:ext cx="3520440" cy="502920"/>
          </a:xfrm>
          <a:prstGeom prst="roundRect">
            <a:avLst>
              <a:gd name="adj" fmla="val 18182"/>
            </a:avLst>
          </a:prstGeom>
          <a:solidFill>
            <a:srgbClr val="00A896"/>
          </a:solidFill>
          <a:ln/>
        </p:spPr>
      </p:sp>
      <p:sp>
        <p:nvSpPr>
          <p:cNvPr id="14" name="Shape 12"/>
          <p:cNvSpPr/>
          <p:nvPr/>
        </p:nvSpPr>
        <p:spPr>
          <a:xfrm>
            <a:off x="4297680" y="1874520"/>
            <a:ext cx="3520440" cy="228600"/>
          </a:xfrm>
          <a:prstGeom prst="rect">
            <a:avLst/>
          </a:prstGeom>
          <a:solidFill>
            <a:srgbClr val="00A896"/>
          </a:solidFill>
          <a:ln/>
        </p:spPr>
      </p:sp>
      <p:sp>
        <p:nvSpPr>
          <p:cNvPr id="15" name="Text 13"/>
          <p:cNvSpPr txBox="1"/>
          <p:nvPr/>
        </p:nvSpPr>
        <p:spPr>
          <a:xfrm>
            <a:off x="4297680" y="1600200"/>
            <a:ext cx="35204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Complete</a:t>
            </a:r>
            <a:endParaRPr lang="en-US" sz="1600" dirty="0"/>
          </a:p>
        </p:txBody>
      </p:sp>
      <p:sp>
        <p:nvSpPr>
          <p:cNvPr id="16" name="Text 14"/>
          <p:cNvSpPr txBox="1"/>
          <p:nvPr/>
        </p:nvSpPr>
        <p:spPr>
          <a:xfrm>
            <a:off x="4572000" y="2331720"/>
            <a:ext cx="2971800" cy="1691640"/>
          </a:xfrm>
          <a:prstGeom prst="rect">
            <a:avLst/>
          </a:prstGeom>
          <a:noFill/>
          <a:ln/>
        </p:spPr>
        <p:txBody>
          <a:bodyPr wrap="square" lIns="0" tIns="0" rIns="0" bIns="0" rtlCol="0" anchor="ctr"/>
          <a:lstStyle/>
          <a:p>
            <a:pPr indent="0" marL="0">
              <a:lnSpc>
                <a:spcPct val="122000"/>
              </a:lnSpc>
              <a:buNone/>
            </a:pPr>
            <a:r>
              <a:rPr lang="en-US" sz="1200" dirty="0">
                <a:solidFill>
                  <a:srgbClr val="3E5A5C"/>
                </a:solidFill>
                <a:latin typeface="Calibri" pitchFamily="34" charset="0"/>
                <a:ea typeface="Calibri" pitchFamily="34" charset="-122"/>
                <a:cs typeface="Calibri" pitchFamily="34" charset="-120"/>
              </a:rPr>
              <a:t>The entire current result table is rewritten to the sink every time the result changes — not just the delta.</a:t>
            </a:r>
            <a:endParaRPr lang="en-US" sz="1200" dirty="0"/>
          </a:p>
        </p:txBody>
      </p:sp>
      <p:sp>
        <p:nvSpPr>
          <p:cNvPr id="17" name="Shape 15"/>
          <p:cNvSpPr/>
          <p:nvPr/>
        </p:nvSpPr>
        <p:spPr>
          <a:xfrm>
            <a:off x="4572000" y="4114800"/>
            <a:ext cx="2971800" cy="0"/>
          </a:xfrm>
          <a:prstGeom prst="line">
            <a:avLst/>
          </a:prstGeom>
          <a:noFill/>
          <a:ln w="12700">
            <a:solidFill>
              <a:srgbClr val="CFE4E4"/>
            </a:solidFill>
            <a:prstDash val="solid"/>
          </a:ln>
        </p:spPr>
      </p:sp>
      <p:sp>
        <p:nvSpPr>
          <p:cNvPr id="18" name="Text 16"/>
          <p:cNvSpPr txBox="1"/>
          <p:nvPr/>
        </p:nvSpPr>
        <p:spPr>
          <a:xfrm>
            <a:off x="4572000" y="4251960"/>
            <a:ext cx="2971800" cy="274320"/>
          </a:xfrm>
          <a:prstGeom prst="rect">
            <a:avLst/>
          </a:prstGeom>
          <a:noFill/>
          <a:ln/>
        </p:spPr>
        <p:txBody>
          <a:bodyPr wrap="square" lIns="0" tIns="0" rIns="0" bIns="0" rtlCol="0" anchor="ctr"/>
          <a:lstStyle/>
          <a:p>
            <a:pPr indent="0" marL="0">
              <a:buNone/>
            </a:pPr>
            <a:r>
              <a:rPr lang="en-US" sz="950" b="1" spc="100" kern="0" dirty="0">
                <a:solidFill>
                  <a:srgbClr val="9FB8B9"/>
                </a:solidFill>
                <a:latin typeface="Calibri" pitchFamily="34" charset="0"/>
                <a:ea typeface="Calibri" pitchFamily="34" charset="-122"/>
                <a:cs typeface="Calibri" pitchFamily="34" charset="-120"/>
              </a:rPr>
              <a:t>BEST FOR</a:t>
            </a:r>
            <a:endParaRPr lang="en-US" sz="950" dirty="0"/>
          </a:p>
        </p:txBody>
      </p:sp>
      <p:sp>
        <p:nvSpPr>
          <p:cNvPr id="19" name="Text 17"/>
          <p:cNvSpPr txBox="1"/>
          <p:nvPr/>
        </p:nvSpPr>
        <p:spPr>
          <a:xfrm>
            <a:off x="4572000" y="4526280"/>
            <a:ext cx="2971800" cy="1280160"/>
          </a:xfrm>
          <a:prstGeom prst="rect">
            <a:avLst/>
          </a:prstGeom>
          <a:noFill/>
          <a:ln/>
        </p:spPr>
        <p:txBody>
          <a:bodyPr wrap="square" lIns="0" tIns="0" rIns="0" bIns="0" rtlCol="0" anchor="ctr"/>
          <a:lstStyle/>
          <a:p>
            <a:pPr indent="0" marL="0">
              <a:lnSpc>
                <a:spcPct val="120000"/>
              </a:lnSpc>
              <a:buNone/>
            </a:pPr>
            <a:r>
              <a:rPr lang="en-US" sz="1150" b="1" i="1" dirty="0">
                <a:solidFill>
                  <a:srgbClr val="00A896"/>
                </a:solidFill>
                <a:latin typeface="Calibri" pitchFamily="34" charset="0"/>
                <a:ea typeface="Calibri" pitchFamily="34" charset="-122"/>
                <a:cs typeface="Calibri" pitchFamily="34" charset="-120"/>
              </a:rPr>
              <a:t>Stateful aggregations with small result sets</a:t>
            </a:r>
            <a:endParaRPr lang="en-US" sz="1150" dirty="0"/>
          </a:p>
        </p:txBody>
      </p:sp>
      <p:sp>
        <p:nvSpPr>
          <p:cNvPr id="20" name="Shape 18"/>
          <p:cNvSpPr/>
          <p:nvPr/>
        </p:nvSpPr>
        <p:spPr>
          <a:xfrm>
            <a:off x="8046720" y="1600200"/>
            <a:ext cx="3520440" cy="4434840"/>
          </a:xfrm>
          <a:prstGeom prst="roundRect">
            <a:avLst>
              <a:gd name="adj" fmla="val 2597"/>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21" name="Shape 19"/>
          <p:cNvSpPr/>
          <p:nvPr/>
        </p:nvSpPr>
        <p:spPr>
          <a:xfrm>
            <a:off x="8046720" y="1600200"/>
            <a:ext cx="3520440" cy="502920"/>
          </a:xfrm>
          <a:prstGeom prst="roundRect">
            <a:avLst>
              <a:gd name="adj" fmla="val 18182"/>
            </a:avLst>
          </a:prstGeom>
          <a:solidFill>
            <a:srgbClr val="02C39A"/>
          </a:solidFill>
          <a:ln/>
        </p:spPr>
      </p:sp>
      <p:sp>
        <p:nvSpPr>
          <p:cNvPr id="22" name="Shape 20"/>
          <p:cNvSpPr/>
          <p:nvPr/>
        </p:nvSpPr>
        <p:spPr>
          <a:xfrm>
            <a:off x="8046720" y="1874520"/>
            <a:ext cx="3520440" cy="228600"/>
          </a:xfrm>
          <a:prstGeom prst="rect">
            <a:avLst/>
          </a:prstGeom>
          <a:solidFill>
            <a:srgbClr val="02C39A"/>
          </a:solidFill>
          <a:ln/>
        </p:spPr>
      </p:sp>
      <p:sp>
        <p:nvSpPr>
          <p:cNvPr id="23" name="Text 21"/>
          <p:cNvSpPr txBox="1"/>
          <p:nvPr/>
        </p:nvSpPr>
        <p:spPr>
          <a:xfrm>
            <a:off x="8046720" y="1600200"/>
            <a:ext cx="352044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Update</a:t>
            </a:r>
            <a:endParaRPr lang="en-US" sz="1600" dirty="0"/>
          </a:p>
        </p:txBody>
      </p:sp>
      <p:sp>
        <p:nvSpPr>
          <p:cNvPr id="24" name="Text 22"/>
          <p:cNvSpPr txBox="1"/>
          <p:nvPr/>
        </p:nvSpPr>
        <p:spPr>
          <a:xfrm>
            <a:off x="8321040" y="2331720"/>
            <a:ext cx="2971800" cy="1691640"/>
          </a:xfrm>
          <a:prstGeom prst="rect">
            <a:avLst/>
          </a:prstGeom>
          <a:noFill/>
          <a:ln/>
        </p:spPr>
        <p:txBody>
          <a:bodyPr wrap="square" lIns="0" tIns="0" rIns="0" bIns="0" rtlCol="0" anchor="ctr"/>
          <a:lstStyle/>
          <a:p>
            <a:pPr indent="0" marL="0">
              <a:lnSpc>
                <a:spcPct val="122000"/>
              </a:lnSpc>
              <a:buNone/>
            </a:pPr>
            <a:r>
              <a:rPr lang="en-US" sz="1200" dirty="0">
                <a:solidFill>
                  <a:srgbClr val="3E5A5C"/>
                </a:solidFill>
                <a:latin typeface="Calibri" pitchFamily="34" charset="0"/>
                <a:ea typeface="Calibri" pitchFamily="34" charset="-122"/>
                <a:cs typeface="Calibri" pitchFamily="34" charset="-120"/>
              </a:rPr>
              <a:t>Only rows whose results changed since the previous trigger are written — a smaller, incremental delta of Complete mode.</a:t>
            </a:r>
            <a:endParaRPr lang="en-US" sz="1200" dirty="0"/>
          </a:p>
        </p:txBody>
      </p:sp>
      <p:sp>
        <p:nvSpPr>
          <p:cNvPr id="25" name="Shape 23"/>
          <p:cNvSpPr/>
          <p:nvPr/>
        </p:nvSpPr>
        <p:spPr>
          <a:xfrm>
            <a:off x="8321040" y="4114800"/>
            <a:ext cx="2971800" cy="0"/>
          </a:xfrm>
          <a:prstGeom prst="line">
            <a:avLst/>
          </a:prstGeom>
          <a:noFill/>
          <a:ln w="12700">
            <a:solidFill>
              <a:srgbClr val="CFE4E4"/>
            </a:solidFill>
            <a:prstDash val="solid"/>
          </a:ln>
        </p:spPr>
      </p:sp>
      <p:sp>
        <p:nvSpPr>
          <p:cNvPr id="26" name="Text 24"/>
          <p:cNvSpPr txBox="1"/>
          <p:nvPr/>
        </p:nvSpPr>
        <p:spPr>
          <a:xfrm>
            <a:off x="8321040" y="4251960"/>
            <a:ext cx="2971800" cy="274320"/>
          </a:xfrm>
          <a:prstGeom prst="rect">
            <a:avLst/>
          </a:prstGeom>
          <a:noFill/>
          <a:ln/>
        </p:spPr>
        <p:txBody>
          <a:bodyPr wrap="square" lIns="0" tIns="0" rIns="0" bIns="0" rtlCol="0" anchor="ctr"/>
          <a:lstStyle/>
          <a:p>
            <a:pPr indent="0" marL="0">
              <a:buNone/>
            </a:pPr>
            <a:r>
              <a:rPr lang="en-US" sz="950" b="1" spc="100" kern="0" dirty="0">
                <a:solidFill>
                  <a:srgbClr val="9FB8B9"/>
                </a:solidFill>
                <a:latin typeface="Calibri" pitchFamily="34" charset="0"/>
                <a:ea typeface="Calibri" pitchFamily="34" charset="-122"/>
                <a:cs typeface="Calibri" pitchFamily="34" charset="-120"/>
              </a:rPr>
              <a:t>BEST FOR</a:t>
            </a:r>
            <a:endParaRPr lang="en-US" sz="950" dirty="0"/>
          </a:p>
        </p:txBody>
      </p:sp>
      <p:sp>
        <p:nvSpPr>
          <p:cNvPr id="27" name="Text 25"/>
          <p:cNvSpPr txBox="1"/>
          <p:nvPr/>
        </p:nvSpPr>
        <p:spPr>
          <a:xfrm>
            <a:off x="8321040" y="4526280"/>
            <a:ext cx="2971800" cy="1280160"/>
          </a:xfrm>
          <a:prstGeom prst="rect">
            <a:avLst/>
          </a:prstGeom>
          <a:noFill/>
          <a:ln/>
        </p:spPr>
        <p:txBody>
          <a:bodyPr wrap="square" lIns="0" tIns="0" rIns="0" bIns="0" rtlCol="0" anchor="ctr"/>
          <a:lstStyle/>
          <a:p>
            <a:pPr indent="0" marL="0">
              <a:lnSpc>
                <a:spcPct val="120000"/>
              </a:lnSpc>
              <a:buNone/>
            </a:pPr>
            <a:r>
              <a:rPr lang="en-US" sz="1150" b="1" i="1" dirty="0">
                <a:solidFill>
                  <a:srgbClr val="02C39A"/>
                </a:solidFill>
                <a:latin typeface="Calibri" pitchFamily="34" charset="0"/>
                <a:ea typeface="Calibri" pitchFamily="34" charset="-122"/>
                <a:cs typeface="Calibri" pitchFamily="34" charset="-120"/>
              </a:rPr>
              <a:t>Stateful aggregations written to mutable sinks</a:t>
            </a:r>
            <a:endParaRPr lang="en-US" sz="1150" dirty="0"/>
          </a:p>
        </p:txBody>
      </p:sp>
      <p:sp>
        <p:nvSpPr>
          <p:cNvPr id="28" name="Text 26"/>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29" name="Text 27"/>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26"/>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9436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Triggers &amp; Trigger Types</a:t>
            </a:r>
            <a:endParaRPr lang="en-US" sz="3000" dirty="0"/>
          </a:p>
        </p:txBody>
      </p:sp>
      <p:sp>
        <p:nvSpPr>
          <p:cNvPr id="3" name="Text 1"/>
          <p:cNvSpPr txBox="1"/>
          <p:nvPr/>
        </p:nvSpPr>
        <p:spPr>
          <a:xfrm>
            <a:off x="548640" y="960120"/>
            <a:ext cx="10058400" cy="411480"/>
          </a:xfrm>
          <a:prstGeom prst="rect">
            <a:avLst/>
          </a:prstGeom>
          <a:noFill/>
          <a:ln/>
        </p:spPr>
        <p:txBody>
          <a:bodyPr wrap="square" lIns="0" tIns="0" rIns="0" bIns="0" rtlCol="0" anchor="ctr"/>
          <a:lstStyle/>
          <a:p>
            <a:pPr indent="0" marL="0">
              <a:buNone/>
            </a:pPr>
            <a:r>
              <a:rPr lang="en-US" sz="1300" i="1" dirty="0">
                <a:solidFill>
                  <a:srgbClr val="9FC3C4"/>
                </a:solidFill>
                <a:latin typeface="Calibri" pitchFamily="34" charset="0"/>
                <a:ea typeface="Calibri" pitchFamily="34" charset="-122"/>
                <a:cs typeface="Calibri" pitchFamily="34" charset="-120"/>
              </a:rPr>
              <a:t>A trigger determines when Spark should process the available data — when it should run the next micro-batch.</a:t>
            </a:r>
            <a:endParaRPr lang="en-US" sz="1300" dirty="0"/>
          </a:p>
        </p:txBody>
      </p:sp>
      <p:sp>
        <p:nvSpPr>
          <p:cNvPr id="4" name="Shape 2"/>
          <p:cNvSpPr/>
          <p:nvPr/>
        </p:nvSpPr>
        <p:spPr>
          <a:xfrm>
            <a:off x="548640" y="1508760"/>
            <a:ext cx="1600200" cy="402336"/>
          </a:xfrm>
          <a:prstGeom prst="rect">
            <a:avLst/>
          </a:prstGeom>
          <a:solidFill>
            <a:srgbClr val="028090"/>
          </a:solidFill>
          <a:ln w="6350">
            <a:solidFill>
              <a:srgbClr val="0B1F26"/>
            </a:solidFill>
            <a:prstDash val="solid"/>
          </a:ln>
        </p:spPr>
      </p:sp>
      <p:sp>
        <p:nvSpPr>
          <p:cNvPr id="5" name="Text 3"/>
          <p:cNvSpPr txBox="1"/>
          <p:nvPr/>
        </p:nvSpPr>
        <p:spPr>
          <a:xfrm>
            <a:off x="548640" y="1508760"/>
            <a:ext cx="1600200" cy="402336"/>
          </a:xfrm>
          <a:prstGeom prst="rect">
            <a:avLst/>
          </a:prstGeom>
          <a:noFill/>
          <a:ln/>
        </p:spPr>
        <p:txBody>
          <a:bodyPr wrap="square" lIns="0" tIns="1905"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Trigger</a:t>
            </a:r>
            <a:endParaRPr lang="en-US" sz="1200" dirty="0"/>
          </a:p>
        </p:txBody>
      </p:sp>
      <p:sp>
        <p:nvSpPr>
          <p:cNvPr id="6" name="Shape 4"/>
          <p:cNvSpPr/>
          <p:nvPr/>
        </p:nvSpPr>
        <p:spPr>
          <a:xfrm>
            <a:off x="2148840" y="1508760"/>
            <a:ext cx="2514600" cy="402336"/>
          </a:xfrm>
          <a:prstGeom prst="rect">
            <a:avLst/>
          </a:prstGeom>
          <a:solidFill>
            <a:srgbClr val="028090"/>
          </a:solidFill>
          <a:ln w="6350">
            <a:solidFill>
              <a:srgbClr val="0B1F26"/>
            </a:solidFill>
            <a:prstDash val="solid"/>
          </a:ln>
        </p:spPr>
      </p:sp>
      <p:sp>
        <p:nvSpPr>
          <p:cNvPr id="7" name="Text 5"/>
          <p:cNvSpPr txBox="1"/>
          <p:nvPr/>
        </p:nvSpPr>
        <p:spPr>
          <a:xfrm>
            <a:off x="2148840" y="1508760"/>
            <a:ext cx="2514600" cy="402336"/>
          </a:xfrm>
          <a:prstGeom prst="rect">
            <a:avLst/>
          </a:prstGeom>
          <a:noFill/>
          <a:ln/>
        </p:spPr>
        <p:txBody>
          <a:bodyPr wrap="square" lIns="0" tIns="1905"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Processing Style</a:t>
            </a:r>
            <a:endParaRPr lang="en-US" sz="1200" dirty="0"/>
          </a:p>
        </p:txBody>
      </p:sp>
      <p:sp>
        <p:nvSpPr>
          <p:cNvPr id="8" name="Shape 6"/>
          <p:cNvSpPr/>
          <p:nvPr/>
        </p:nvSpPr>
        <p:spPr>
          <a:xfrm>
            <a:off x="4663440" y="1508760"/>
            <a:ext cx="4480560" cy="402336"/>
          </a:xfrm>
          <a:prstGeom prst="rect">
            <a:avLst/>
          </a:prstGeom>
          <a:solidFill>
            <a:srgbClr val="028090"/>
          </a:solidFill>
          <a:ln w="6350">
            <a:solidFill>
              <a:srgbClr val="0B1F26"/>
            </a:solidFill>
            <a:prstDash val="solid"/>
          </a:ln>
        </p:spPr>
      </p:sp>
      <p:sp>
        <p:nvSpPr>
          <p:cNvPr id="9" name="Text 7"/>
          <p:cNvSpPr txBox="1"/>
          <p:nvPr/>
        </p:nvSpPr>
        <p:spPr>
          <a:xfrm>
            <a:off x="4663440" y="1508760"/>
            <a:ext cx="4480560" cy="402336"/>
          </a:xfrm>
          <a:prstGeom prst="rect">
            <a:avLst/>
          </a:prstGeom>
          <a:noFill/>
          <a:ln/>
        </p:spPr>
        <p:txBody>
          <a:bodyPr wrap="square" lIns="0" tIns="1905"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Main Use</a:t>
            </a:r>
            <a:endParaRPr lang="en-US" sz="1200" dirty="0"/>
          </a:p>
        </p:txBody>
      </p:sp>
      <p:sp>
        <p:nvSpPr>
          <p:cNvPr id="10" name="Shape 8"/>
          <p:cNvSpPr/>
          <p:nvPr/>
        </p:nvSpPr>
        <p:spPr>
          <a:xfrm>
            <a:off x="548640" y="1911096"/>
            <a:ext cx="1600200" cy="512064"/>
          </a:xfrm>
          <a:prstGeom prst="rect">
            <a:avLst/>
          </a:prstGeom>
          <a:solidFill>
            <a:srgbClr val="13303A"/>
          </a:solidFill>
          <a:ln w="6350">
            <a:solidFill>
              <a:srgbClr val="0B1F26"/>
            </a:solidFill>
            <a:prstDash val="solid"/>
          </a:ln>
        </p:spPr>
      </p:sp>
      <p:sp>
        <p:nvSpPr>
          <p:cNvPr id="11" name="Text 9"/>
          <p:cNvSpPr txBox="1"/>
          <p:nvPr/>
        </p:nvSpPr>
        <p:spPr>
          <a:xfrm>
            <a:off x="594360" y="1911096"/>
            <a:ext cx="1508760" cy="512064"/>
          </a:xfrm>
          <a:prstGeom prst="rect">
            <a:avLst/>
          </a:prstGeom>
          <a:noFill/>
          <a:ln/>
        </p:spPr>
        <p:txBody>
          <a:bodyPr wrap="square" lIns="0" tIns="0" rIns="0" bIns="0" rtlCol="0" anchor="ctr"/>
          <a:lstStyle/>
          <a:p>
            <a:pPr algn="l" indent="0" marL="0">
              <a:lnSpc>
                <a:spcPct val="102000"/>
              </a:lnSpc>
              <a:buNone/>
            </a:pPr>
            <a:r>
              <a:rPr lang="en-US" sz="1000" b="1" dirty="0">
                <a:solidFill>
                  <a:srgbClr val="02C39A"/>
                </a:solidFill>
                <a:latin typeface="Courier New" pitchFamily="34" charset="0"/>
                <a:ea typeface="Courier New" pitchFamily="34" charset="-122"/>
                <a:cs typeface="Courier New" pitchFamily="34" charset="-120"/>
              </a:rPr>
              <a:t>Default</a:t>
            </a:r>
            <a:endParaRPr lang="en-US" sz="1000" dirty="0"/>
          </a:p>
        </p:txBody>
      </p:sp>
      <p:sp>
        <p:nvSpPr>
          <p:cNvPr id="12" name="Shape 10"/>
          <p:cNvSpPr/>
          <p:nvPr/>
        </p:nvSpPr>
        <p:spPr>
          <a:xfrm>
            <a:off x="2148840" y="1911096"/>
            <a:ext cx="2514600" cy="512064"/>
          </a:xfrm>
          <a:prstGeom prst="rect">
            <a:avLst/>
          </a:prstGeom>
          <a:solidFill>
            <a:srgbClr val="13303A"/>
          </a:solidFill>
          <a:ln w="6350">
            <a:solidFill>
              <a:srgbClr val="0B1F26"/>
            </a:solidFill>
            <a:prstDash val="solid"/>
          </a:ln>
        </p:spPr>
      </p:sp>
      <p:sp>
        <p:nvSpPr>
          <p:cNvPr id="13" name="Text 11"/>
          <p:cNvSpPr txBox="1"/>
          <p:nvPr/>
        </p:nvSpPr>
        <p:spPr>
          <a:xfrm>
            <a:off x="2194560" y="1911096"/>
            <a:ext cx="242316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As fast as possible</a:t>
            </a:r>
            <a:endParaRPr lang="en-US" sz="1000" dirty="0"/>
          </a:p>
        </p:txBody>
      </p:sp>
      <p:sp>
        <p:nvSpPr>
          <p:cNvPr id="14" name="Shape 12"/>
          <p:cNvSpPr/>
          <p:nvPr/>
        </p:nvSpPr>
        <p:spPr>
          <a:xfrm>
            <a:off x="4663440" y="1911096"/>
            <a:ext cx="4480560" cy="512064"/>
          </a:xfrm>
          <a:prstGeom prst="rect">
            <a:avLst/>
          </a:prstGeom>
          <a:solidFill>
            <a:srgbClr val="13303A"/>
          </a:solidFill>
          <a:ln w="6350">
            <a:solidFill>
              <a:srgbClr val="0B1F26"/>
            </a:solidFill>
            <a:prstDash val="solid"/>
          </a:ln>
        </p:spPr>
      </p:sp>
      <p:sp>
        <p:nvSpPr>
          <p:cNvPr id="15" name="Text 13"/>
          <p:cNvSpPr txBox="1"/>
          <p:nvPr/>
        </p:nvSpPr>
        <p:spPr>
          <a:xfrm>
            <a:off x="4709160" y="1911096"/>
            <a:ext cx="438912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Normal streaming — lowest possible latency with no fixed schedule</a:t>
            </a:r>
            <a:endParaRPr lang="en-US" sz="1000" dirty="0"/>
          </a:p>
        </p:txBody>
      </p:sp>
      <p:sp>
        <p:nvSpPr>
          <p:cNvPr id="16" name="Shape 14"/>
          <p:cNvSpPr/>
          <p:nvPr/>
        </p:nvSpPr>
        <p:spPr>
          <a:xfrm>
            <a:off x="548640" y="2423160"/>
            <a:ext cx="1600200" cy="512064"/>
          </a:xfrm>
          <a:prstGeom prst="rect">
            <a:avLst/>
          </a:prstGeom>
          <a:solidFill>
            <a:srgbClr val="0F262D"/>
          </a:solidFill>
          <a:ln w="6350">
            <a:solidFill>
              <a:srgbClr val="0B1F26"/>
            </a:solidFill>
            <a:prstDash val="solid"/>
          </a:ln>
        </p:spPr>
      </p:sp>
      <p:sp>
        <p:nvSpPr>
          <p:cNvPr id="17" name="Text 15"/>
          <p:cNvSpPr txBox="1"/>
          <p:nvPr/>
        </p:nvSpPr>
        <p:spPr>
          <a:xfrm>
            <a:off x="594360" y="2423160"/>
            <a:ext cx="1508760" cy="512064"/>
          </a:xfrm>
          <a:prstGeom prst="rect">
            <a:avLst/>
          </a:prstGeom>
          <a:noFill/>
          <a:ln/>
        </p:spPr>
        <p:txBody>
          <a:bodyPr wrap="square" lIns="0" tIns="0" rIns="0" bIns="0" rtlCol="0" anchor="ctr"/>
          <a:lstStyle/>
          <a:p>
            <a:pPr algn="l" indent="0" marL="0">
              <a:lnSpc>
                <a:spcPct val="102000"/>
              </a:lnSpc>
              <a:buNone/>
            </a:pPr>
            <a:r>
              <a:rPr lang="en-US" sz="1000" b="1" dirty="0">
                <a:solidFill>
                  <a:srgbClr val="02C39A"/>
                </a:solidFill>
                <a:latin typeface="Courier New" pitchFamily="34" charset="0"/>
                <a:ea typeface="Courier New" pitchFamily="34" charset="-122"/>
                <a:cs typeface="Courier New" pitchFamily="34" charset="-120"/>
              </a:rPr>
              <a:t>ProcessingTime</a:t>
            </a:r>
            <a:endParaRPr lang="en-US" sz="1000" dirty="0"/>
          </a:p>
        </p:txBody>
      </p:sp>
      <p:sp>
        <p:nvSpPr>
          <p:cNvPr id="18" name="Shape 16"/>
          <p:cNvSpPr/>
          <p:nvPr/>
        </p:nvSpPr>
        <p:spPr>
          <a:xfrm>
            <a:off x="2148840" y="2423160"/>
            <a:ext cx="2514600" cy="512064"/>
          </a:xfrm>
          <a:prstGeom prst="rect">
            <a:avLst/>
          </a:prstGeom>
          <a:solidFill>
            <a:srgbClr val="0F262D"/>
          </a:solidFill>
          <a:ln w="6350">
            <a:solidFill>
              <a:srgbClr val="0B1F26"/>
            </a:solidFill>
            <a:prstDash val="solid"/>
          </a:ln>
        </p:spPr>
      </p:sp>
      <p:sp>
        <p:nvSpPr>
          <p:cNvPr id="19" name="Text 17"/>
          <p:cNvSpPr txBox="1"/>
          <p:nvPr/>
        </p:nvSpPr>
        <p:spPr>
          <a:xfrm>
            <a:off x="2194560" y="2423160"/>
            <a:ext cx="242316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Micro-batch at a fixed interval</a:t>
            </a:r>
            <a:endParaRPr lang="en-US" sz="1000" dirty="0"/>
          </a:p>
        </p:txBody>
      </p:sp>
      <p:sp>
        <p:nvSpPr>
          <p:cNvPr id="20" name="Shape 18"/>
          <p:cNvSpPr/>
          <p:nvPr/>
        </p:nvSpPr>
        <p:spPr>
          <a:xfrm>
            <a:off x="4663440" y="2423160"/>
            <a:ext cx="4480560" cy="512064"/>
          </a:xfrm>
          <a:prstGeom prst="rect">
            <a:avLst/>
          </a:prstGeom>
          <a:solidFill>
            <a:srgbClr val="0F262D"/>
          </a:solidFill>
          <a:ln w="6350">
            <a:solidFill>
              <a:srgbClr val="0B1F26"/>
            </a:solidFill>
            <a:prstDash val="solid"/>
          </a:ln>
        </p:spPr>
      </p:sp>
      <p:sp>
        <p:nvSpPr>
          <p:cNvPr id="21" name="Text 19"/>
          <p:cNvSpPr txBox="1"/>
          <p:nvPr/>
        </p:nvSpPr>
        <p:spPr>
          <a:xfrm>
            <a:off x="4709160" y="2423160"/>
            <a:ext cx="438912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Scheduled intervals — predictable cadence, e.g. every 10s</a:t>
            </a:r>
            <a:endParaRPr lang="en-US" sz="1000" dirty="0"/>
          </a:p>
        </p:txBody>
      </p:sp>
      <p:sp>
        <p:nvSpPr>
          <p:cNvPr id="22" name="Shape 20"/>
          <p:cNvSpPr/>
          <p:nvPr/>
        </p:nvSpPr>
        <p:spPr>
          <a:xfrm>
            <a:off x="548640" y="2935224"/>
            <a:ext cx="1600200" cy="512064"/>
          </a:xfrm>
          <a:prstGeom prst="rect">
            <a:avLst/>
          </a:prstGeom>
          <a:solidFill>
            <a:srgbClr val="13303A"/>
          </a:solidFill>
          <a:ln w="6350">
            <a:solidFill>
              <a:srgbClr val="0B1F26"/>
            </a:solidFill>
            <a:prstDash val="solid"/>
          </a:ln>
        </p:spPr>
      </p:sp>
      <p:sp>
        <p:nvSpPr>
          <p:cNvPr id="23" name="Text 21"/>
          <p:cNvSpPr txBox="1"/>
          <p:nvPr/>
        </p:nvSpPr>
        <p:spPr>
          <a:xfrm>
            <a:off x="594360" y="2935224"/>
            <a:ext cx="1508760" cy="512064"/>
          </a:xfrm>
          <a:prstGeom prst="rect">
            <a:avLst/>
          </a:prstGeom>
          <a:noFill/>
          <a:ln/>
        </p:spPr>
        <p:txBody>
          <a:bodyPr wrap="square" lIns="0" tIns="0" rIns="0" bIns="0" rtlCol="0" anchor="ctr"/>
          <a:lstStyle/>
          <a:p>
            <a:pPr algn="l" indent="0" marL="0">
              <a:lnSpc>
                <a:spcPct val="102000"/>
              </a:lnSpc>
              <a:buNone/>
            </a:pPr>
            <a:r>
              <a:rPr lang="en-US" sz="1000" b="1" dirty="0">
                <a:solidFill>
                  <a:srgbClr val="02C39A"/>
                </a:solidFill>
                <a:latin typeface="Courier New" pitchFamily="34" charset="0"/>
                <a:ea typeface="Courier New" pitchFamily="34" charset="-122"/>
                <a:cs typeface="Courier New" pitchFamily="34" charset="-120"/>
              </a:rPr>
              <a:t>AvailableNow</a:t>
            </a:r>
            <a:endParaRPr lang="en-US" sz="1000" dirty="0"/>
          </a:p>
        </p:txBody>
      </p:sp>
      <p:sp>
        <p:nvSpPr>
          <p:cNvPr id="24" name="Shape 22"/>
          <p:cNvSpPr/>
          <p:nvPr/>
        </p:nvSpPr>
        <p:spPr>
          <a:xfrm>
            <a:off x="2148840" y="2935224"/>
            <a:ext cx="2514600" cy="512064"/>
          </a:xfrm>
          <a:prstGeom prst="rect">
            <a:avLst/>
          </a:prstGeom>
          <a:solidFill>
            <a:srgbClr val="13303A"/>
          </a:solidFill>
          <a:ln w="6350">
            <a:solidFill>
              <a:srgbClr val="0B1F26"/>
            </a:solidFill>
            <a:prstDash val="solid"/>
          </a:ln>
        </p:spPr>
      </p:sp>
      <p:sp>
        <p:nvSpPr>
          <p:cNvPr id="25" name="Text 23"/>
          <p:cNvSpPr txBox="1"/>
          <p:nvPr/>
        </p:nvSpPr>
        <p:spPr>
          <a:xfrm>
            <a:off x="2194560" y="2935224"/>
            <a:ext cx="242316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Processes all currently available data, then stops</a:t>
            </a:r>
            <a:endParaRPr lang="en-US" sz="1000" dirty="0"/>
          </a:p>
        </p:txBody>
      </p:sp>
      <p:sp>
        <p:nvSpPr>
          <p:cNvPr id="26" name="Shape 24"/>
          <p:cNvSpPr/>
          <p:nvPr/>
        </p:nvSpPr>
        <p:spPr>
          <a:xfrm>
            <a:off x="4663440" y="2935224"/>
            <a:ext cx="4480560" cy="512064"/>
          </a:xfrm>
          <a:prstGeom prst="rect">
            <a:avLst/>
          </a:prstGeom>
          <a:solidFill>
            <a:srgbClr val="13303A"/>
          </a:solidFill>
          <a:ln w="6350">
            <a:solidFill>
              <a:srgbClr val="0B1F26"/>
            </a:solidFill>
            <a:prstDash val="solid"/>
          </a:ln>
        </p:spPr>
      </p:sp>
      <p:sp>
        <p:nvSpPr>
          <p:cNvPr id="27" name="Text 25"/>
          <p:cNvSpPr txBox="1"/>
          <p:nvPr/>
        </p:nvSpPr>
        <p:spPr>
          <a:xfrm>
            <a:off x="4709160" y="2935224"/>
            <a:ext cx="438912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Incremental ETL — catch up, then exit cleanly</a:t>
            </a:r>
            <a:endParaRPr lang="en-US" sz="1000" dirty="0"/>
          </a:p>
        </p:txBody>
      </p:sp>
      <p:sp>
        <p:nvSpPr>
          <p:cNvPr id="28" name="Shape 26"/>
          <p:cNvSpPr/>
          <p:nvPr/>
        </p:nvSpPr>
        <p:spPr>
          <a:xfrm>
            <a:off x="548640" y="3447288"/>
            <a:ext cx="1600200" cy="512064"/>
          </a:xfrm>
          <a:prstGeom prst="rect">
            <a:avLst/>
          </a:prstGeom>
          <a:solidFill>
            <a:srgbClr val="0F262D"/>
          </a:solidFill>
          <a:ln w="6350">
            <a:solidFill>
              <a:srgbClr val="0B1F26"/>
            </a:solidFill>
            <a:prstDash val="solid"/>
          </a:ln>
        </p:spPr>
      </p:sp>
      <p:sp>
        <p:nvSpPr>
          <p:cNvPr id="29" name="Text 27"/>
          <p:cNvSpPr txBox="1"/>
          <p:nvPr/>
        </p:nvSpPr>
        <p:spPr>
          <a:xfrm>
            <a:off x="594360" y="3447288"/>
            <a:ext cx="1508760" cy="512064"/>
          </a:xfrm>
          <a:prstGeom prst="rect">
            <a:avLst/>
          </a:prstGeom>
          <a:noFill/>
          <a:ln/>
        </p:spPr>
        <p:txBody>
          <a:bodyPr wrap="square" lIns="0" tIns="0" rIns="0" bIns="0" rtlCol="0" anchor="ctr"/>
          <a:lstStyle/>
          <a:p>
            <a:pPr algn="l" indent="0" marL="0">
              <a:lnSpc>
                <a:spcPct val="102000"/>
              </a:lnSpc>
              <a:buNone/>
            </a:pPr>
            <a:r>
              <a:rPr lang="en-US" sz="1000" b="1" dirty="0">
                <a:solidFill>
                  <a:srgbClr val="02C39A"/>
                </a:solidFill>
                <a:latin typeface="Courier New" pitchFamily="34" charset="0"/>
                <a:ea typeface="Courier New" pitchFamily="34" charset="-122"/>
                <a:cs typeface="Courier New" pitchFamily="34" charset="-120"/>
              </a:rPr>
              <a:t>Once</a:t>
            </a:r>
            <a:endParaRPr lang="en-US" sz="1000" dirty="0"/>
          </a:p>
        </p:txBody>
      </p:sp>
      <p:sp>
        <p:nvSpPr>
          <p:cNvPr id="30" name="Shape 28"/>
          <p:cNvSpPr/>
          <p:nvPr/>
        </p:nvSpPr>
        <p:spPr>
          <a:xfrm>
            <a:off x="2148840" y="3447288"/>
            <a:ext cx="2514600" cy="512064"/>
          </a:xfrm>
          <a:prstGeom prst="rect">
            <a:avLst/>
          </a:prstGeom>
          <a:solidFill>
            <a:srgbClr val="0F262D"/>
          </a:solidFill>
          <a:ln w="6350">
            <a:solidFill>
              <a:srgbClr val="0B1F26"/>
            </a:solidFill>
            <a:prstDash val="solid"/>
          </a:ln>
        </p:spPr>
      </p:sp>
      <p:sp>
        <p:nvSpPr>
          <p:cNvPr id="31" name="Text 29"/>
          <p:cNvSpPr txBox="1"/>
          <p:nvPr/>
        </p:nvSpPr>
        <p:spPr>
          <a:xfrm>
            <a:off x="2194560" y="3447288"/>
            <a:ext cx="242316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Processes exactly one micro-batch, then stops</a:t>
            </a:r>
            <a:endParaRPr lang="en-US" sz="1000" dirty="0"/>
          </a:p>
        </p:txBody>
      </p:sp>
      <p:sp>
        <p:nvSpPr>
          <p:cNvPr id="32" name="Shape 30"/>
          <p:cNvSpPr/>
          <p:nvPr/>
        </p:nvSpPr>
        <p:spPr>
          <a:xfrm>
            <a:off x="4663440" y="3447288"/>
            <a:ext cx="4480560" cy="512064"/>
          </a:xfrm>
          <a:prstGeom prst="rect">
            <a:avLst/>
          </a:prstGeom>
          <a:solidFill>
            <a:srgbClr val="0F262D"/>
          </a:solidFill>
          <a:ln w="6350">
            <a:solidFill>
              <a:srgbClr val="0B1F26"/>
            </a:solidFill>
            <a:prstDash val="solid"/>
          </a:ln>
        </p:spPr>
      </p:sp>
      <p:sp>
        <p:nvSpPr>
          <p:cNvPr id="33" name="Text 31"/>
          <p:cNvSpPr txBox="1"/>
          <p:nvPr/>
        </p:nvSpPr>
        <p:spPr>
          <a:xfrm>
            <a:off x="4709160" y="3447288"/>
            <a:ext cx="438912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One-time or ad hoc processing runs</a:t>
            </a:r>
            <a:endParaRPr lang="en-US" sz="1000" dirty="0"/>
          </a:p>
        </p:txBody>
      </p:sp>
      <p:sp>
        <p:nvSpPr>
          <p:cNvPr id="34" name="Shape 32"/>
          <p:cNvSpPr/>
          <p:nvPr/>
        </p:nvSpPr>
        <p:spPr>
          <a:xfrm>
            <a:off x="548640" y="3959352"/>
            <a:ext cx="1600200" cy="512064"/>
          </a:xfrm>
          <a:prstGeom prst="rect">
            <a:avLst/>
          </a:prstGeom>
          <a:solidFill>
            <a:srgbClr val="13303A"/>
          </a:solidFill>
          <a:ln w="6350">
            <a:solidFill>
              <a:srgbClr val="0B1F26"/>
            </a:solidFill>
            <a:prstDash val="solid"/>
          </a:ln>
        </p:spPr>
      </p:sp>
      <p:sp>
        <p:nvSpPr>
          <p:cNvPr id="35" name="Text 33"/>
          <p:cNvSpPr txBox="1"/>
          <p:nvPr/>
        </p:nvSpPr>
        <p:spPr>
          <a:xfrm>
            <a:off x="594360" y="3959352"/>
            <a:ext cx="1508760" cy="512064"/>
          </a:xfrm>
          <a:prstGeom prst="rect">
            <a:avLst/>
          </a:prstGeom>
          <a:noFill/>
          <a:ln/>
        </p:spPr>
        <p:txBody>
          <a:bodyPr wrap="square" lIns="0" tIns="0" rIns="0" bIns="0" rtlCol="0" anchor="ctr"/>
          <a:lstStyle/>
          <a:p>
            <a:pPr algn="l" indent="0" marL="0">
              <a:lnSpc>
                <a:spcPct val="102000"/>
              </a:lnSpc>
              <a:buNone/>
            </a:pPr>
            <a:r>
              <a:rPr lang="en-US" sz="1000" b="1" dirty="0">
                <a:solidFill>
                  <a:srgbClr val="02C39A"/>
                </a:solidFill>
                <a:latin typeface="Courier New" pitchFamily="34" charset="0"/>
                <a:ea typeface="Courier New" pitchFamily="34" charset="-122"/>
                <a:cs typeface="Courier New" pitchFamily="34" charset="-120"/>
              </a:rPr>
              <a:t>Continuous</a:t>
            </a:r>
            <a:endParaRPr lang="en-US" sz="1000" dirty="0"/>
          </a:p>
        </p:txBody>
      </p:sp>
      <p:sp>
        <p:nvSpPr>
          <p:cNvPr id="36" name="Shape 34"/>
          <p:cNvSpPr/>
          <p:nvPr/>
        </p:nvSpPr>
        <p:spPr>
          <a:xfrm>
            <a:off x="2148840" y="3959352"/>
            <a:ext cx="2514600" cy="512064"/>
          </a:xfrm>
          <a:prstGeom prst="rect">
            <a:avLst/>
          </a:prstGeom>
          <a:solidFill>
            <a:srgbClr val="13303A"/>
          </a:solidFill>
          <a:ln w="6350">
            <a:solidFill>
              <a:srgbClr val="0B1F26"/>
            </a:solidFill>
            <a:prstDash val="solid"/>
          </a:ln>
        </p:spPr>
      </p:sp>
      <p:sp>
        <p:nvSpPr>
          <p:cNvPr id="37" name="Text 35"/>
          <p:cNvSpPr txBox="1"/>
          <p:nvPr/>
        </p:nvSpPr>
        <p:spPr>
          <a:xfrm>
            <a:off x="2194560" y="3959352"/>
            <a:ext cx="242316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Continuous, low-latency, record-at-a-time processing</a:t>
            </a:r>
            <a:endParaRPr lang="en-US" sz="1000" dirty="0"/>
          </a:p>
        </p:txBody>
      </p:sp>
      <p:sp>
        <p:nvSpPr>
          <p:cNvPr id="38" name="Shape 36"/>
          <p:cNvSpPr/>
          <p:nvPr/>
        </p:nvSpPr>
        <p:spPr>
          <a:xfrm>
            <a:off x="4663440" y="3959352"/>
            <a:ext cx="4480560" cy="512064"/>
          </a:xfrm>
          <a:prstGeom prst="rect">
            <a:avLst/>
          </a:prstGeom>
          <a:solidFill>
            <a:srgbClr val="13303A"/>
          </a:solidFill>
          <a:ln w="6350">
            <a:solidFill>
              <a:srgbClr val="0B1F26"/>
            </a:solidFill>
            <a:prstDash val="solid"/>
          </a:ln>
        </p:spPr>
      </p:sp>
      <p:sp>
        <p:nvSpPr>
          <p:cNvPr id="39" name="Text 37"/>
          <p:cNvSpPr txBox="1"/>
          <p:nvPr/>
        </p:nvSpPr>
        <p:spPr>
          <a:xfrm>
            <a:off x="4709160" y="3959352"/>
            <a:ext cx="4389120" cy="512064"/>
          </a:xfrm>
          <a:prstGeom prst="rect">
            <a:avLst/>
          </a:prstGeom>
          <a:noFill/>
          <a:ln/>
        </p:spPr>
        <p:txBody>
          <a:bodyPr wrap="square" lIns="0" tIns="0" rIns="0" bIns="0" rtlCol="0" anchor="ctr"/>
          <a:lstStyle/>
          <a:p>
            <a:pPr algn="l" indent="0" marL="0">
              <a:lnSpc>
                <a:spcPct val="102000"/>
              </a:lnSpc>
              <a:buNone/>
            </a:pPr>
            <a:r>
              <a:rPr lang="en-US" sz="1000" dirty="0">
                <a:solidFill>
                  <a:srgbClr val="EAF4F4"/>
                </a:solidFill>
                <a:latin typeface="Calibri" pitchFamily="34" charset="0"/>
                <a:ea typeface="Calibri" pitchFamily="34" charset="-122"/>
                <a:cs typeface="Calibri" pitchFamily="34" charset="-120"/>
              </a:rPr>
              <a:t>Specialized use cases needing millisecond latency</a:t>
            </a:r>
            <a:endParaRPr lang="en-US" sz="1000" dirty="0"/>
          </a:p>
        </p:txBody>
      </p:sp>
      <p:sp>
        <p:nvSpPr>
          <p:cNvPr id="40" name="Text 38"/>
          <p:cNvSpPr txBox="1"/>
          <p:nvPr/>
        </p:nvSpPr>
        <p:spPr>
          <a:xfrm>
            <a:off x="548640" y="4608576"/>
            <a:ext cx="2743200" cy="274320"/>
          </a:xfrm>
          <a:prstGeom prst="rect">
            <a:avLst/>
          </a:prstGeom>
          <a:noFill/>
          <a:ln/>
        </p:spPr>
        <p:txBody>
          <a:bodyPr wrap="square" lIns="0" tIns="0" rIns="0" bIns="0" rtlCol="0" anchor="ctr"/>
          <a:lstStyle/>
          <a:p>
            <a:pPr indent="0" marL="0">
              <a:buNone/>
            </a:pPr>
            <a:r>
              <a:rPr lang="en-US" sz="1200" b="1" dirty="0">
                <a:solidFill>
                  <a:srgbClr val="9FC3C4"/>
                </a:solidFill>
                <a:latin typeface="Calibri" pitchFamily="34" charset="0"/>
                <a:ea typeface="Calibri" pitchFamily="34" charset="-122"/>
                <a:cs typeface="Calibri" pitchFamily="34" charset="-120"/>
              </a:rPr>
              <a:t>Example</a:t>
            </a:r>
            <a:endParaRPr lang="en-US" sz="1200" dirty="0"/>
          </a:p>
        </p:txBody>
      </p:sp>
      <p:sp>
        <p:nvSpPr>
          <p:cNvPr id="41" name="Shape 39"/>
          <p:cNvSpPr/>
          <p:nvPr/>
        </p:nvSpPr>
        <p:spPr>
          <a:xfrm>
            <a:off x="548640" y="4910328"/>
            <a:ext cx="8595360" cy="1234440"/>
          </a:xfrm>
          <a:prstGeom prst="roundRect">
            <a:avLst>
              <a:gd name="adj" fmla="val 4444"/>
            </a:avLst>
          </a:prstGeom>
          <a:solidFill>
            <a:srgbClr val="0E2A31"/>
          </a:solidFill>
          <a:ln w="12700">
            <a:solidFill>
              <a:srgbClr val="1D4E52"/>
            </a:solidFill>
            <a:prstDash val="solid"/>
          </a:ln>
        </p:spPr>
      </p:sp>
      <p:sp>
        <p:nvSpPr>
          <p:cNvPr id="42" name="Text 40"/>
          <p:cNvSpPr txBox="1"/>
          <p:nvPr/>
        </p:nvSpPr>
        <p:spPr>
          <a:xfrm>
            <a:off x="777240" y="5056632"/>
            <a:ext cx="8138160" cy="941832"/>
          </a:xfrm>
          <a:prstGeom prst="rect">
            <a:avLst/>
          </a:prstGeom>
          <a:noFill/>
          <a:ln/>
        </p:spPr>
        <p:txBody>
          <a:bodyPr wrap="square" lIns="0" tIns="0" rIns="0" bIns="0" rtlCol="0" anchor="t"/>
          <a:lstStyle/>
          <a:p>
            <a:pPr indent="0" marL="0">
              <a:lnSpc>
                <a:spcPct val="112000"/>
              </a:lnSpc>
              <a:buNone/>
            </a:pPr>
            <a:r>
              <a:rPr lang="en-US" sz="1100" dirty="0">
                <a:solidFill>
                  <a:srgbClr val="BFEFE0"/>
                </a:solidFill>
                <a:latin typeface="Courier New" pitchFamily="34" charset="0"/>
                <a:ea typeface="Courier New" pitchFamily="34" charset="-122"/>
                <a:cs typeface="Courier New" pitchFamily="34" charset="-120"/>
              </a:rPr>
              <a:t>df.writeStream</a:t>
            </a:r>
            <a:endParaRPr lang="en-US" sz="1100" dirty="0"/>
          </a:p>
          <a:p>
            <a:pPr indent="0" marL="0">
              <a:lnSpc>
                <a:spcPct val="112000"/>
              </a:lnSpc>
              <a:buNone/>
            </a:pPr>
            <a:r>
              <a:rPr lang="en-US" sz="1100" dirty="0">
                <a:solidFill>
                  <a:srgbClr val="BFEFE0"/>
                </a:solidFill>
                <a:latin typeface="Courier New" pitchFamily="34" charset="0"/>
                <a:ea typeface="Courier New" pitchFamily="34" charset="-122"/>
                <a:cs typeface="Courier New" pitchFamily="34" charset="-120"/>
              </a:rPr>
              <a:t>  .trigger(processingTime="10 seconds")</a:t>
            </a:r>
            <a:endParaRPr lang="en-US" sz="1100" dirty="0"/>
          </a:p>
          <a:p>
            <a:pPr indent="0" marL="0">
              <a:lnSpc>
                <a:spcPct val="112000"/>
              </a:lnSpc>
              <a:buNone/>
            </a:pPr>
            <a:r>
              <a:rPr lang="en-US" sz="1100" dirty="0">
                <a:solidFill>
                  <a:srgbClr val="BFEFE0"/>
                </a:solidFill>
                <a:latin typeface="Courier New" pitchFamily="34" charset="0"/>
                <a:ea typeface="Courier New" pitchFamily="34" charset="-122"/>
                <a:cs typeface="Courier New" pitchFamily="34" charset="-120"/>
              </a:rPr>
              <a:t>  .start()</a:t>
            </a:r>
            <a:endParaRPr lang="en-US" sz="1100" dirty="0"/>
          </a:p>
          <a:p>
            <a:pPr indent="0" marL="0">
              <a:lnSpc>
                <a:spcPct val="112000"/>
              </a:lnSpc>
              <a:buNone/>
            </a:pPr>
            <a:endParaRPr lang="en-US" sz="1100" dirty="0"/>
          </a:p>
          <a:p>
            <a:pPr indent="0" marL="0">
              <a:lnSpc>
                <a:spcPct val="112000"/>
              </a:lnSpc>
              <a:buNone/>
            </a:pPr>
            <a:r>
              <a:rPr lang="en-US" sz="1100" dirty="0">
                <a:solidFill>
                  <a:srgbClr val="BFEFE0"/>
                </a:solidFill>
                <a:latin typeface="Courier New" pitchFamily="34" charset="0"/>
                <a:ea typeface="Courier New" pitchFamily="34" charset="-122"/>
                <a:cs typeface="Courier New" pitchFamily="34" charset="-120"/>
              </a:rPr>
              <a:t>df.writeStream</a:t>
            </a:r>
            <a:endParaRPr lang="en-US" sz="1100" dirty="0"/>
          </a:p>
          <a:p>
            <a:pPr indent="0" marL="0">
              <a:lnSpc>
                <a:spcPct val="112000"/>
              </a:lnSpc>
              <a:buNone/>
            </a:pPr>
            <a:r>
              <a:rPr lang="en-US" sz="1100" dirty="0">
                <a:solidFill>
                  <a:srgbClr val="BFEFE0"/>
                </a:solidFill>
                <a:latin typeface="Courier New" pitchFamily="34" charset="0"/>
                <a:ea typeface="Courier New" pitchFamily="34" charset="-122"/>
                <a:cs typeface="Courier New" pitchFamily="34" charset="-120"/>
              </a:rPr>
              <a:t>  .trigger(availableNow=True)</a:t>
            </a:r>
            <a:endParaRPr lang="en-US" sz="1100" dirty="0"/>
          </a:p>
          <a:p>
            <a:pPr indent="0" marL="0">
              <a:lnSpc>
                <a:spcPct val="112000"/>
              </a:lnSpc>
              <a:buNone/>
            </a:pPr>
            <a:r>
              <a:rPr lang="en-US" sz="1100" dirty="0">
                <a:solidFill>
                  <a:srgbClr val="BFEFE0"/>
                </a:solidFill>
                <a:latin typeface="Courier New" pitchFamily="34" charset="0"/>
                <a:ea typeface="Courier New" pitchFamily="34" charset="-122"/>
                <a:cs typeface="Courier New" pitchFamily="34" charset="-120"/>
              </a:rPr>
              <a:t>  .start()</a:t>
            </a:r>
            <a:endParaRPr lang="en-US" sz="1100" dirty="0"/>
          </a:p>
        </p:txBody>
      </p:sp>
      <p:sp>
        <p:nvSpPr>
          <p:cNvPr id="43" name="Text 41"/>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44" name="Text 42"/>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594360"/>
          </a:xfrm>
          <a:prstGeom prst="rect">
            <a:avLst/>
          </a:prstGeom>
          <a:noFill/>
          <a:ln/>
        </p:spPr>
        <p:txBody>
          <a:bodyPr wrap="square" lIns="0" tIns="0" rIns="0" bIns="0" rtlCol="0" anchor="ctr"/>
          <a:lstStyle/>
          <a:p>
            <a:pPr indent="0" marL="0">
              <a:buNone/>
            </a:pPr>
            <a:r>
              <a:rPr lang="en-US" sz="3000" b="1" dirty="0">
                <a:solidFill>
                  <a:srgbClr val="0B1F26"/>
                </a:solidFill>
                <a:latin typeface="Century Schoolbook" pitchFamily="34" charset="0"/>
                <a:ea typeface="Century Schoolbook" pitchFamily="34" charset="-122"/>
                <a:cs typeface="Century Schoolbook" pitchFamily="34" charset="-120"/>
              </a:rPr>
              <a:t>foreachBatch()</a:t>
            </a:r>
            <a:endParaRPr lang="en-US" sz="3000" dirty="0"/>
          </a:p>
        </p:txBody>
      </p:sp>
      <p:sp>
        <p:nvSpPr>
          <p:cNvPr id="3" name="Text 1"/>
          <p:cNvSpPr txBox="1"/>
          <p:nvPr/>
        </p:nvSpPr>
        <p:spPr>
          <a:xfrm>
            <a:off x="548640" y="960120"/>
            <a:ext cx="10515600" cy="548640"/>
          </a:xfrm>
          <a:prstGeom prst="rect">
            <a:avLst/>
          </a:prstGeom>
          <a:noFill/>
          <a:ln/>
        </p:spPr>
        <p:txBody>
          <a:bodyPr wrap="square" lIns="0" tIns="0" rIns="0" bIns="0" rtlCol="0" anchor="ctr"/>
          <a:lstStyle/>
          <a:p>
            <a:pPr indent="0" marL="0">
              <a:lnSpc>
                <a:spcPct val="120000"/>
              </a:lnSpc>
              <a:buNone/>
            </a:pPr>
            <a:r>
              <a:rPr lang="en-US" sz="1250" i="1" dirty="0">
                <a:solidFill>
                  <a:srgbClr val="5A7A7C"/>
                </a:solidFill>
                <a:latin typeface="Calibri" pitchFamily="34" charset="0"/>
                <a:ea typeface="Calibri" pitchFamily="34" charset="-122"/>
                <a:cs typeface="Calibri" pitchFamily="34" charset="-120"/>
              </a:rPr>
              <a:t>Run custom code on each micro-batch produced by a streaming query, using normal Spark DataFrame operations — every time Spark creates a micro-batch, your function runs on that batch.</a:t>
            </a:r>
            <a:endParaRPr lang="en-US" sz="1250" dirty="0"/>
          </a:p>
        </p:txBody>
      </p:sp>
      <p:sp>
        <p:nvSpPr>
          <p:cNvPr id="4" name="Shape 2"/>
          <p:cNvSpPr/>
          <p:nvPr/>
        </p:nvSpPr>
        <p:spPr>
          <a:xfrm>
            <a:off x="548640" y="1691640"/>
            <a:ext cx="1828800" cy="868680"/>
          </a:xfrm>
          <a:prstGeom prst="roundRect">
            <a:avLst>
              <a:gd name="adj" fmla="val 10526"/>
            </a:avLst>
          </a:prstGeom>
          <a:solidFill>
            <a:srgbClr val="FFFFFF"/>
          </a:solidFill>
          <a:ln w="19050">
            <a:solidFill>
              <a:srgbClr val="028090"/>
            </a:solidFill>
            <a:prstDash val="solid"/>
          </a:ln>
        </p:spPr>
      </p:sp>
      <p:sp>
        <p:nvSpPr>
          <p:cNvPr id="5" name="Text 3"/>
          <p:cNvSpPr txBox="1"/>
          <p:nvPr/>
        </p:nvSpPr>
        <p:spPr>
          <a:xfrm>
            <a:off x="640080" y="1783080"/>
            <a:ext cx="1645920" cy="365760"/>
          </a:xfrm>
          <a:prstGeom prst="rect">
            <a:avLst/>
          </a:prstGeom>
          <a:noFill/>
          <a:ln/>
        </p:spPr>
        <p:txBody>
          <a:bodyPr wrap="square" lIns="0" tIns="0" rIns="0" bIns="0" rtlCol="0" anchor="ctr"/>
          <a:lstStyle/>
          <a:p>
            <a:pPr algn="ctr" indent="0" marL="0">
              <a:buNone/>
            </a:pPr>
            <a:r>
              <a:rPr lang="en-US" sz="1250" b="1" dirty="0">
                <a:solidFill>
                  <a:srgbClr val="0B1F26"/>
                </a:solidFill>
                <a:latin typeface="Calibri" pitchFamily="34" charset="0"/>
                <a:ea typeface="Calibri" pitchFamily="34" charset="-122"/>
                <a:cs typeface="Calibri" pitchFamily="34" charset="-120"/>
              </a:rPr>
              <a:t>Streaming Query</a:t>
            </a:r>
            <a:endParaRPr lang="en-US" sz="1250" dirty="0"/>
          </a:p>
        </p:txBody>
      </p:sp>
      <p:sp>
        <p:nvSpPr>
          <p:cNvPr id="6" name="Text 4"/>
          <p:cNvSpPr txBox="1"/>
          <p:nvPr/>
        </p:nvSpPr>
        <p:spPr>
          <a:xfrm>
            <a:off x="640080" y="2130552"/>
            <a:ext cx="1645920" cy="384048"/>
          </a:xfrm>
          <a:prstGeom prst="rect">
            <a:avLst/>
          </a:prstGeom>
          <a:noFill/>
          <a:ln/>
        </p:spPr>
        <p:txBody>
          <a:bodyPr wrap="square" lIns="0" tIns="0" rIns="0" bIns="0" rtlCol="0" anchor="ctr"/>
          <a:lstStyle/>
          <a:p>
            <a:pPr algn="ctr" indent="0" marL="0">
              <a:buNone/>
            </a:pPr>
            <a:r>
              <a:rPr lang="en-US" sz="950" dirty="0">
                <a:solidFill>
                  <a:srgbClr val="5A7A7C"/>
                </a:solidFill>
                <a:latin typeface="Calibri" pitchFamily="34" charset="0"/>
                <a:ea typeface="Calibri" pitchFamily="34" charset="-122"/>
                <a:cs typeface="Calibri" pitchFamily="34" charset="-120"/>
              </a:rPr>
              <a:t>produces a micro-batch</a:t>
            </a:r>
            <a:endParaRPr lang="en-US" sz="950" dirty="0"/>
          </a:p>
        </p:txBody>
      </p:sp>
      <p:sp>
        <p:nvSpPr>
          <p:cNvPr id="7" name="Text 5"/>
          <p:cNvSpPr txBox="1"/>
          <p:nvPr/>
        </p:nvSpPr>
        <p:spPr>
          <a:xfrm>
            <a:off x="2377440" y="1691640"/>
            <a:ext cx="365760" cy="868680"/>
          </a:xfrm>
          <a:prstGeom prst="rect">
            <a:avLst/>
          </a:prstGeom>
          <a:noFill/>
          <a:ln/>
        </p:spPr>
        <p:txBody>
          <a:bodyPr wrap="square" lIns="0" tIns="0" rIns="0" bIns="0"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a:t>
            </a:r>
            <a:endParaRPr lang="en-US" sz="2200" dirty="0"/>
          </a:p>
        </p:txBody>
      </p:sp>
      <p:sp>
        <p:nvSpPr>
          <p:cNvPr id="8" name="Shape 6"/>
          <p:cNvSpPr/>
          <p:nvPr/>
        </p:nvSpPr>
        <p:spPr>
          <a:xfrm>
            <a:off x="2743200" y="1691640"/>
            <a:ext cx="1828800" cy="868680"/>
          </a:xfrm>
          <a:prstGeom prst="roundRect">
            <a:avLst>
              <a:gd name="adj" fmla="val 10526"/>
            </a:avLst>
          </a:prstGeom>
          <a:solidFill>
            <a:srgbClr val="028090"/>
          </a:solidFill>
          <a:ln w="19050">
            <a:solidFill>
              <a:srgbClr val="028090"/>
            </a:solidFill>
            <a:prstDash val="solid"/>
          </a:ln>
        </p:spPr>
      </p:sp>
      <p:sp>
        <p:nvSpPr>
          <p:cNvPr id="9" name="Text 7"/>
          <p:cNvSpPr txBox="1"/>
          <p:nvPr/>
        </p:nvSpPr>
        <p:spPr>
          <a:xfrm>
            <a:off x="2834640" y="1783080"/>
            <a:ext cx="164592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process_batch()</a:t>
            </a:r>
            <a:endParaRPr lang="en-US" sz="1250" dirty="0"/>
          </a:p>
        </p:txBody>
      </p:sp>
      <p:sp>
        <p:nvSpPr>
          <p:cNvPr id="10" name="Text 8"/>
          <p:cNvSpPr txBox="1"/>
          <p:nvPr/>
        </p:nvSpPr>
        <p:spPr>
          <a:xfrm>
            <a:off x="2834640" y="2130552"/>
            <a:ext cx="1645920" cy="384048"/>
          </a:xfrm>
          <a:prstGeom prst="rect">
            <a:avLst/>
          </a:prstGeom>
          <a:noFill/>
          <a:ln/>
        </p:spPr>
        <p:txBody>
          <a:bodyPr wrap="square" lIns="0" tIns="0" rIns="0" bIns="0" rtlCol="0" anchor="ctr"/>
          <a:lstStyle/>
          <a:p>
            <a:pPr algn="ctr" indent="0" marL="0">
              <a:buNone/>
            </a:pPr>
            <a:r>
              <a:rPr lang="en-US" sz="950" dirty="0">
                <a:solidFill>
                  <a:srgbClr val="EAF4F4"/>
                </a:solidFill>
                <a:latin typeface="Calibri" pitchFamily="34" charset="0"/>
                <a:ea typeface="Calibri" pitchFamily="34" charset="-122"/>
                <a:cs typeface="Calibri" pitchFamily="34" charset="-120"/>
              </a:rPr>
              <a:t>your custom function runs</a:t>
            </a:r>
            <a:endParaRPr lang="en-US" sz="950" dirty="0"/>
          </a:p>
        </p:txBody>
      </p:sp>
      <p:sp>
        <p:nvSpPr>
          <p:cNvPr id="11" name="Text 9"/>
          <p:cNvSpPr txBox="1"/>
          <p:nvPr/>
        </p:nvSpPr>
        <p:spPr>
          <a:xfrm>
            <a:off x="4572000" y="1691640"/>
            <a:ext cx="365760" cy="868680"/>
          </a:xfrm>
          <a:prstGeom prst="rect">
            <a:avLst/>
          </a:prstGeom>
          <a:noFill/>
          <a:ln/>
        </p:spPr>
        <p:txBody>
          <a:bodyPr wrap="square" lIns="0" tIns="0" rIns="0" bIns="0" rtlCol="0" anchor="ctr"/>
          <a:lstStyle/>
          <a:p>
            <a:pPr algn="ctr" indent="0" marL="0">
              <a:buNone/>
            </a:pPr>
            <a:r>
              <a:rPr lang="en-US" sz="2200" b="1" dirty="0">
                <a:solidFill>
                  <a:srgbClr val="00A896"/>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937760" y="1691640"/>
            <a:ext cx="1828800" cy="868680"/>
          </a:xfrm>
          <a:prstGeom prst="roundRect">
            <a:avLst>
              <a:gd name="adj" fmla="val 10526"/>
            </a:avLst>
          </a:prstGeom>
          <a:solidFill>
            <a:srgbClr val="FFFFFF"/>
          </a:solidFill>
          <a:ln w="19050">
            <a:solidFill>
              <a:srgbClr val="028090"/>
            </a:solidFill>
            <a:prstDash val="solid"/>
          </a:ln>
        </p:spPr>
      </p:sp>
      <p:sp>
        <p:nvSpPr>
          <p:cNvPr id="13" name="Text 11"/>
          <p:cNvSpPr txBox="1"/>
          <p:nvPr/>
        </p:nvSpPr>
        <p:spPr>
          <a:xfrm>
            <a:off x="5029200" y="1783080"/>
            <a:ext cx="1645920" cy="365760"/>
          </a:xfrm>
          <a:prstGeom prst="rect">
            <a:avLst/>
          </a:prstGeom>
          <a:noFill/>
          <a:ln/>
        </p:spPr>
        <p:txBody>
          <a:bodyPr wrap="square" lIns="0" tIns="0" rIns="0" bIns="0" rtlCol="0" anchor="ctr"/>
          <a:lstStyle/>
          <a:p>
            <a:pPr algn="ctr" indent="0" marL="0">
              <a:buNone/>
            </a:pPr>
            <a:r>
              <a:rPr lang="en-US" sz="1250" b="1" dirty="0">
                <a:solidFill>
                  <a:srgbClr val="0B1F26"/>
                </a:solidFill>
                <a:latin typeface="Calibri" pitchFamily="34" charset="0"/>
                <a:ea typeface="Calibri" pitchFamily="34" charset="-122"/>
                <a:cs typeface="Calibri" pitchFamily="34" charset="-120"/>
              </a:rPr>
              <a:t>batch_df</a:t>
            </a:r>
            <a:endParaRPr lang="en-US" sz="1250" dirty="0"/>
          </a:p>
        </p:txBody>
      </p:sp>
      <p:sp>
        <p:nvSpPr>
          <p:cNvPr id="14" name="Text 12"/>
          <p:cNvSpPr txBox="1"/>
          <p:nvPr/>
        </p:nvSpPr>
        <p:spPr>
          <a:xfrm>
            <a:off x="5029200" y="2130552"/>
            <a:ext cx="1645920" cy="384048"/>
          </a:xfrm>
          <a:prstGeom prst="rect">
            <a:avLst/>
          </a:prstGeom>
          <a:noFill/>
          <a:ln/>
        </p:spPr>
        <p:txBody>
          <a:bodyPr wrap="square" lIns="0" tIns="0" rIns="0" bIns="0" rtlCol="0" anchor="ctr"/>
          <a:lstStyle/>
          <a:p>
            <a:pPr algn="ctr" indent="0" marL="0">
              <a:buNone/>
            </a:pPr>
            <a:r>
              <a:rPr lang="en-US" sz="950" dirty="0">
                <a:solidFill>
                  <a:srgbClr val="5A7A7C"/>
                </a:solidFill>
                <a:latin typeface="Calibri" pitchFamily="34" charset="0"/>
                <a:ea typeface="Calibri" pitchFamily="34" charset="-122"/>
                <a:cs typeface="Calibri" pitchFamily="34" charset="-120"/>
              </a:rPr>
              <a:t>normal DataFrame operations</a:t>
            </a:r>
            <a:endParaRPr lang="en-US" sz="950" dirty="0"/>
          </a:p>
        </p:txBody>
      </p:sp>
      <p:sp>
        <p:nvSpPr>
          <p:cNvPr id="15" name="Text 13"/>
          <p:cNvSpPr txBox="1"/>
          <p:nvPr/>
        </p:nvSpPr>
        <p:spPr>
          <a:xfrm>
            <a:off x="548640" y="2788920"/>
            <a:ext cx="4572000" cy="32004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Common Use Cases</a:t>
            </a:r>
            <a:endParaRPr lang="en-US" sz="1350" dirty="0"/>
          </a:p>
        </p:txBody>
      </p:sp>
      <p:sp>
        <p:nvSpPr>
          <p:cNvPr id="16" name="Shape 14"/>
          <p:cNvSpPr/>
          <p:nvPr/>
        </p:nvSpPr>
        <p:spPr>
          <a:xfrm>
            <a:off x="548640" y="3264408"/>
            <a:ext cx="82296" cy="82296"/>
          </a:xfrm>
          <a:prstGeom prst="ellipse">
            <a:avLst/>
          </a:prstGeom>
          <a:solidFill>
            <a:srgbClr val="00A896"/>
          </a:solidFill>
          <a:ln/>
        </p:spPr>
      </p:sp>
      <p:sp>
        <p:nvSpPr>
          <p:cNvPr id="17" name="Text 15"/>
          <p:cNvSpPr txBox="1"/>
          <p:nvPr/>
        </p:nvSpPr>
        <p:spPr>
          <a:xfrm>
            <a:off x="749808" y="3108960"/>
            <a:ext cx="10680192" cy="420624"/>
          </a:xfrm>
          <a:prstGeom prst="rect">
            <a:avLst/>
          </a:prstGeom>
          <a:noFill/>
          <a:ln/>
        </p:spPr>
        <p:txBody>
          <a:bodyPr wrap="square" lIns="0" tIns="0" rIns="0" bIns="0" rtlCol="0" anchor="t"/>
          <a:lstStyle/>
          <a:p>
            <a:pPr indent="0" marL="0">
              <a:lnSpc>
                <a:spcPct val="110000"/>
              </a:lnSpc>
              <a:buNone/>
            </a:pPr>
            <a:r>
              <a:rPr lang="en-US" sz="1150" dirty="0">
                <a:solidFill>
                  <a:srgbClr val="3E5A5C"/>
                </a:solidFill>
                <a:latin typeface="Calibri" pitchFamily="34" charset="0"/>
                <a:ea typeface="Calibri" pitchFamily="34" charset="-122"/>
                <a:cs typeface="Calibri" pitchFamily="34" charset="-120"/>
              </a:rPr>
              <a:t>Writing the same batch to multiple sinks (e.g. a database and a data lake)</a:t>
            </a:r>
            <a:endParaRPr lang="en-US" sz="1150" dirty="0"/>
          </a:p>
        </p:txBody>
      </p:sp>
      <p:sp>
        <p:nvSpPr>
          <p:cNvPr id="18" name="Shape 16"/>
          <p:cNvSpPr/>
          <p:nvPr/>
        </p:nvSpPr>
        <p:spPr>
          <a:xfrm>
            <a:off x="548640" y="3593592"/>
            <a:ext cx="82296" cy="82296"/>
          </a:xfrm>
          <a:prstGeom prst="ellipse">
            <a:avLst/>
          </a:prstGeom>
          <a:solidFill>
            <a:srgbClr val="00A896"/>
          </a:solidFill>
          <a:ln/>
        </p:spPr>
      </p:sp>
      <p:sp>
        <p:nvSpPr>
          <p:cNvPr id="19" name="Text 17"/>
          <p:cNvSpPr txBox="1"/>
          <p:nvPr/>
        </p:nvSpPr>
        <p:spPr>
          <a:xfrm>
            <a:off x="749808" y="3438144"/>
            <a:ext cx="10680192" cy="420624"/>
          </a:xfrm>
          <a:prstGeom prst="rect">
            <a:avLst/>
          </a:prstGeom>
          <a:noFill/>
          <a:ln/>
        </p:spPr>
        <p:txBody>
          <a:bodyPr wrap="square" lIns="0" tIns="0" rIns="0" bIns="0" rtlCol="0" anchor="t"/>
          <a:lstStyle/>
          <a:p>
            <a:pPr indent="0" marL="0">
              <a:lnSpc>
                <a:spcPct val="110000"/>
              </a:lnSpc>
              <a:buNone/>
            </a:pPr>
            <a:r>
              <a:rPr lang="en-US" sz="1150" dirty="0">
                <a:solidFill>
                  <a:srgbClr val="3E5A5C"/>
                </a:solidFill>
                <a:latin typeface="Calibri" pitchFamily="34" charset="0"/>
                <a:ea typeface="Calibri" pitchFamily="34" charset="-122"/>
                <a:cs typeface="Calibri" pitchFamily="34" charset="-120"/>
              </a:rPr>
              <a:t>Using batch-only APIs, like a JDBC upsert, not natively supported by writeStream</a:t>
            </a:r>
            <a:endParaRPr lang="en-US" sz="1150" dirty="0"/>
          </a:p>
        </p:txBody>
      </p:sp>
      <p:sp>
        <p:nvSpPr>
          <p:cNvPr id="20" name="Shape 18"/>
          <p:cNvSpPr/>
          <p:nvPr/>
        </p:nvSpPr>
        <p:spPr>
          <a:xfrm>
            <a:off x="548640" y="3922776"/>
            <a:ext cx="82296" cy="82296"/>
          </a:xfrm>
          <a:prstGeom prst="ellipse">
            <a:avLst/>
          </a:prstGeom>
          <a:solidFill>
            <a:srgbClr val="00A896"/>
          </a:solidFill>
          <a:ln/>
        </p:spPr>
      </p:sp>
      <p:sp>
        <p:nvSpPr>
          <p:cNvPr id="21" name="Text 19"/>
          <p:cNvSpPr txBox="1"/>
          <p:nvPr/>
        </p:nvSpPr>
        <p:spPr>
          <a:xfrm>
            <a:off x="749808" y="3767328"/>
            <a:ext cx="10680192" cy="420624"/>
          </a:xfrm>
          <a:prstGeom prst="rect">
            <a:avLst/>
          </a:prstGeom>
          <a:noFill/>
          <a:ln/>
        </p:spPr>
        <p:txBody>
          <a:bodyPr wrap="square" lIns="0" tIns="0" rIns="0" bIns="0" rtlCol="0" anchor="t"/>
          <a:lstStyle/>
          <a:p>
            <a:pPr indent="0" marL="0">
              <a:lnSpc>
                <a:spcPct val="110000"/>
              </a:lnSpc>
              <a:buNone/>
            </a:pPr>
            <a:r>
              <a:rPr lang="en-US" sz="1150" dirty="0">
                <a:solidFill>
                  <a:srgbClr val="3E5A5C"/>
                </a:solidFill>
                <a:latin typeface="Calibri" pitchFamily="34" charset="0"/>
                <a:ea typeface="Calibri" pitchFamily="34" charset="-122"/>
                <a:cs typeface="Calibri" pitchFamily="34" charset="-120"/>
              </a:rPr>
              <a:t>Reusing existing batch DataFrame logic inside a streaming pipeline</a:t>
            </a:r>
            <a:endParaRPr lang="en-US" sz="1150" dirty="0"/>
          </a:p>
        </p:txBody>
      </p:sp>
      <p:sp>
        <p:nvSpPr>
          <p:cNvPr id="22" name="Shape 20"/>
          <p:cNvSpPr/>
          <p:nvPr/>
        </p:nvSpPr>
        <p:spPr>
          <a:xfrm>
            <a:off x="548640" y="4297680"/>
            <a:ext cx="10881360" cy="1965960"/>
          </a:xfrm>
          <a:prstGeom prst="roundRect">
            <a:avLst>
              <a:gd name="adj" fmla="val 2791"/>
            </a:avLst>
          </a:prstGeom>
          <a:solidFill>
            <a:srgbClr val="0E2A31"/>
          </a:solidFill>
          <a:ln w="12700">
            <a:solidFill>
              <a:srgbClr val="1D4E52"/>
            </a:solidFill>
            <a:prstDash val="solid"/>
          </a:ln>
        </p:spPr>
      </p:sp>
      <p:sp>
        <p:nvSpPr>
          <p:cNvPr id="23" name="Text 21"/>
          <p:cNvSpPr txBox="1"/>
          <p:nvPr/>
        </p:nvSpPr>
        <p:spPr>
          <a:xfrm>
            <a:off x="777240" y="4443984"/>
            <a:ext cx="10424160" cy="1673352"/>
          </a:xfrm>
          <a:prstGeom prst="rect">
            <a:avLst/>
          </a:prstGeom>
          <a:noFill/>
          <a:ln/>
        </p:spPr>
        <p:txBody>
          <a:bodyPr wrap="square" lIns="0" tIns="0" rIns="0" bIns="0" rtlCol="0" anchor="t"/>
          <a:lstStyle/>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def process_batch(batch_df, batch_id):</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 normal DataFrame operations</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batch_df.write.jdbc(</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url=db_url, table="orders", mode="append")</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batch_df.show()</a:t>
            </a:r>
            <a:endParaRPr lang="en-US" sz="1250" dirty="0"/>
          </a:p>
          <a:p>
            <a:pPr indent="0" marL="0">
              <a:lnSpc>
                <a:spcPct val="112000"/>
              </a:lnSpc>
              <a:buNone/>
            </a:pP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query = df.writeStream.foreachBatch(process_batch).start()</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query.awaitTermination()</a:t>
            </a:r>
            <a:endParaRPr lang="en-US" sz="1250" dirty="0"/>
          </a:p>
        </p:txBody>
      </p:sp>
      <p:sp>
        <p:nvSpPr>
          <p:cNvPr id="24" name="Text 22"/>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25" name="Text 23"/>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26"/>
        </a:solidFill>
      </p:bgPr>
    </p:bg>
    <p:spTree>
      <p:nvGrpSpPr>
        <p:cNvPr id="1" name=""/>
        <p:cNvGrpSpPr/>
        <p:nvPr/>
      </p:nvGrpSpPr>
      <p:grpSpPr>
        <a:xfrm>
          <a:off x="0" y="0"/>
          <a:ext cx="0" cy="0"/>
          <a:chOff x="0" y="0"/>
          <a:chExt cx="0" cy="0"/>
        </a:xfrm>
      </p:grpSpPr>
      <p:sp>
        <p:nvSpPr>
          <p:cNvPr id="2" name="Text 0"/>
          <p:cNvSpPr txBox="1"/>
          <p:nvPr/>
        </p:nvSpPr>
        <p:spPr>
          <a:xfrm>
            <a:off x="548640" y="365760"/>
            <a:ext cx="10058400" cy="594360"/>
          </a:xfrm>
          <a:prstGeom prst="rect">
            <a:avLst/>
          </a:prstGeom>
          <a:noFill/>
          <a:ln/>
        </p:spPr>
        <p:txBody>
          <a:bodyPr wrap="square" lIns="0" tIns="0" rIns="0" bIns="0" rtlCol="0" anchor="ctr"/>
          <a:lstStyle/>
          <a:p>
            <a:pPr indent="0" marL="0">
              <a:buNone/>
            </a:pPr>
            <a:r>
              <a:rPr lang="en-US" sz="2900" b="1" dirty="0">
                <a:solidFill>
                  <a:srgbClr val="FFFFFF"/>
                </a:solidFill>
                <a:latin typeface="Century Schoolbook" pitchFamily="34" charset="0"/>
                <a:ea typeface="Century Schoolbook" pitchFamily="34" charset="-122"/>
                <a:cs typeface="Century Schoolbook" pitchFamily="34" charset="-120"/>
              </a:rPr>
              <a:t>Event Time vs. Processing Time</a:t>
            </a:r>
            <a:endParaRPr lang="en-US" sz="2900" dirty="0"/>
          </a:p>
        </p:txBody>
      </p:sp>
      <p:sp>
        <p:nvSpPr>
          <p:cNvPr id="3" name="Text 1"/>
          <p:cNvSpPr txBox="1"/>
          <p:nvPr/>
        </p:nvSpPr>
        <p:spPr>
          <a:xfrm>
            <a:off x="548640" y="914400"/>
            <a:ext cx="9601200" cy="365760"/>
          </a:xfrm>
          <a:prstGeom prst="rect">
            <a:avLst/>
          </a:prstGeom>
          <a:noFill/>
          <a:ln/>
        </p:spPr>
        <p:txBody>
          <a:bodyPr wrap="square" lIns="0" tIns="0" rIns="0" bIns="0" rtlCol="0" anchor="ctr"/>
          <a:lstStyle/>
          <a:p>
            <a:pPr indent="0" marL="0">
              <a:buNone/>
            </a:pPr>
            <a:r>
              <a:rPr lang="en-US" sz="1300" i="1" dirty="0">
                <a:solidFill>
                  <a:srgbClr val="9FC3C4"/>
                </a:solidFill>
                <a:latin typeface="Calibri" pitchFamily="34" charset="0"/>
                <a:ea typeface="Calibri" pitchFamily="34" charset="-122"/>
                <a:cs typeface="Calibri" pitchFamily="34" charset="-120"/>
              </a:rPr>
              <a:t>Two different clocks matter in streaming — and they rarely agree exactly.</a:t>
            </a:r>
            <a:endParaRPr lang="en-US" sz="1300" dirty="0"/>
          </a:p>
        </p:txBody>
      </p:sp>
      <p:sp>
        <p:nvSpPr>
          <p:cNvPr id="4" name="Shape 2"/>
          <p:cNvSpPr/>
          <p:nvPr/>
        </p:nvSpPr>
        <p:spPr>
          <a:xfrm>
            <a:off x="548640" y="1417320"/>
            <a:ext cx="5212080" cy="1874520"/>
          </a:xfrm>
          <a:prstGeom prst="roundRect">
            <a:avLst>
              <a:gd name="adj" fmla="val 4878"/>
            </a:avLst>
          </a:prstGeom>
          <a:solidFill>
            <a:srgbClr val="13303A"/>
          </a:solidFill>
          <a:ln w="12700">
            <a:solidFill>
              <a:srgbClr val="1D4E52"/>
            </a:solidFill>
            <a:prstDash val="solid"/>
          </a:ln>
        </p:spPr>
      </p:sp>
      <p:sp>
        <p:nvSpPr>
          <p:cNvPr id="5" name="Text 3"/>
          <p:cNvSpPr txBox="1"/>
          <p:nvPr/>
        </p:nvSpPr>
        <p:spPr>
          <a:xfrm>
            <a:off x="868680" y="1645920"/>
            <a:ext cx="4572000" cy="411480"/>
          </a:xfrm>
          <a:prstGeom prst="rect">
            <a:avLst/>
          </a:prstGeom>
          <a:noFill/>
          <a:ln/>
        </p:spPr>
        <p:txBody>
          <a:bodyPr wrap="square" lIns="0" tIns="0" rIns="0" bIns="0" rtlCol="0" anchor="ctr"/>
          <a:lstStyle/>
          <a:p>
            <a:pPr indent="0" marL="0">
              <a:buNone/>
            </a:pPr>
            <a:r>
              <a:rPr lang="en-US" sz="1700" b="1" dirty="0">
                <a:solidFill>
                  <a:srgbClr val="02C39A"/>
                </a:solidFill>
                <a:latin typeface="Calibri" pitchFamily="34" charset="0"/>
                <a:ea typeface="Calibri" pitchFamily="34" charset="-122"/>
                <a:cs typeface="Calibri" pitchFamily="34" charset="-120"/>
              </a:rPr>
              <a:t>Event Time</a:t>
            </a:r>
            <a:endParaRPr lang="en-US" sz="1700" dirty="0"/>
          </a:p>
        </p:txBody>
      </p:sp>
      <p:sp>
        <p:nvSpPr>
          <p:cNvPr id="6" name="Text 4"/>
          <p:cNvSpPr txBox="1"/>
          <p:nvPr/>
        </p:nvSpPr>
        <p:spPr>
          <a:xfrm>
            <a:off x="868680" y="2148840"/>
            <a:ext cx="4572000" cy="1005840"/>
          </a:xfrm>
          <a:prstGeom prst="rect">
            <a:avLst/>
          </a:prstGeom>
          <a:noFill/>
          <a:ln/>
        </p:spPr>
        <p:txBody>
          <a:bodyPr wrap="square" lIns="0" tIns="0" rIns="0" bIns="0" rtlCol="0" anchor="ctr"/>
          <a:lstStyle/>
          <a:p>
            <a:pPr indent="0" marL="0">
              <a:lnSpc>
                <a:spcPct val="122000"/>
              </a:lnSpc>
              <a:buNone/>
            </a:pPr>
            <a:r>
              <a:rPr lang="en-US" sz="1200" dirty="0">
                <a:solidFill>
                  <a:srgbClr val="EAF4F4"/>
                </a:solidFill>
                <a:latin typeface="Calibri" pitchFamily="34" charset="0"/>
                <a:ea typeface="Calibri" pitchFamily="34" charset="-122"/>
                <a:cs typeface="Calibri" pitchFamily="34" charset="-120"/>
              </a:rPr>
              <a:t>The timestamp attached to the event by the producer/source — when the event actually happened, out in the real world.</a:t>
            </a:r>
            <a:endParaRPr lang="en-US" sz="1200" dirty="0"/>
          </a:p>
        </p:txBody>
      </p:sp>
      <p:sp>
        <p:nvSpPr>
          <p:cNvPr id="7" name="Shape 5"/>
          <p:cNvSpPr/>
          <p:nvPr/>
        </p:nvSpPr>
        <p:spPr>
          <a:xfrm>
            <a:off x="6309360" y="1417320"/>
            <a:ext cx="5212080" cy="1874520"/>
          </a:xfrm>
          <a:prstGeom prst="roundRect">
            <a:avLst>
              <a:gd name="adj" fmla="val 4878"/>
            </a:avLst>
          </a:prstGeom>
          <a:solidFill>
            <a:srgbClr val="13303A"/>
          </a:solidFill>
          <a:ln w="12700">
            <a:solidFill>
              <a:srgbClr val="1D4E52"/>
            </a:solidFill>
            <a:prstDash val="solid"/>
          </a:ln>
        </p:spPr>
      </p:sp>
      <p:sp>
        <p:nvSpPr>
          <p:cNvPr id="8" name="Text 6"/>
          <p:cNvSpPr txBox="1"/>
          <p:nvPr/>
        </p:nvSpPr>
        <p:spPr>
          <a:xfrm>
            <a:off x="6629400" y="1645920"/>
            <a:ext cx="4572000" cy="411480"/>
          </a:xfrm>
          <a:prstGeom prst="rect">
            <a:avLst/>
          </a:prstGeom>
          <a:noFill/>
          <a:ln/>
        </p:spPr>
        <p:txBody>
          <a:bodyPr wrap="square" lIns="0" tIns="0" rIns="0" bIns="0" rtlCol="0" anchor="ctr"/>
          <a:lstStyle/>
          <a:p>
            <a:pPr indent="0" marL="0">
              <a:buNone/>
            </a:pPr>
            <a:r>
              <a:rPr lang="en-US" sz="1700" b="1" dirty="0">
                <a:solidFill>
                  <a:srgbClr val="028090"/>
                </a:solidFill>
                <a:latin typeface="Calibri" pitchFamily="34" charset="0"/>
                <a:ea typeface="Calibri" pitchFamily="34" charset="-122"/>
                <a:cs typeface="Calibri" pitchFamily="34" charset="-120"/>
              </a:rPr>
              <a:t>Processing Time</a:t>
            </a:r>
            <a:endParaRPr lang="en-US" sz="1700" dirty="0"/>
          </a:p>
        </p:txBody>
      </p:sp>
      <p:sp>
        <p:nvSpPr>
          <p:cNvPr id="9" name="Text 7"/>
          <p:cNvSpPr txBox="1"/>
          <p:nvPr/>
        </p:nvSpPr>
        <p:spPr>
          <a:xfrm>
            <a:off x="6629400" y="2148840"/>
            <a:ext cx="4572000" cy="1005840"/>
          </a:xfrm>
          <a:prstGeom prst="rect">
            <a:avLst/>
          </a:prstGeom>
          <a:noFill/>
          <a:ln/>
        </p:spPr>
        <p:txBody>
          <a:bodyPr wrap="square" lIns="0" tIns="0" rIns="0" bIns="0" rtlCol="0" anchor="ctr"/>
          <a:lstStyle/>
          <a:p>
            <a:pPr indent="0" marL="0">
              <a:lnSpc>
                <a:spcPct val="122000"/>
              </a:lnSpc>
              <a:buNone/>
            </a:pPr>
            <a:r>
              <a:rPr lang="en-US" sz="1200" dirty="0">
                <a:solidFill>
                  <a:srgbClr val="EAF4F4"/>
                </a:solidFill>
                <a:latin typeface="Calibri" pitchFamily="34" charset="0"/>
                <a:ea typeface="Calibri" pitchFamily="34" charset="-122"/>
                <a:cs typeface="Calibri" pitchFamily="34" charset="-120"/>
              </a:rPr>
              <a:t>The time when Spark actually processes the event — when the record reaches and is handled by the engine.</a:t>
            </a:r>
            <a:endParaRPr lang="en-US" sz="1200" dirty="0"/>
          </a:p>
        </p:txBody>
      </p:sp>
      <p:sp>
        <p:nvSpPr>
          <p:cNvPr id="10" name="Shape 8"/>
          <p:cNvSpPr/>
          <p:nvPr/>
        </p:nvSpPr>
        <p:spPr>
          <a:xfrm>
            <a:off x="548640" y="3429000"/>
            <a:ext cx="10881360" cy="777240"/>
          </a:xfrm>
          <a:prstGeom prst="roundRect">
            <a:avLst>
              <a:gd name="adj" fmla="val 9412"/>
            </a:avLst>
          </a:prstGeom>
          <a:solidFill>
            <a:srgbClr val="0F262D"/>
          </a:solidFill>
          <a:ln w="12700">
            <a:solidFill>
              <a:srgbClr val="1D4E52"/>
            </a:solidFill>
            <a:prstDash val="solid"/>
          </a:ln>
        </p:spPr>
      </p:sp>
      <p:sp>
        <p:nvSpPr>
          <p:cNvPr id="11" name="Text 9"/>
          <p:cNvSpPr txBox="1"/>
          <p:nvPr/>
        </p:nvSpPr>
        <p:spPr>
          <a:xfrm>
            <a:off x="822960" y="3520440"/>
            <a:ext cx="10332720" cy="594360"/>
          </a:xfrm>
          <a:prstGeom prst="rect">
            <a:avLst/>
          </a:prstGeom>
          <a:noFill/>
          <a:ln/>
        </p:spPr>
        <p:txBody>
          <a:bodyPr wrap="square" lIns="0" tIns="0" rIns="0" bIns="0" rtlCol="0" anchor="ctr"/>
          <a:lstStyle/>
          <a:p>
            <a:pPr indent="0" marL="0">
              <a:lnSpc>
                <a:spcPct val="120000"/>
              </a:lnSpc>
              <a:buNone/>
            </a:pPr>
            <a:r>
              <a:rPr lang="en-US" sz="1150" i="1" dirty="0">
                <a:solidFill>
                  <a:srgbClr val="02C39A"/>
                </a:solidFill>
                <a:latin typeface="Calibri" pitchFamily="34" charset="0"/>
                <a:ea typeface="Calibri" pitchFamily="34" charset="-122"/>
                <a:cs typeface="Calibri" pitchFamily="34" charset="-120"/>
              </a:rPr>
              <a:t>Why the gap matters: a mobile app might buffer events offline for 10 minutes before syncing — event time is 10:02, but Spark doesn't process it until 10:12. Aggregations based on processing time would put it in the wrong bucket.</a:t>
            </a:r>
            <a:endParaRPr lang="en-US" sz="1150" dirty="0"/>
          </a:p>
        </p:txBody>
      </p:sp>
      <p:sp>
        <p:nvSpPr>
          <p:cNvPr id="12" name="Text 10"/>
          <p:cNvSpPr txBox="1"/>
          <p:nvPr/>
        </p:nvSpPr>
        <p:spPr>
          <a:xfrm>
            <a:off x="548640" y="4343400"/>
            <a:ext cx="5486400" cy="320040"/>
          </a:xfrm>
          <a:prstGeom prst="rect">
            <a:avLst/>
          </a:prstGeom>
          <a:noFill/>
          <a:ln/>
        </p:spPr>
        <p:txBody>
          <a:bodyPr wrap="square" lIns="0" tIns="0" rIns="0" bIns="0" rtlCol="0" anchor="ctr"/>
          <a:lstStyle/>
          <a:p>
            <a:pPr indent="0" marL="0">
              <a:buNone/>
            </a:pPr>
            <a:r>
              <a:rPr lang="en-US" sz="1400" b="1" dirty="0">
                <a:solidFill>
                  <a:srgbClr val="9FC3C4"/>
                </a:solidFill>
                <a:latin typeface="Calibri" pitchFamily="34" charset="0"/>
                <a:ea typeface="Calibri" pitchFamily="34" charset="-122"/>
                <a:cs typeface="Calibri" pitchFamily="34" charset="-120"/>
              </a:rPr>
              <a:t>Windowing by event time</a:t>
            </a:r>
            <a:endParaRPr lang="en-US" sz="1400" dirty="0"/>
          </a:p>
        </p:txBody>
      </p:sp>
      <p:sp>
        <p:nvSpPr>
          <p:cNvPr id="13" name="Shape 11"/>
          <p:cNvSpPr/>
          <p:nvPr/>
        </p:nvSpPr>
        <p:spPr>
          <a:xfrm>
            <a:off x="548640" y="4663440"/>
            <a:ext cx="10881360" cy="1691640"/>
          </a:xfrm>
          <a:prstGeom prst="roundRect">
            <a:avLst>
              <a:gd name="adj" fmla="val 3243"/>
            </a:avLst>
          </a:prstGeom>
          <a:solidFill>
            <a:srgbClr val="0E2A31"/>
          </a:solidFill>
          <a:ln w="12700">
            <a:solidFill>
              <a:srgbClr val="1D4E52"/>
            </a:solidFill>
            <a:prstDash val="solid"/>
          </a:ln>
        </p:spPr>
      </p:sp>
      <p:sp>
        <p:nvSpPr>
          <p:cNvPr id="14" name="Text 12"/>
          <p:cNvSpPr txBox="1"/>
          <p:nvPr/>
        </p:nvSpPr>
        <p:spPr>
          <a:xfrm>
            <a:off x="777240" y="4809744"/>
            <a:ext cx="10424160" cy="1399032"/>
          </a:xfrm>
          <a:prstGeom prst="rect">
            <a:avLst/>
          </a:prstGeom>
          <a:noFill/>
          <a:ln/>
        </p:spPr>
        <p:txBody>
          <a:bodyPr wrap="square" lIns="0" tIns="0" rIns="0" bIns="0" rtlCol="0" anchor="t"/>
          <a:lstStyle/>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result = (</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df</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.groupBy(</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window("event_time", "5 minutes")</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.agg(count("*").alias("orders"))</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a:t>
            </a:r>
            <a:endParaRPr lang="en-US" sz="1250" dirty="0"/>
          </a:p>
        </p:txBody>
      </p:sp>
      <p:sp>
        <p:nvSpPr>
          <p:cNvPr id="15" name="Text 13"/>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16" name="Text 14"/>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94360"/>
          </a:xfrm>
          <a:prstGeom prst="rect">
            <a:avLst/>
          </a:prstGeom>
          <a:noFill/>
          <a:ln/>
        </p:spPr>
        <p:txBody>
          <a:bodyPr wrap="square" lIns="0" tIns="0" rIns="0" bIns="0" rtlCol="0" anchor="ctr"/>
          <a:lstStyle/>
          <a:p>
            <a:pPr indent="0" marL="0">
              <a:buNone/>
            </a:pPr>
            <a:r>
              <a:rPr lang="en-US" sz="2600" b="1" dirty="0">
                <a:solidFill>
                  <a:srgbClr val="0B1F26"/>
                </a:solidFill>
                <a:latin typeface="Century Schoolbook" pitchFamily="34" charset="0"/>
                <a:ea typeface="Century Schoolbook" pitchFamily="34" charset="-122"/>
                <a:cs typeface="Century Schoolbook" pitchFamily="34" charset="-120"/>
              </a:rPr>
              <a:t>Window Operations — Tumbling &amp; Sliding</a:t>
            </a:r>
            <a:endParaRPr lang="en-US" sz="2600" dirty="0"/>
          </a:p>
        </p:txBody>
      </p:sp>
      <p:sp>
        <p:nvSpPr>
          <p:cNvPr id="3" name="Text 1"/>
          <p:cNvSpPr txBox="1"/>
          <p:nvPr/>
        </p:nvSpPr>
        <p:spPr>
          <a:xfrm>
            <a:off x="548640" y="914400"/>
            <a:ext cx="10058400" cy="365760"/>
          </a:xfrm>
          <a:prstGeom prst="rect">
            <a:avLst/>
          </a:prstGeom>
          <a:noFill/>
          <a:ln/>
        </p:spPr>
        <p:txBody>
          <a:bodyPr wrap="square" lIns="0" tIns="0" rIns="0" bIns="0" rtlCol="0" anchor="ctr"/>
          <a:lstStyle/>
          <a:p>
            <a:pPr indent="0" marL="0">
              <a:buNone/>
            </a:pPr>
            <a:r>
              <a:rPr lang="en-US" sz="1300" i="1" dirty="0">
                <a:solidFill>
                  <a:srgbClr val="5A7A7C"/>
                </a:solidFill>
                <a:latin typeface="Calibri" pitchFamily="34" charset="0"/>
                <a:ea typeface="Calibri" pitchFamily="34" charset="-122"/>
                <a:cs typeface="Calibri" pitchFamily="34" charset="-120"/>
              </a:rPr>
              <a:t>Windowing divides a continuous stream into time-based groups so calculations can run per group.</a:t>
            </a:r>
            <a:endParaRPr lang="en-US" sz="1300" dirty="0"/>
          </a:p>
        </p:txBody>
      </p:sp>
      <p:sp>
        <p:nvSpPr>
          <p:cNvPr id="4" name="Shape 2"/>
          <p:cNvSpPr/>
          <p:nvPr/>
        </p:nvSpPr>
        <p:spPr>
          <a:xfrm>
            <a:off x="548640" y="1463040"/>
            <a:ext cx="5212080" cy="4572000"/>
          </a:xfrm>
          <a:prstGeom prst="roundRect">
            <a:avLst>
              <a:gd name="adj" fmla="val 2000"/>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5" name="Shape 3"/>
          <p:cNvSpPr/>
          <p:nvPr/>
        </p:nvSpPr>
        <p:spPr>
          <a:xfrm>
            <a:off x="548640" y="1463040"/>
            <a:ext cx="5212080" cy="502920"/>
          </a:xfrm>
          <a:prstGeom prst="roundRect">
            <a:avLst>
              <a:gd name="adj" fmla="val 18182"/>
            </a:avLst>
          </a:prstGeom>
          <a:solidFill>
            <a:srgbClr val="028090"/>
          </a:solidFill>
          <a:ln/>
        </p:spPr>
      </p:sp>
      <p:sp>
        <p:nvSpPr>
          <p:cNvPr id="6" name="Shape 4"/>
          <p:cNvSpPr/>
          <p:nvPr/>
        </p:nvSpPr>
        <p:spPr>
          <a:xfrm>
            <a:off x="548640" y="1737360"/>
            <a:ext cx="5212080" cy="228600"/>
          </a:xfrm>
          <a:prstGeom prst="rect">
            <a:avLst/>
          </a:prstGeom>
          <a:solidFill>
            <a:srgbClr val="028090"/>
          </a:solidFill>
          <a:ln/>
        </p:spPr>
      </p:sp>
      <p:sp>
        <p:nvSpPr>
          <p:cNvPr id="7" name="Text 5"/>
          <p:cNvSpPr txBox="1"/>
          <p:nvPr/>
        </p:nvSpPr>
        <p:spPr>
          <a:xfrm>
            <a:off x="548640" y="1463040"/>
            <a:ext cx="5212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Tumbling Window</a:t>
            </a:r>
            <a:endParaRPr lang="en-US" sz="1600" dirty="0"/>
          </a:p>
        </p:txBody>
      </p:sp>
      <p:sp>
        <p:nvSpPr>
          <p:cNvPr id="8" name="Shape 6"/>
          <p:cNvSpPr/>
          <p:nvPr/>
        </p:nvSpPr>
        <p:spPr>
          <a:xfrm>
            <a:off x="822960" y="2322576"/>
            <a:ext cx="82296" cy="82296"/>
          </a:xfrm>
          <a:prstGeom prst="ellipse">
            <a:avLst/>
          </a:prstGeom>
          <a:solidFill>
            <a:srgbClr val="028090"/>
          </a:solidFill>
          <a:ln/>
        </p:spPr>
      </p:sp>
      <p:sp>
        <p:nvSpPr>
          <p:cNvPr id="9" name="Text 7"/>
          <p:cNvSpPr txBox="1"/>
          <p:nvPr/>
        </p:nvSpPr>
        <p:spPr>
          <a:xfrm>
            <a:off x="1024128" y="2167128"/>
            <a:ext cx="4462272" cy="475488"/>
          </a:xfrm>
          <a:prstGeom prst="rect">
            <a:avLst/>
          </a:prstGeom>
          <a:noFill/>
          <a:ln/>
        </p:spPr>
        <p:txBody>
          <a:bodyPr wrap="square" lIns="0" tIns="0" rIns="0" bIns="0" rtlCol="0" anchor="t"/>
          <a:lstStyle/>
          <a:p>
            <a:pPr indent="0" marL="0">
              <a:lnSpc>
                <a:spcPct val="115000"/>
              </a:lnSpc>
              <a:buNone/>
            </a:pPr>
            <a:r>
              <a:rPr lang="en-US" sz="1200" dirty="0">
                <a:solidFill>
                  <a:srgbClr val="3E5A5C"/>
                </a:solidFill>
                <a:latin typeface="Calibri" pitchFamily="34" charset="0"/>
                <a:ea typeface="Calibri" pitchFamily="34" charset="-122"/>
                <a:cs typeface="Calibri" pitchFamily="34" charset="-120"/>
              </a:rPr>
              <a:t>Fixed duration</a:t>
            </a:r>
            <a:endParaRPr lang="en-US" sz="1200" dirty="0"/>
          </a:p>
        </p:txBody>
      </p:sp>
      <p:sp>
        <p:nvSpPr>
          <p:cNvPr id="10" name="Shape 8"/>
          <p:cNvSpPr/>
          <p:nvPr/>
        </p:nvSpPr>
        <p:spPr>
          <a:xfrm>
            <a:off x="822960" y="2706624"/>
            <a:ext cx="82296" cy="82296"/>
          </a:xfrm>
          <a:prstGeom prst="ellipse">
            <a:avLst/>
          </a:prstGeom>
          <a:solidFill>
            <a:srgbClr val="028090"/>
          </a:solidFill>
          <a:ln/>
        </p:spPr>
      </p:sp>
      <p:sp>
        <p:nvSpPr>
          <p:cNvPr id="11" name="Text 9"/>
          <p:cNvSpPr txBox="1"/>
          <p:nvPr/>
        </p:nvSpPr>
        <p:spPr>
          <a:xfrm>
            <a:off x="1024128" y="2551176"/>
            <a:ext cx="4462272" cy="475488"/>
          </a:xfrm>
          <a:prstGeom prst="rect">
            <a:avLst/>
          </a:prstGeom>
          <a:noFill/>
          <a:ln/>
        </p:spPr>
        <p:txBody>
          <a:bodyPr wrap="square" lIns="0" tIns="0" rIns="0" bIns="0" rtlCol="0" anchor="t"/>
          <a:lstStyle/>
          <a:p>
            <a:pPr indent="0" marL="0">
              <a:lnSpc>
                <a:spcPct val="115000"/>
              </a:lnSpc>
              <a:buNone/>
            </a:pPr>
            <a:r>
              <a:rPr lang="en-US" sz="1200" dirty="0">
                <a:solidFill>
                  <a:srgbClr val="3E5A5C"/>
                </a:solidFill>
                <a:latin typeface="Calibri" pitchFamily="34" charset="0"/>
                <a:ea typeface="Calibri" pitchFamily="34" charset="-122"/>
                <a:cs typeface="Calibri" pitchFamily="34" charset="-120"/>
              </a:rPr>
              <a:t>No overlap between windows</a:t>
            </a:r>
            <a:endParaRPr lang="en-US" sz="1200" dirty="0"/>
          </a:p>
        </p:txBody>
      </p:sp>
      <p:sp>
        <p:nvSpPr>
          <p:cNvPr id="12" name="Shape 10"/>
          <p:cNvSpPr/>
          <p:nvPr/>
        </p:nvSpPr>
        <p:spPr>
          <a:xfrm>
            <a:off x="822960" y="3090672"/>
            <a:ext cx="82296" cy="82296"/>
          </a:xfrm>
          <a:prstGeom prst="ellipse">
            <a:avLst/>
          </a:prstGeom>
          <a:solidFill>
            <a:srgbClr val="028090"/>
          </a:solidFill>
          <a:ln/>
        </p:spPr>
      </p:sp>
      <p:sp>
        <p:nvSpPr>
          <p:cNvPr id="13" name="Text 11"/>
          <p:cNvSpPr txBox="1"/>
          <p:nvPr/>
        </p:nvSpPr>
        <p:spPr>
          <a:xfrm>
            <a:off x="1024128" y="2935224"/>
            <a:ext cx="4462272" cy="475488"/>
          </a:xfrm>
          <a:prstGeom prst="rect">
            <a:avLst/>
          </a:prstGeom>
          <a:noFill/>
          <a:ln/>
        </p:spPr>
        <p:txBody>
          <a:bodyPr wrap="square" lIns="0" tIns="0" rIns="0" bIns="0" rtlCol="0" anchor="t"/>
          <a:lstStyle/>
          <a:p>
            <a:pPr indent="0" marL="0">
              <a:lnSpc>
                <a:spcPct val="115000"/>
              </a:lnSpc>
              <a:buNone/>
            </a:pPr>
            <a:r>
              <a:rPr lang="en-US" sz="1200" dirty="0">
                <a:solidFill>
                  <a:srgbClr val="3E5A5C"/>
                </a:solidFill>
                <a:latin typeface="Calibri" pitchFamily="34" charset="0"/>
                <a:ea typeface="Calibri" pitchFamily="34" charset="-122"/>
                <a:cs typeface="Calibri" pitchFamily="34" charset="-120"/>
              </a:rPr>
              <a:t>Each event belongs to exactly one window</a:t>
            </a:r>
            <a:endParaRPr lang="en-US" sz="1200" dirty="0"/>
          </a:p>
        </p:txBody>
      </p:sp>
      <p:sp>
        <p:nvSpPr>
          <p:cNvPr id="14" name="Shape 12"/>
          <p:cNvSpPr/>
          <p:nvPr/>
        </p:nvSpPr>
        <p:spPr>
          <a:xfrm>
            <a:off x="822960" y="3566160"/>
            <a:ext cx="4663440" cy="777240"/>
          </a:xfrm>
          <a:prstGeom prst="roundRect">
            <a:avLst>
              <a:gd name="adj" fmla="val 7059"/>
            </a:avLst>
          </a:prstGeom>
          <a:solidFill>
            <a:srgbClr val="0E2A31"/>
          </a:solidFill>
          <a:ln/>
        </p:spPr>
      </p:sp>
      <p:sp>
        <p:nvSpPr>
          <p:cNvPr id="15" name="Text 13"/>
          <p:cNvSpPr txBox="1"/>
          <p:nvPr/>
        </p:nvSpPr>
        <p:spPr>
          <a:xfrm>
            <a:off x="960120" y="3611880"/>
            <a:ext cx="4389120" cy="685800"/>
          </a:xfrm>
          <a:prstGeom prst="rect">
            <a:avLst/>
          </a:prstGeom>
          <a:noFill/>
          <a:ln/>
        </p:spPr>
        <p:txBody>
          <a:bodyPr wrap="square" lIns="0" tIns="0" rIns="0" bIns="0" rtlCol="0" anchor="ctr"/>
          <a:lstStyle/>
          <a:p>
            <a:pPr indent="0" marL="0">
              <a:lnSpc>
                <a:spcPct val="110000"/>
              </a:lnSpc>
              <a:buNone/>
            </a:pPr>
            <a:r>
              <a:rPr lang="en-US" sz="1050" dirty="0">
                <a:solidFill>
                  <a:srgbClr val="BFEFE0"/>
                </a:solidFill>
                <a:latin typeface="Courier New" pitchFamily="34" charset="0"/>
                <a:ea typeface="Courier New" pitchFamily="34" charset="-122"/>
                <a:cs typeface="Courier New" pitchFamily="34" charset="-120"/>
              </a:rPr>
              <a:t>window("event_time", "5 minutes")</a:t>
            </a:r>
            <a:endParaRPr lang="en-US" sz="1050" dirty="0"/>
          </a:p>
        </p:txBody>
      </p:sp>
      <p:sp>
        <p:nvSpPr>
          <p:cNvPr id="16" name="Text 14"/>
          <p:cNvSpPr txBox="1"/>
          <p:nvPr/>
        </p:nvSpPr>
        <p:spPr>
          <a:xfrm>
            <a:off x="822960" y="4480560"/>
            <a:ext cx="4663440" cy="1417320"/>
          </a:xfrm>
          <a:prstGeom prst="rect">
            <a:avLst/>
          </a:prstGeom>
          <a:noFill/>
          <a:ln/>
        </p:spPr>
        <p:txBody>
          <a:bodyPr wrap="square" lIns="0" tIns="0" rIns="0" bIns="0" rtlCol="0" anchor="ctr"/>
          <a:lstStyle/>
          <a:p>
            <a:pPr indent="0" marL="0">
              <a:lnSpc>
                <a:spcPct val="120000"/>
              </a:lnSpc>
              <a:buNone/>
            </a:pPr>
            <a:r>
              <a:rPr lang="en-US" sz="1050" i="1" dirty="0">
                <a:solidFill>
                  <a:srgbClr val="6B8F90"/>
                </a:solidFill>
                <a:latin typeface="Calibri" pitchFamily="34" charset="0"/>
                <a:ea typeface="Calibri" pitchFamily="34" charset="-122"/>
                <a:cs typeface="Calibri" pitchFamily="34" charset="-120"/>
              </a:rPr>
              <a:t>Example: a 5-minute tumbling window creates non-overlapping buckets — [10:00–10:05), [10:05–10:10), [10:10–10:15) — each event falls into exactly one.</a:t>
            </a:r>
            <a:endParaRPr lang="en-US" sz="1050" dirty="0"/>
          </a:p>
        </p:txBody>
      </p:sp>
      <p:sp>
        <p:nvSpPr>
          <p:cNvPr id="17" name="Shape 15"/>
          <p:cNvSpPr/>
          <p:nvPr/>
        </p:nvSpPr>
        <p:spPr>
          <a:xfrm>
            <a:off x="6217920" y="1463040"/>
            <a:ext cx="5212080" cy="4572000"/>
          </a:xfrm>
          <a:prstGeom prst="roundRect">
            <a:avLst>
              <a:gd name="adj" fmla="val 2000"/>
            </a:avLst>
          </a:prstGeom>
          <a:solidFill>
            <a:srgbClr val="FFFFFF"/>
          </a:solidFill>
          <a:ln w="12700">
            <a:solidFill>
              <a:srgbClr val="CFE4E4"/>
            </a:solidFill>
            <a:prstDash val="solid"/>
          </a:ln>
          <a:effectLst>
            <a:outerShdw sx="100000" sy="100000" kx="0" ky="0" algn="bl" rotWithShape="0" blurRad="76200" dist="25400" dir="5400000">
              <a:srgbClr val="888888">
                <a:alpha val="22000"/>
              </a:srgbClr>
            </a:outerShdw>
          </a:effectLst>
        </p:spPr>
      </p:sp>
      <p:sp>
        <p:nvSpPr>
          <p:cNvPr id="18" name="Shape 16"/>
          <p:cNvSpPr/>
          <p:nvPr/>
        </p:nvSpPr>
        <p:spPr>
          <a:xfrm>
            <a:off x="6217920" y="1463040"/>
            <a:ext cx="5212080" cy="502920"/>
          </a:xfrm>
          <a:prstGeom prst="roundRect">
            <a:avLst>
              <a:gd name="adj" fmla="val 18182"/>
            </a:avLst>
          </a:prstGeom>
          <a:solidFill>
            <a:srgbClr val="00A896"/>
          </a:solidFill>
          <a:ln/>
        </p:spPr>
      </p:sp>
      <p:sp>
        <p:nvSpPr>
          <p:cNvPr id="19" name="Shape 17"/>
          <p:cNvSpPr/>
          <p:nvPr/>
        </p:nvSpPr>
        <p:spPr>
          <a:xfrm>
            <a:off x="6217920" y="1737360"/>
            <a:ext cx="5212080" cy="228600"/>
          </a:xfrm>
          <a:prstGeom prst="rect">
            <a:avLst/>
          </a:prstGeom>
          <a:solidFill>
            <a:srgbClr val="00A896"/>
          </a:solidFill>
          <a:ln/>
        </p:spPr>
      </p:sp>
      <p:sp>
        <p:nvSpPr>
          <p:cNvPr id="20" name="Text 18"/>
          <p:cNvSpPr txBox="1"/>
          <p:nvPr/>
        </p:nvSpPr>
        <p:spPr>
          <a:xfrm>
            <a:off x="6217920" y="1463040"/>
            <a:ext cx="52120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Sliding Window</a:t>
            </a:r>
            <a:endParaRPr lang="en-US" sz="1600" dirty="0"/>
          </a:p>
        </p:txBody>
      </p:sp>
      <p:sp>
        <p:nvSpPr>
          <p:cNvPr id="21" name="Shape 19"/>
          <p:cNvSpPr/>
          <p:nvPr/>
        </p:nvSpPr>
        <p:spPr>
          <a:xfrm>
            <a:off x="6492240" y="2322576"/>
            <a:ext cx="82296" cy="82296"/>
          </a:xfrm>
          <a:prstGeom prst="ellipse">
            <a:avLst/>
          </a:prstGeom>
          <a:solidFill>
            <a:srgbClr val="00A896"/>
          </a:solidFill>
          <a:ln/>
        </p:spPr>
      </p:sp>
      <p:sp>
        <p:nvSpPr>
          <p:cNvPr id="22" name="Text 20"/>
          <p:cNvSpPr txBox="1"/>
          <p:nvPr/>
        </p:nvSpPr>
        <p:spPr>
          <a:xfrm>
            <a:off x="6693408" y="2167128"/>
            <a:ext cx="4462272" cy="475488"/>
          </a:xfrm>
          <a:prstGeom prst="rect">
            <a:avLst/>
          </a:prstGeom>
          <a:noFill/>
          <a:ln/>
        </p:spPr>
        <p:txBody>
          <a:bodyPr wrap="square" lIns="0" tIns="0" rIns="0" bIns="0" rtlCol="0" anchor="t"/>
          <a:lstStyle/>
          <a:p>
            <a:pPr indent="0" marL="0">
              <a:lnSpc>
                <a:spcPct val="115000"/>
              </a:lnSpc>
              <a:buNone/>
            </a:pPr>
            <a:r>
              <a:rPr lang="en-US" sz="1200" dirty="0">
                <a:solidFill>
                  <a:srgbClr val="3E5A5C"/>
                </a:solidFill>
                <a:latin typeface="Calibri" pitchFamily="34" charset="0"/>
                <a:ea typeface="Calibri" pitchFamily="34" charset="-122"/>
                <a:cs typeface="Calibri" pitchFamily="34" charset="-120"/>
              </a:rPr>
              <a:t>Fixed window duration</a:t>
            </a:r>
            <a:endParaRPr lang="en-US" sz="1200" dirty="0"/>
          </a:p>
        </p:txBody>
      </p:sp>
      <p:sp>
        <p:nvSpPr>
          <p:cNvPr id="23" name="Shape 21"/>
          <p:cNvSpPr/>
          <p:nvPr/>
        </p:nvSpPr>
        <p:spPr>
          <a:xfrm>
            <a:off x="6492240" y="2706624"/>
            <a:ext cx="82296" cy="82296"/>
          </a:xfrm>
          <a:prstGeom prst="ellipse">
            <a:avLst/>
          </a:prstGeom>
          <a:solidFill>
            <a:srgbClr val="00A896"/>
          </a:solidFill>
          <a:ln/>
        </p:spPr>
      </p:sp>
      <p:sp>
        <p:nvSpPr>
          <p:cNvPr id="24" name="Text 22"/>
          <p:cNvSpPr txBox="1"/>
          <p:nvPr/>
        </p:nvSpPr>
        <p:spPr>
          <a:xfrm>
            <a:off x="6693408" y="2551176"/>
            <a:ext cx="4462272" cy="475488"/>
          </a:xfrm>
          <a:prstGeom prst="rect">
            <a:avLst/>
          </a:prstGeom>
          <a:noFill/>
          <a:ln/>
        </p:spPr>
        <p:txBody>
          <a:bodyPr wrap="square" lIns="0" tIns="0" rIns="0" bIns="0" rtlCol="0" anchor="t"/>
          <a:lstStyle/>
          <a:p>
            <a:pPr indent="0" marL="0">
              <a:lnSpc>
                <a:spcPct val="115000"/>
              </a:lnSpc>
              <a:buNone/>
            </a:pPr>
            <a:r>
              <a:rPr lang="en-US" sz="1200" dirty="0">
                <a:solidFill>
                  <a:srgbClr val="3E5A5C"/>
                </a:solidFill>
                <a:latin typeface="Calibri" pitchFamily="34" charset="0"/>
                <a:ea typeface="Calibri" pitchFamily="34" charset="-122"/>
                <a:cs typeface="Calibri" pitchFamily="34" charset="-120"/>
              </a:rPr>
              <a:t>A separate sliding interval</a:t>
            </a:r>
            <a:endParaRPr lang="en-US" sz="1200" dirty="0"/>
          </a:p>
        </p:txBody>
      </p:sp>
      <p:sp>
        <p:nvSpPr>
          <p:cNvPr id="25" name="Shape 23"/>
          <p:cNvSpPr/>
          <p:nvPr/>
        </p:nvSpPr>
        <p:spPr>
          <a:xfrm>
            <a:off x="6492240" y="3090672"/>
            <a:ext cx="82296" cy="82296"/>
          </a:xfrm>
          <a:prstGeom prst="ellipse">
            <a:avLst/>
          </a:prstGeom>
          <a:solidFill>
            <a:srgbClr val="00A896"/>
          </a:solidFill>
          <a:ln/>
        </p:spPr>
      </p:sp>
      <p:sp>
        <p:nvSpPr>
          <p:cNvPr id="26" name="Text 24"/>
          <p:cNvSpPr txBox="1"/>
          <p:nvPr/>
        </p:nvSpPr>
        <p:spPr>
          <a:xfrm>
            <a:off x="6693408" y="2935224"/>
            <a:ext cx="4462272" cy="475488"/>
          </a:xfrm>
          <a:prstGeom prst="rect">
            <a:avLst/>
          </a:prstGeom>
          <a:noFill/>
          <a:ln/>
        </p:spPr>
        <p:txBody>
          <a:bodyPr wrap="square" lIns="0" tIns="0" rIns="0" bIns="0" rtlCol="0" anchor="t"/>
          <a:lstStyle/>
          <a:p>
            <a:pPr indent="0" marL="0">
              <a:lnSpc>
                <a:spcPct val="115000"/>
              </a:lnSpc>
              <a:buNone/>
            </a:pPr>
            <a:r>
              <a:rPr lang="en-US" sz="1200" dirty="0">
                <a:solidFill>
                  <a:srgbClr val="3E5A5C"/>
                </a:solidFill>
                <a:latin typeface="Calibri" pitchFamily="34" charset="0"/>
                <a:ea typeface="Calibri" pitchFamily="34" charset="-122"/>
                <a:cs typeface="Calibri" pitchFamily="34" charset="-120"/>
              </a:rPr>
              <a:t>Windows can overlap — one event can belong to several windows</a:t>
            </a:r>
            <a:endParaRPr lang="en-US" sz="1200" dirty="0"/>
          </a:p>
        </p:txBody>
      </p:sp>
      <p:sp>
        <p:nvSpPr>
          <p:cNvPr id="27" name="Shape 25"/>
          <p:cNvSpPr/>
          <p:nvPr/>
        </p:nvSpPr>
        <p:spPr>
          <a:xfrm>
            <a:off x="6492240" y="3566160"/>
            <a:ext cx="4663440" cy="777240"/>
          </a:xfrm>
          <a:prstGeom prst="roundRect">
            <a:avLst>
              <a:gd name="adj" fmla="val 7059"/>
            </a:avLst>
          </a:prstGeom>
          <a:solidFill>
            <a:srgbClr val="0E2A31"/>
          </a:solidFill>
          <a:ln/>
        </p:spPr>
      </p:sp>
      <p:sp>
        <p:nvSpPr>
          <p:cNvPr id="28" name="Text 26"/>
          <p:cNvSpPr txBox="1"/>
          <p:nvPr/>
        </p:nvSpPr>
        <p:spPr>
          <a:xfrm>
            <a:off x="6629400" y="3611880"/>
            <a:ext cx="4389120" cy="685800"/>
          </a:xfrm>
          <a:prstGeom prst="rect">
            <a:avLst/>
          </a:prstGeom>
          <a:noFill/>
          <a:ln/>
        </p:spPr>
        <p:txBody>
          <a:bodyPr wrap="square" lIns="0" tIns="0" rIns="0" bIns="0" rtlCol="0" anchor="ctr"/>
          <a:lstStyle/>
          <a:p>
            <a:pPr indent="0" marL="0">
              <a:lnSpc>
                <a:spcPct val="110000"/>
              </a:lnSpc>
              <a:buNone/>
            </a:pPr>
            <a:r>
              <a:rPr lang="en-US" sz="1050" dirty="0">
                <a:solidFill>
                  <a:srgbClr val="BFEFE0"/>
                </a:solidFill>
                <a:latin typeface="Courier New" pitchFamily="34" charset="0"/>
                <a:ea typeface="Courier New" pitchFamily="34" charset="-122"/>
                <a:cs typeface="Courier New" pitchFamily="34" charset="-120"/>
              </a:rPr>
              <a:t>window("event_time",</a:t>
            </a:r>
            <a:endParaRPr lang="en-US" sz="1050" dirty="0"/>
          </a:p>
          <a:p>
            <a:pPr indent="0" marL="0">
              <a:lnSpc>
                <a:spcPct val="110000"/>
              </a:lnSpc>
              <a:buNone/>
            </a:pPr>
            <a:r>
              <a:rPr lang="en-US" sz="1050" dirty="0">
                <a:solidFill>
                  <a:srgbClr val="BFEFE0"/>
                </a:solidFill>
                <a:latin typeface="Courier New" pitchFamily="34" charset="0"/>
                <a:ea typeface="Courier New" pitchFamily="34" charset="-122"/>
                <a:cs typeface="Courier New" pitchFamily="34" charset="-120"/>
              </a:rPr>
              <a:t>  "10 minutes", "5 minutes")</a:t>
            </a:r>
            <a:endParaRPr lang="en-US" sz="1050" dirty="0"/>
          </a:p>
        </p:txBody>
      </p:sp>
      <p:sp>
        <p:nvSpPr>
          <p:cNvPr id="29" name="Text 27"/>
          <p:cNvSpPr txBox="1"/>
          <p:nvPr/>
        </p:nvSpPr>
        <p:spPr>
          <a:xfrm>
            <a:off x="6492240" y="4480560"/>
            <a:ext cx="4663440" cy="1417320"/>
          </a:xfrm>
          <a:prstGeom prst="rect">
            <a:avLst/>
          </a:prstGeom>
          <a:noFill/>
          <a:ln/>
        </p:spPr>
        <p:txBody>
          <a:bodyPr wrap="square" lIns="0" tIns="0" rIns="0" bIns="0" rtlCol="0" anchor="ctr"/>
          <a:lstStyle/>
          <a:p>
            <a:pPr indent="0" marL="0">
              <a:lnSpc>
                <a:spcPct val="120000"/>
              </a:lnSpc>
              <a:buNone/>
            </a:pPr>
            <a:r>
              <a:rPr lang="en-US" sz="1050" i="1" dirty="0">
                <a:solidFill>
                  <a:srgbClr val="6B8F90"/>
                </a:solidFill>
                <a:latin typeface="Calibri" pitchFamily="34" charset="0"/>
                <a:ea typeface="Calibri" pitchFamily="34" charset="-122"/>
                <a:cs typeface="Calibri" pitchFamily="34" charset="-120"/>
              </a:rPr>
              <a:t>Example: a 10-minute window sliding every 5 minutes creates [10:00–10:10), [10:05–10:15), [10:10–10:20) — each event contributes to 2 windows.</a:t>
            </a:r>
            <a:endParaRPr lang="en-US" sz="1050" dirty="0"/>
          </a:p>
        </p:txBody>
      </p:sp>
      <p:sp>
        <p:nvSpPr>
          <p:cNvPr id="30" name="Text 28"/>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31" name="Text 29"/>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26"/>
        </a:solidFill>
      </p:bgPr>
    </p:bg>
    <p:spTree>
      <p:nvGrpSpPr>
        <p:cNvPr id="1" name=""/>
        <p:cNvGrpSpPr/>
        <p:nvPr/>
      </p:nvGrpSpPr>
      <p:grpSpPr>
        <a:xfrm>
          <a:off x="0" y="0"/>
          <a:ext cx="0" cy="0"/>
          <a:chOff x="0" y="0"/>
          <a:chExt cx="0" cy="0"/>
        </a:xfrm>
      </p:grpSpPr>
      <p:sp>
        <p:nvSpPr>
          <p:cNvPr id="2" name="Text 0"/>
          <p:cNvSpPr txBox="1"/>
          <p:nvPr/>
        </p:nvSpPr>
        <p:spPr>
          <a:xfrm>
            <a:off x="548640" y="365760"/>
            <a:ext cx="10515600" cy="594360"/>
          </a:xfrm>
          <a:prstGeom prst="rect">
            <a:avLst/>
          </a:prstGeom>
          <a:noFill/>
          <a:ln/>
        </p:spPr>
        <p:txBody>
          <a:bodyPr wrap="square" lIns="0" tIns="0" rIns="0" bIns="0" rtlCol="0" anchor="ctr"/>
          <a:lstStyle/>
          <a:p>
            <a:pPr indent="0" marL="0">
              <a:buNone/>
            </a:pPr>
            <a:r>
              <a:rPr lang="en-US" sz="2700" b="1" dirty="0">
                <a:solidFill>
                  <a:srgbClr val="FFFFFF"/>
                </a:solidFill>
                <a:latin typeface="Century Schoolbook" pitchFamily="34" charset="0"/>
                <a:ea typeface="Century Schoolbook" pitchFamily="34" charset="-122"/>
                <a:cs typeface="Century Schoolbook" pitchFamily="34" charset="-120"/>
              </a:rPr>
              <a:t>Window Operations — Session Windows</a:t>
            </a:r>
            <a:endParaRPr lang="en-US" sz="2700" dirty="0"/>
          </a:p>
        </p:txBody>
      </p:sp>
      <p:sp>
        <p:nvSpPr>
          <p:cNvPr id="3" name="Text 1"/>
          <p:cNvSpPr txBox="1"/>
          <p:nvPr/>
        </p:nvSpPr>
        <p:spPr>
          <a:xfrm>
            <a:off x="548640" y="960120"/>
            <a:ext cx="10058400" cy="502920"/>
          </a:xfrm>
          <a:prstGeom prst="rect">
            <a:avLst/>
          </a:prstGeom>
          <a:noFill/>
          <a:ln/>
        </p:spPr>
        <p:txBody>
          <a:bodyPr wrap="square" lIns="0" tIns="0" rIns="0" bIns="0" rtlCol="0" anchor="ctr"/>
          <a:lstStyle/>
          <a:p>
            <a:pPr indent="0" marL="0">
              <a:lnSpc>
                <a:spcPct val="120000"/>
              </a:lnSpc>
              <a:buNone/>
            </a:pPr>
            <a:r>
              <a:rPr lang="en-US" sz="1300" i="1" dirty="0">
                <a:solidFill>
                  <a:srgbClr val="9FC3C4"/>
                </a:solidFill>
                <a:latin typeface="Calibri" pitchFamily="34" charset="0"/>
                <a:ea typeface="Calibri" pitchFamily="34" charset="-122"/>
                <a:cs typeface="Calibri" pitchFamily="34" charset="-120"/>
              </a:rPr>
              <a:t>Groups events that belong to the same activity or session of a user — a variable-length window driven by behavior, not the clock.</a:t>
            </a:r>
            <a:endParaRPr lang="en-US" sz="1300" dirty="0"/>
          </a:p>
        </p:txBody>
      </p:sp>
      <p:sp>
        <p:nvSpPr>
          <p:cNvPr id="4" name="Shape 2"/>
          <p:cNvSpPr/>
          <p:nvPr/>
        </p:nvSpPr>
        <p:spPr>
          <a:xfrm>
            <a:off x="548640" y="1691640"/>
            <a:ext cx="5349240" cy="3383280"/>
          </a:xfrm>
          <a:prstGeom prst="roundRect">
            <a:avLst>
              <a:gd name="adj" fmla="val 2703"/>
            </a:avLst>
          </a:prstGeom>
          <a:solidFill>
            <a:srgbClr val="13303A"/>
          </a:solidFill>
          <a:ln w="12700">
            <a:solidFill>
              <a:srgbClr val="1D4E52"/>
            </a:solidFill>
            <a:prstDash val="solid"/>
          </a:ln>
        </p:spPr>
      </p:sp>
      <p:sp>
        <p:nvSpPr>
          <p:cNvPr id="5" name="Text 3"/>
          <p:cNvSpPr txBox="1"/>
          <p:nvPr/>
        </p:nvSpPr>
        <p:spPr>
          <a:xfrm>
            <a:off x="822960" y="1874520"/>
            <a:ext cx="4572000" cy="365760"/>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How it works</a:t>
            </a:r>
            <a:endParaRPr lang="en-US" sz="1500" dirty="0"/>
          </a:p>
        </p:txBody>
      </p:sp>
      <p:sp>
        <p:nvSpPr>
          <p:cNvPr id="6" name="Shape 4"/>
          <p:cNvSpPr/>
          <p:nvPr/>
        </p:nvSpPr>
        <p:spPr>
          <a:xfrm>
            <a:off x="822960" y="2414016"/>
            <a:ext cx="82296" cy="82296"/>
          </a:xfrm>
          <a:prstGeom prst="ellipse">
            <a:avLst/>
          </a:prstGeom>
          <a:solidFill>
            <a:srgbClr val="02C39A"/>
          </a:solidFill>
          <a:ln/>
        </p:spPr>
      </p:sp>
      <p:sp>
        <p:nvSpPr>
          <p:cNvPr id="7" name="Text 5"/>
          <p:cNvSpPr txBox="1"/>
          <p:nvPr/>
        </p:nvSpPr>
        <p:spPr>
          <a:xfrm>
            <a:off x="1024128" y="2258568"/>
            <a:ext cx="4599432" cy="658368"/>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Groups events based on activity or inactivity, rather than a fixed clock interval</a:t>
            </a:r>
            <a:endParaRPr lang="en-US" sz="1150" dirty="0"/>
          </a:p>
        </p:txBody>
      </p:sp>
      <p:sp>
        <p:nvSpPr>
          <p:cNvPr id="8" name="Shape 6"/>
          <p:cNvSpPr/>
          <p:nvPr/>
        </p:nvSpPr>
        <p:spPr>
          <a:xfrm>
            <a:off x="822960" y="2980944"/>
            <a:ext cx="82296" cy="82296"/>
          </a:xfrm>
          <a:prstGeom prst="ellipse">
            <a:avLst/>
          </a:prstGeom>
          <a:solidFill>
            <a:srgbClr val="02C39A"/>
          </a:solidFill>
          <a:ln/>
        </p:spPr>
      </p:sp>
      <p:sp>
        <p:nvSpPr>
          <p:cNvPr id="9" name="Text 7"/>
          <p:cNvSpPr txBox="1"/>
          <p:nvPr/>
        </p:nvSpPr>
        <p:spPr>
          <a:xfrm>
            <a:off x="1024128" y="2825496"/>
            <a:ext cx="4599432" cy="658368"/>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A gap is the period of inactivity that closes a session — if the user is idle longer than the gap, the next event starts a new session</a:t>
            </a:r>
            <a:endParaRPr lang="en-US" sz="1150" dirty="0"/>
          </a:p>
        </p:txBody>
      </p:sp>
      <p:sp>
        <p:nvSpPr>
          <p:cNvPr id="10" name="Shape 8"/>
          <p:cNvSpPr/>
          <p:nvPr/>
        </p:nvSpPr>
        <p:spPr>
          <a:xfrm>
            <a:off x="822960" y="3547872"/>
            <a:ext cx="82296" cy="82296"/>
          </a:xfrm>
          <a:prstGeom prst="ellipse">
            <a:avLst/>
          </a:prstGeom>
          <a:solidFill>
            <a:srgbClr val="02C39A"/>
          </a:solidFill>
          <a:ln/>
        </p:spPr>
      </p:sp>
      <p:sp>
        <p:nvSpPr>
          <p:cNvPr id="11" name="Text 9"/>
          <p:cNvSpPr txBox="1"/>
          <p:nvPr/>
        </p:nvSpPr>
        <p:spPr>
          <a:xfrm>
            <a:off x="1024128" y="3392424"/>
            <a:ext cx="4599432" cy="658368"/>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Each user can have many sessions over time, and sessions can be very different lengths</a:t>
            </a:r>
            <a:endParaRPr lang="en-US" sz="1150" dirty="0"/>
          </a:p>
        </p:txBody>
      </p:sp>
      <p:sp>
        <p:nvSpPr>
          <p:cNvPr id="12" name="Shape 10"/>
          <p:cNvSpPr/>
          <p:nvPr/>
        </p:nvSpPr>
        <p:spPr>
          <a:xfrm>
            <a:off x="822960" y="4114800"/>
            <a:ext cx="82296" cy="82296"/>
          </a:xfrm>
          <a:prstGeom prst="ellipse">
            <a:avLst/>
          </a:prstGeom>
          <a:solidFill>
            <a:srgbClr val="02C39A"/>
          </a:solidFill>
          <a:ln/>
        </p:spPr>
      </p:sp>
      <p:sp>
        <p:nvSpPr>
          <p:cNvPr id="13" name="Text 11"/>
          <p:cNvSpPr txBox="1"/>
          <p:nvPr/>
        </p:nvSpPr>
        <p:spPr>
          <a:xfrm>
            <a:off x="1024128" y="3959352"/>
            <a:ext cx="4599432" cy="658368"/>
          </a:xfrm>
          <a:prstGeom prst="rect">
            <a:avLst/>
          </a:prstGeom>
          <a:noFill/>
          <a:ln/>
        </p:spPr>
        <p:txBody>
          <a:bodyPr wrap="square" lIns="0" tIns="0" rIns="0" bIns="0" rtlCol="0" anchor="t"/>
          <a:lstStyle/>
          <a:p>
            <a:pPr indent="0" marL="0">
              <a:lnSpc>
                <a:spcPct val="120000"/>
              </a:lnSpc>
              <a:buNone/>
            </a:pPr>
            <a:r>
              <a:rPr lang="en-US" sz="1150" dirty="0">
                <a:solidFill>
                  <a:srgbClr val="EAF4F4"/>
                </a:solidFill>
                <a:latin typeface="Calibri" pitchFamily="34" charset="0"/>
                <a:ea typeface="Calibri" pitchFamily="34" charset="-122"/>
                <a:cs typeface="Calibri" pitchFamily="34" charset="-120"/>
              </a:rPr>
              <a:t>Ideal for measuring engagement, browsing behavior, or any activity with natural start/stop boundaries</a:t>
            </a:r>
            <a:endParaRPr lang="en-US" sz="1150" dirty="0"/>
          </a:p>
        </p:txBody>
      </p:sp>
      <p:sp>
        <p:nvSpPr>
          <p:cNvPr id="14" name="Shape 12"/>
          <p:cNvSpPr/>
          <p:nvPr/>
        </p:nvSpPr>
        <p:spPr>
          <a:xfrm>
            <a:off x="6172200" y="1691640"/>
            <a:ext cx="5440680" cy="1417320"/>
          </a:xfrm>
          <a:prstGeom prst="roundRect">
            <a:avLst>
              <a:gd name="adj" fmla="val 3871"/>
            </a:avLst>
          </a:prstGeom>
          <a:solidFill>
            <a:srgbClr val="0E2A31"/>
          </a:solidFill>
          <a:ln w="12700">
            <a:solidFill>
              <a:srgbClr val="1D4E52"/>
            </a:solidFill>
            <a:prstDash val="solid"/>
          </a:ln>
        </p:spPr>
      </p:sp>
      <p:sp>
        <p:nvSpPr>
          <p:cNvPr id="15" name="Text 13"/>
          <p:cNvSpPr txBox="1"/>
          <p:nvPr/>
        </p:nvSpPr>
        <p:spPr>
          <a:xfrm>
            <a:off x="6400800" y="1837944"/>
            <a:ext cx="4983480" cy="1124712"/>
          </a:xfrm>
          <a:prstGeom prst="rect">
            <a:avLst/>
          </a:prstGeom>
          <a:noFill/>
          <a:ln/>
        </p:spPr>
        <p:txBody>
          <a:bodyPr wrap="square" lIns="0" tIns="0" rIns="0" bIns="0" rtlCol="0" anchor="t"/>
          <a:lstStyle/>
          <a:p>
            <a:pPr indent="0" marL="0">
              <a:lnSpc>
                <a:spcPct val="112000"/>
              </a:lnSpc>
              <a:buNone/>
            </a:pPr>
            <a:r>
              <a:rPr lang="en-US" sz="1350" dirty="0">
                <a:solidFill>
                  <a:srgbClr val="BFEFE0"/>
                </a:solidFill>
                <a:latin typeface="Courier New" pitchFamily="34" charset="0"/>
                <a:ea typeface="Courier New" pitchFamily="34" charset="-122"/>
                <a:cs typeface="Courier New" pitchFamily="34" charset="-120"/>
              </a:rPr>
              <a:t>result = df.groupBy(</a:t>
            </a:r>
            <a:endParaRPr lang="en-US" sz="1350" dirty="0"/>
          </a:p>
          <a:p>
            <a:pPr indent="0" marL="0">
              <a:lnSpc>
                <a:spcPct val="112000"/>
              </a:lnSpc>
              <a:buNone/>
            </a:pPr>
            <a:r>
              <a:rPr lang="en-US" sz="1350" dirty="0">
                <a:solidFill>
                  <a:srgbClr val="BFEFE0"/>
                </a:solidFill>
                <a:latin typeface="Courier New" pitchFamily="34" charset="0"/>
                <a:ea typeface="Courier New" pitchFamily="34" charset="-122"/>
                <a:cs typeface="Courier New" pitchFamily="34" charset="-120"/>
              </a:rPr>
              <a:t>    "user_id",</a:t>
            </a:r>
            <a:endParaRPr lang="en-US" sz="1350" dirty="0"/>
          </a:p>
          <a:p>
            <a:pPr indent="0" marL="0">
              <a:lnSpc>
                <a:spcPct val="112000"/>
              </a:lnSpc>
              <a:buNone/>
            </a:pPr>
            <a:r>
              <a:rPr lang="en-US" sz="1350" dirty="0">
                <a:solidFill>
                  <a:srgbClr val="BFEFE0"/>
                </a:solidFill>
                <a:latin typeface="Courier New" pitchFamily="34" charset="0"/>
                <a:ea typeface="Courier New" pitchFamily="34" charset="-122"/>
                <a:cs typeface="Courier New" pitchFamily="34" charset="-120"/>
              </a:rPr>
              <a:t>    session_window("timestamp",</a:t>
            </a:r>
            <a:endParaRPr lang="en-US" sz="1350" dirty="0"/>
          </a:p>
          <a:p>
            <a:pPr indent="0" marL="0">
              <a:lnSpc>
                <a:spcPct val="112000"/>
              </a:lnSpc>
              <a:buNone/>
            </a:pPr>
            <a:r>
              <a:rPr lang="en-US" sz="1350" dirty="0">
                <a:solidFill>
                  <a:srgbClr val="BFEFE0"/>
                </a:solidFill>
                <a:latin typeface="Courier New" pitchFamily="34" charset="0"/>
                <a:ea typeface="Courier New" pitchFamily="34" charset="-122"/>
                <a:cs typeface="Courier New" pitchFamily="34" charset="-120"/>
              </a:rPr>
              <a:t>                   "10 minutes")</a:t>
            </a:r>
            <a:endParaRPr lang="en-US" sz="1350" dirty="0"/>
          </a:p>
          <a:p>
            <a:pPr indent="0" marL="0">
              <a:lnSpc>
                <a:spcPct val="112000"/>
              </a:lnSpc>
              <a:buNone/>
            </a:pPr>
            <a:r>
              <a:rPr lang="en-US" sz="1350" dirty="0">
                <a:solidFill>
                  <a:srgbClr val="BFEFE0"/>
                </a:solidFill>
                <a:latin typeface="Courier New" pitchFamily="34" charset="0"/>
                <a:ea typeface="Courier New" pitchFamily="34" charset="-122"/>
                <a:cs typeface="Courier New" pitchFamily="34" charset="-120"/>
              </a:rPr>
              <a:t>).count()</a:t>
            </a:r>
            <a:endParaRPr lang="en-US" sz="1350" dirty="0"/>
          </a:p>
        </p:txBody>
      </p:sp>
      <p:sp>
        <p:nvSpPr>
          <p:cNvPr id="16" name="Shape 14"/>
          <p:cNvSpPr/>
          <p:nvPr/>
        </p:nvSpPr>
        <p:spPr>
          <a:xfrm>
            <a:off x="6172200" y="3291840"/>
            <a:ext cx="5440680" cy="1783080"/>
          </a:xfrm>
          <a:prstGeom prst="roundRect">
            <a:avLst>
              <a:gd name="adj" fmla="val 5128"/>
            </a:avLst>
          </a:prstGeom>
          <a:solidFill>
            <a:srgbClr val="0F262D"/>
          </a:solidFill>
          <a:ln w="12700">
            <a:solidFill>
              <a:srgbClr val="1D4E52"/>
            </a:solidFill>
            <a:prstDash val="solid"/>
          </a:ln>
        </p:spPr>
      </p:sp>
      <p:sp>
        <p:nvSpPr>
          <p:cNvPr id="17" name="Text 15"/>
          <p:cNvSpPr txBox="1"/>
          <p:nvPr/>
        </p:nvSpPr>
        <p:spPr>
          <a:xfrm>
            <a:off x="6400800" y="3474720"/>
            <a:ext cx="4572000" cy="320040"/>
          </a:xfrm>
          <a:prstGeom prst="rect">
            <a:avLst/>
          </a:prstGeom>
          <a:noFill/>
          <a:ln/>
        </p:spPr>
        <p:txBody>
          <a:bodyPr wrap="square" lIns="0" tIns="0" rIns="0" bIns="0" rtlCol="0" anchor="ctr"/>
          <a:lstStyle/>
          <a:p>
            <a:pPr indent="0" marL="0">
              <a:buNone/>
            </a:pPr>
            <a:r>
              <a:rPr lang="en-US" sz="1300" b="1" dirty="0">
                <a:solidFill>
                  <a:srgbClr val="00A896"/>
                </a:solidFill>
                <a:latin typeface="Calibri" pitchFamily="34" charset="0"/>
                <a:ea typeface="Calibri" pitchFamily="34" charset="-122"/>
                <a:cs typeface="Calibri" pitchFamily="34" charset="-120"/>
              </a:rPr>
              <a:t>Worked example</a:t>
            </a:r>
            <a:endParaRPr lang="en-US" sz="1300" dirty="0"/>
          </a:p>
        </p:txBody>
      </p:sp>
      <p:sp>
        <p:nvSpPr>
          <p:cNvPr id="18" name="Text 16"/>
          <p:cNvSpPr txBox="1"/>
          <p:nvPr/>
        </p:nvSpPr>
        <p:spPr>
          <a:xfrm>
            <a:off x="6400800" y="3840480"/>
            <a:ext cx="4983480" cy="1143000"/>
          </a:xfrm>
          <a:prstGeom prst="rect">
            <a:avLst/>
          </a:prstGeom>
          <a:noFill/>
          <a:ln/>
        </p:spPr>
        <p:txBody>
          <a:bodyPr wrap="square" lIns="0" tIns="0" rIns="0" bIns="0" rtlCol="0" anchor="ctr"/>
          <a:lstStyle/>
          <a:p>
            <a:pPr indent="0" marL="0">
              <a:lnSpc>
                <a:spcPct val="125000"/>
              </a:lnSpc>
              <a:buNone/>
            </a:pPr>
            <a:r>
              <a:rPr lang="en-US" sz="1150" dirty="0">
                <a:solidFill>
                  <a:srgbClr val="EAF4F4"/>
                </a:solidFill>
                <a:latin typeface="Calibri" pitchFamily="34" charset="0"/>
                <a:ea typeface="Calibri" pitchFamily="34" charset="-122"/>
                <a:cs typeface="Calibri" pitchFamily="34" charset="-120"/>
              </a:rPr>
              <a:t>With a 10-minute gap: events at 10:00, 10:04, and 10:09 all fall in one session (each within 10 min of the last). An event at 10:25 is more than 10 minutes after 10:09, so it starts a brand-new session.</a:t>
            </a:r>
            <a:endParaRPr lang="en-US" sz="1150" dirty="0"/>
          </a:p>
        </p:txBody>
      </p:sp>
      <p:sp>
        <p:nvSpPr>
          <p:cNvPr id="19" name="Text 17"/>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20" name="Text 18"/>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4F4"/>
        </a:solidFill>
      </p:bgPr>
    </p:bg>
    <p:spTree>
      <p:nvGrpSpPr>
        <p:cNvPr id="1" name=""/>
        <p:cNvGrpSpPr/>
        <p:nvPr/>
      </p:nvGrpSpPr>
      <p:grpSpPr>
        <a:xfrm>
          <a:off x="0" y="0"/>
          <a:ext cx="0" cy="0"/>
          <a:chOff x="0" y="0"/>
          <a:chExt cx="0" cy="0"/>
        </a:xfrm>
      </p:grpSpPr>
      <p:sp>
        <p:nvSpPr>
          <p:cNvPr id="2" name="Text 0"/>
          <p:cNvSpPr txBox="1"/>
          <p:nvPr/>
        </p:nvSpPr>
        <p:spPr>
          <a:xfrm>
            <a:off x="548640" y="365760"/>
            <a:ext cx="9601200" cy="594360"/>
          </a:xfrm>
          <a:prstGeom prst="rect">
            <a:avLst/>
          </a:prstGeom>
          <a:noFill/>
          <a:ln/>
        </p:spPr>
        <p:txBody>
          <a:bodyPr wrap="square" lIns="0" tIns="0" rIns="0" bIns="0" rtlCol="0" anchor="ctr"/>
          <a:lstStyle/>
          <a:p>
            <a:pPr indent="0" marL="0">
              <a:buNone/>
            </a:pPr>
            <a:r>
              <a:rPr lang="en-US" sz="3000" b="1" dirty="0">
                <a:solidFill>
                  <a:srgbClr val="0B1F26"/>
                </a:solidFill>
                <a:latin typeface="Century Schoolbook" pitchFamily="34" charset="0"/>
                <a:ea typeface="Century Schoolbook" pitchFamily="34" charset="-122"/>
                <a:cs typeface="Century Schoolbook" pitchFamily="34" charset="-120"/>
              </a:rPr>
              <a:t>Late Events &amp; Watermarks</a:t>
            </a:r>
            <a:endParaRPr lang="en-US" sz="3000" dirty="0"/>
          </a:p>
        </p:txBody>
      </p:sp>
      <p:sp>
        <p:nvSpPr>
          <p:cNvPr id="3" name="Shape 1"/>
          <p:cNvSpPr/>
          <p:nvPr/>
        </p:nvSpPr>
        <p:spPr>
          <a:xfrm>
            <a:off x="548640" y="1097280"/>
            <a:ext cx="5349240" cy="1234440"/>
          </a:xfrm>
          <a:prstGeom prst="roundRect">
            <a:avLst>
              <a:gd name="adj" fmla="val 7407"/>
            </a:avLst>
          </a:prstGeom>
          <a:solidFill>
            <a:srgbClr val="FFFFFF"/>
          </a:solidFill>
          <a:ln w="12700">
            <a:solidFill>
              <a:srgbClr val="CFE4E4"/>
            </a:solidFill>
            <a:prstDash val="solid"/>
          </a:ln>
        </p:spPr>
      </p:sp>
      <p:sp>
        <p:nvSpPr>
          <p:cNvPr id="4" name="Text 2"/>
          <p:cNvSpPr txBox="1"/>
          <p:nvPr/>
        </p:nvSpPr>
        <p:spPr>
          <a:xfrm>
            <a:off x="822960" y="1234440"/>
            <a:ext cx="4572000" cy="36576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Late Event</a:t>
            </a:r>
            <a:endParaRPr lang="en-US" sz="1500" dirty="0"/>
          </a:p>
        </p:txBody>
      </p:sp>
      <p:sp>
        <p:nvSpPr>
          <p:cNvPr id="5" name="Text 3"/>
          <p:cNvSpPr txBox="1"/>
          <p:nvPr/>
        </p:nvSpPr>
        <p:spPr>
          <a:xfrm>
            <a:off x="822960" y="1600200"/>
            <a:ext cx="4846320" cy="685800"/>
          </a:xfrm>
          <a:prstGeom prst="rect">
            <a:avLst/>
          </a:prstGeom>
          <a:noFill/>
          <a:ln/>
        </p:spPr>
        <p:txBody>
          <a:bodyPr wrap="square" lIns="0" tIns="0" rIns="0" bIns="0" rtlCol="0" anchor="ctr"/>
          <a:lstStyle/>
          <a:p>
            <a:pPr indent="0" marL="0">
              <a:lnSpc>
                <a:spcPct val="120000"/>
              </a:lnSpc>
              <a:buNone/>
            </a:pPr>
            <a:r>
              <a:rPr lang="en-US" sz="1150" dirty="0">
                <a:solidFill>
                  <a:srgbClr val="3E5A5C"/>
                </a:solidFill>
                <a:latin typeface="Calibri" pitchFamily="34" charset="0"/>
                <a:ea typeface="Calibri" pitchFamily="34" charset="-122"/>
                <a:cs typeface="Calibri" pitchFamily="34" charset="-120"/>
              </a:rPr>
              <a:t>An event that arrives at the streaming system after the time it actually happened — e.g. it happened at 10:02, but network delay means Spark receives it at 10:08.</a:t>
            </a:r>
            <a:endParaRPr lang="en-US" sz="1150" dirty="0"/>
          </a:p>
        </p:txBody>
      </p:sp>
      <p:sp>
        <p:nvSpPr>
          <p:cNvPr id="6" name="Shape 4"/>
          <p:cNvSpPr/>
          <p:nvPr/>
        </p:nvSpPr>
        <p:spPr>
          <a:xfrm>
            <a:off x="548640" y="2468880"/>
            <a:ext cx="5349240" cy="1417320"/>
          </a:xfrm>
          <a:prstGeom prst="roundRect">
            <a:avLst>
              <a:gd name="adj" fmla="val 6452"/>
            </a:avLst>
          </a:prstGeom>
          <a:solidFill>
            <a:srgbClr val="FFFFFF"/>
          </a:solidFill>
          <a:ln w="12700">
            <a:solidFill>
              <a:srgbClr val="CFE4E4"/>
            </a:solidFill>
            <a:prstDash val="solid"/>
          </a:ln>
        </p:spPr>
      </p:sp>
      <p:sp>
        <p:nvSpPr>
          <p:cNvPr id="7" name="Text 5"/>
          <p:cNvSpPr txBox="1"/>
          <p:nvPr/>
        </p:nvSpPr>
        <p:spPr>
          <a:xfrm>
            <a:off x="822960" y="2606040"/>
            <a:ext cx="4572000" cy="365760"/>
          </a:xfrm>
          <a:prstGeom prst="rect">
            <a:avLst/>
          </a:prstGeom>
          <a:noFill/>
          <a:ln/>
        </p:spPr>
        <p:txBody>
          <a:bodyPr wrap="square" lIns="0" tIns="0" rIns="0" bIns="0" rtlCol="0" anchor="ctr"/>
          <a:lstStyle/>
          <a:p>
            <a:pPr indent="0" marL="0">
              <a:buNone/>
            </a:pPr>
            <a:r>
              <a:rPr lang="en-US" sz="1500" b="1" dirty="0">
                <a:solidFill>
                  <a:srgbClr val="028090"/>
                </a:solidFill>
                <a:latin typeface="Calibri" pitchFamily="34" charset="0"/>
                <a:ea typeface="Calibri" pitchFamily="34" charset="-122"/>
                <a:cs typeface="Calibri" pitchFamily="34" charset="-120"/>
              </a:rPr>
              <a:t>Watermark</a:t>
            </a:r>
            <a:endParaRPr lang="en-US" sz="1500" dirty="0"/>
          </a:p>
        </p:txBody>
      </p:sp>
      <p:sp>
        <p:nvSpPr>
          <p:cNvPr id="8" name="Text 6"/>
          <p:cNvSpPr txBox="1"/>
          <p:nvPr/>
        </p:nvSpPr>
        <p:spPr>
          <a:xfrm>
            <a:off x="822960" y="2971800"/>
            <a:ext cx="4846320" cy="822960"/>
          </a:xfrm>
          <a:prstGeom prst="rect">
            <a:avLst/>
          </a:prstGeom>
          <a:noFill/>
          <a:ln/>
        </p:spPr>
        <p:txBody>
          <a:bodyPr wrap="square" lIns="0" tIns="0" rIns="0" bIns="0" rtlCol="0" anchor="ctr"/>
          <a:lstStyle/>
          <a:p>
            <a:pPr indent="0" marL="0">
              <a:lnSpc>
                <a:spcPct val="120000"/>
              </a:lnSpc>
              <a:buNone/>
            </a:pPr>
            <a:r>
              <a:rPr lang="en-US" sz="1150" dirty="0">
                <a:solidFill>
                  <a:srgbClr val="3E5A5C"/>
                </a:solidFill>
                <a:latin typeface="Calibri" pitchFamily="34" charset="0"/>
                <a:ea typeface="Calibri" pitchFamily="34" charset="-122"/>
                <a:cs typeface="Calibri" pitchFamily="34" charset="-120"/>
              </a:rPr>
              <a:t>A limit on how late event-time data can be for a stateful streaming operation. It tells Spark how long to wait for late-arriving events before treating a window as final.</a:t>
            </a:r>
            <a:endParaRPr lang="en-US" sz="1150" dirty="0"/>
          </a:p>
        </p:txBody>
      </p:sp>
      <p:sp>
        <p:nvSpPr>
          <p:cNvPr id="9" name="Shape 7"/>
          <p:cNvSpPr/>
          <p:nvPr/>
        </p:nvSpPr>
        <p:spPr>
          <a:xfrm>
            <a:off x="548640" y="4023360"/>
            <a:ext cx="5349240" cy="1325880"/>
          </a:xfrm>
          <a:prstGeom prst="roundRect">
            <a:avLst>
              <a:gd name="adj" fmla="val 6897"/>
            </a:avLst>
          </a:prstGeom>
          <a:solidFill>
            <a:srgbClr val="028090"/>
          </a:solidFill>
          <a:ln/>
        </p:spPr>
      </p:sp>
      <p:sp>
        <p:nvSpPr>
          <p:cNvPr id="10" name="Text 8"/>
          <p:cNvSpPr txBox="1"/>
          <p:nvPr/>
        </p:nvSpPr>
        <p:spPr>
          <a:xfrm>
            <a:off x="822960" y="4160520"/>
            <a:ext cx="45720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p>
        </p:txBody>
      </p:sp>
      <p:sp>
        <p:nvSpPr>
          <p:cNvPr id="11" name="Text 9"/>
          <p:cNvSpPr txBox="1"/>
          <p:nvPr/>
        </p:nvSpPr>
        <p:spPr>
          <a:xfrm>
            <a:off x="822960" y="4480560"/>
            <a:ext cx="4846320" cy="777240"/>
          </a:xfrm>
          <a:prstGeom prst="rect">
            <a:avLst/>
          </a:prstGeom>
          <a:noFill/>
          <a:ln/>
        </p:spPr>
        <p:txBody>
          <a:bodyPr wrap="square" lIns="0" tIns="0" rIns="0" bIns="0" rtlCol="0" anchor="ctr"/>
          <a:lstStyle/>
          <a:p>
            <a:pPr indent="0" marL="0">
              <a:lnSpc>
                <a:spcPct val="120000"/>
              </a:lnSpc>
              <a:buNone/>
            </a:pPr>
            <a:r>
              <a:rPr lang="en-US" sz="1100" dirty="0">
                <a:solidFill>
                  <a:srgbClr val="EAF4F4"/>
                </a:solidFill>
                <a:latin typeface="Calibri" pitchFamily="34" charset="0"/>
                <a:ea typeface="Calibri" pitchFamily="34" charset="-122"/>
                <a:cs typeface="Calibri" pitchFamily="34" charset="-120"/>
              </a:rPr>
              <a:t>Watermarks let Spark decide when old event-time data is too late to keep affecting state — and when that old state can safely be cleaned up, so it doesn't grow forever.</a:t>
            </a:r>
            <a:endParaRPr lang="en-US" sz="1100" dirty="0"/>
          </a:p>
        </p:txBody>
      </p:sp>
      <p:sp>
        <p:nvSpPr>
          <p:cNvPr id="12" name="Shape 10"/>
          <p:cNvSpPr/>
          <p:nvPr/>
        </p:nvSpPr>
        <p:spPr>
          <a:xfrm>
            <a:off x="6172200" y="1097280"/>
            <a:ext cx="5440680" cy="2651760"/>
          </a:xfrm>
          <a:prstGeom prst="roundRect">
            <a:avLst>
              <a:gd name="adj" fmla="val 2069"/>
            </a:avLst>
          </a:prstGeom>
          <a:solidFill>
            <a:srgbClr val="0E2A31"/>
          </a:solidFill>
          <a:ln w="12700">
            <a:solidFill>
              <a:srgbClr val="1D4E52"/>
            </a:solidFill>
            <a:prstDash val="solid"/>
          </a:ln>
        </p:spPr>
      </p:sp>
      <p:sp>
        <p:nvSpPr>
          <p:cNvPr id="13" name="Text 11"/>
          <p:cNvSpPr txBox="1"/>
          <p:nvPr/>
        </p:nvSpPr>
        <p:spPr>
          <a:xfrm>
            <a:off x="6400800" y="1243584"/>
            <a:ext cx="4983480" cy="2359152"/>
          </a:xfrm>
          <a:prstGeom prst="rect">
            <a:avLst/>
          </a:prstGeom>
          <a:noFill/>
          <a:ln/>
        </p:spPr>
        <p:txBody>
          <a:bodyPr wrap="square" lIns="0" tIns="0" rIns="0" bIns="0" rtlCol="0" anchor="t"/>
          <a:lstStyle/>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result = (</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df</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.withWatermark("event_time",</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"10 minutes")</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.groupBy(</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window("event_time",</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"5 minutes")</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    .agg(count("*").alias("event_count"))</a:t>
            </a:r>
            <a:endParaRPr lang="en-US" sz="1250" dirty="0"/>
          </a:p>
          <a:p>
            <a:pPr indent="0" marL="0">
              <a:lnSpc>
                <a:spcPct val="112000"/>
              </a:lnSpc>
              <a:buNone/>
            </a:pPr>
            <a:r>
              <a:rPr lang="en-US" sz="1250" dirty="0">
                <a:solidFill>
                  <a:srgbClr val="BFEFE0"/>
                </a:solidFill>
                <a:latin typeface="Courier New" pitchFamily="34" charset="0"/>
                <a:ea typeface="Courier New" pitchFamily="34" charset="-122"/>
                <a:cs typeface="Courier New" pitchFamily="34" charset="-120"/>
              </a:rPr>
              <a:t>)</a:t>
            </a:r>
            <a:endParaRPr lang="en-US" sz="1250" dirty="0"/>
          </a:p>
        </p:txBody>
      </p:sp>
      <p:sp>
        <p:nvSpPr>
          <p:cNvPr id="14" name="Shape 12"/>
          <p:cNvSpPr/>
          <p:nvPr/>
        </p:nvSpPr>
        <p:spPr>
          <a:xfrm>
            <a:off x="6172200" y="3886200"/>
            <a:ext cx="5440680" cy="2377440"/>
          </a:xfrm>
          <a:prstGeom prst="roundRect">
            <a:avLst>
              <a:gd name="adj" fmla="val 3846"/>
            </a:avLst>
          </a:prstGeom>
          <a:solidFill>
            <a:srgbClr val="0B1F26"/>
          </a:solidFill>
          <a:ln/>
        </p:spPr>
      </p:sp>
      <p:sp>
        <p:nvSpPr>
          <p:cNvPr id="15" name="Text 13"/>
          <p:cNvSpPr txBox="1"/>
          <p:nvPr/>
        </p:nvSpPr>
        <p:spPr>
          <a:xfrm>
            <a:off x="6400800" y="4023360"/>
            <a:ext cx="4572000" cy="320040"/>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Worked example</a:t>
            </a:r>
            <a:endParaRPr lang="en-US" sz="1300" dirty="0"/>
          </a:p>
        </p:txBody>
      </p:sp>
      <p:sp>
        <p:nvSpPr>
          <p:cNvPr id="16" name="Text 14"/>
          <p:cNvSpPr txBox="1"/>
          <p:nvPr/>
        </p:nvSpPr>
        <p:spPr>
          <a:xfrm>
            <a:off x="6400800" y="4389120"/>
            <a:ext cx="4983480" cy="1783080"/>
          </a:xfrm>
          <a:prstGeom prst="rect">
            <a:avLst/>
          </a:prstGeom>
          <a:noFill/>
          <a:ln/>
        </p:spPr>
        <p:txBody>
          <a:bodyPr wrap="square" lIns="0" tIns="0" rIns="0" bIns="0" rtlCol="0" anchor="t"/>
          <a:lstStyle/>
          <a:p>
            <a:pPr indent="0" marL="0">
              <a:lnSpc>
                <a:spcPct val="125000"/>
              </a:lnSpc>
              <a:buNone/>
            </a:pPr>
            <a:r>
              <a:rPr lang="en-US" sz="1050" b="1" dirty="0">
                <a:solidFill>
                  <a:srgbClr val="02C39A"/>
                </a:solidFill>
                <a:latin typeface="Calibri" pitchFamily="34" charset="0"/>
                <a:ea typeface="Calibri" pitchFamily="34" charset="-122"/>
                <a:cs typeface="Calibri" pitchFamily="34" charset="-120"/>
              </a:rPr>
              <a:t>Event Time: </a:t>
            </a:r>
            <a:pPr indent="0" marL="0">
              <a:lnSpc>
                <a:spcPct val="125000"/>
              </a:lnSpc>
              <a:buNone/>
            </a:pPr>
            <a:r>
              <a:rPr lang="en-US" sz="1050" dirty="0">
                <a:solidFill>
                  <a:srgbClr val="EAF4F4"/>
                </a:solidFill>
                <a:latin typeface="Calibri" pitchFamily="34" charset="0"/>
                <a:ea typeface="Calibri" pitchFamily="34" charset="-122"/>
                <a:cs typeface="Calibri" pitchFamily="34" charset="-120"/>
              </a:rPr>
              <a:t>when did the event actually happen?
</a:t>
            </a:r>
            <a:pPr indent="0" marL="0">
              <a:lnSpc>
                <a:spcPct val="125000"/>
              </a:lnSpc>
              <a:buNone/>
            </a:pPr>
            <a:r>
              <a:rPr lang="en-US" sz="1050" b="1" dirty="0">
                <a:solidFill>
                  <a:srgbClr val="02C39A"/>
                </a:solidFill>
                <a:latin typeface="Calibri" pitchFamily="34" charset="0"/>
                <a:ea typeface="Calibri" pitchFamily="34" charset="-122"/>
                <a:cs typeface="Calibri" pitchFamily="34" charset="-120"/>
              </a:rPr>
              <a:t>Window: </a:t>
            </a:r>
            <a:pPr indent="0" marL="0">
              <a:lnSpc>
                <a:spcPct val="125000"/>
              </a:lnSpc>
              <a:buNone/>
            </a:pPr>
            <a:r>
              <a:rPr lang="en-US" sz="1050" dirty="0">
                <a:solidFill>
                  <a:srgbClr val="EAF4F4"/>
                </a:solidFill>
                <a:latin typeface="Calibri" pitchFamily="34" charset="0"/>
                <a:ea typeface="Calibri" pitchFamily="34" charset="-122"/>
                <a:cs typeface="Calibri" pitchFamily="34" charset="-120"/>
              </a:rPr>
              <a:t>which time period does the event belong to?
</a:t>
            </a:r>
            <a:pPr indent="0" marL="0">
              <a:lnSpc>
                <a:spcPct val="125000"/>
              </a:lnSpc>
              <a:buNone/>
            </a:pPr>
            <a:r>
              <a:rPr lang="en-US" sz="1050" b="1" dirty="0">
                <a:solidFill>
                  <a:srgbClr val="02C39A"/>
                </a:solidFill>
                <a:latin typeface="Calibri" pitchFamily="34" charset="0"/>
                <a:ea typeface="Calibri" pitchFamily="34" charset="-122"/>
                <a:cs typeface="Calibri" pitchFamily="34" charset="-120"/>
              </a:rPr>
              <a:t>Watermark: </a:t>
            </a:r>
            <a:pPr indent="0" marL="0">
              <a:lnSpc>
                <a:spcPct val="125000"/>
              </a:lnSpc>
              <a:buNone/>
            </a:pPr>
            <a:r>
              <a:rPr lang="en-US" sz="1050" dirty="0">
                <a:solidFill>
                  <a:srgbClr val="EAF4F4"/>
                </a:solidFill>
                <a:latin typeface="Calibri" pitchFamily="34" charset="0"/>
                <a:ea typeface="Calibri" pitchFamily="34" charset="-122"/>
                <a:cs typeface="Calibri" pitchFamily="34" charset="-120"/>
              </a:rPr>
              <a:t>how far Spark has progressed in event time, and how much lateness it will tolerate.
</a:t>
            </a:r>
            <a:pPr indent="0" marL="0">
              <a:lnSpc>
                <a:spcPct val="125000"/>
              </a:lnSpc>
              <a:buNone/>
            </a:pPr>
            <a:r>
              <a:rPr lang="en-US" sz="1050" i="1" dirty="0">
                <a:solidFill>
                  <a:srgbClr val="9FC3C4"/>
                </a:solidFill>
                <a:latin typeface="Calibri" pitchFamily="34" charset="0"/>
                <a:ea typeface="Calibri" pitchFamily="34" charset="-122"/>
                <a:cs typeface="Calibri" pitchFamily="34" charset="-120"/>
              </a:rPr>
              <a:t>With a 10-min watermark, a 5-min window ending 10:05 stays open for late data until event time passes 10:15 — then it finalizes and its state is dropped.</a:t>
            </a:r>
            <a:endParaRPr lang="en-US" sz="1050" dirty="0"/>
          </a:p>
        </p:txBody>
      </p:sp>
      <p:sp>
        <p:nvSpPr>
          <p:cNvPr id="17" name="Text 15"/>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6B8F90"/>
                </a:solidFill>
                <a:latin typeface="Calibri" pitchFamily="34" charset="0"/>
                <a:ea typeface="Calibri" pitchFamily="34" charset="-122"/>
                <a:cs typeface="Calibri" pitchFamily="34" charset="-120"/>
              </a:rPr>
              <a:t>Spark Structured Streaming</a:t>
            </a:r>
            <a:endParaRPr lang="en-US" sz="900" dirty="0"/>
          </a:p>
        </p:txBody>
      </p:sp>
      <p:sp>
        <p:nvSpPr>
          <p:cNvPr id="18" name="Text 16"/>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6B8F9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26"/>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Common Use Cases</a:t>
            </a:r>
            <a:endParaRPr lang="en-US" sz="3200" dirty="0"/>
          </a:p>
        </p:txBody>
      </p:sp>
      <p:sp>
        <p:nvSpPr>
          <p:cNvPr id="3" name="Text 1"/>
          <p:cNvSpPr txBox="1"/>
          <p:nvPr/>
        </p:nvSpPr>
        <p:spPr>
          <a:xfrm>
            <a:off x="548640" y="1051560"/>
            <a:ext cx="8686800" cy="411480"/>
          </a:xfrm>
          <a:prstGeom prst="rect">
            <a:avLst/>
          </a:prstGeom>
          <a:noFill/>
          <a:ln/>
        </p:spPr>
        <p:txBody>
          <a:bodyPr wrap="square" lIns="0" tIns="0" rIns="0" bIns="0" rtlCol="0" anchor="ctr"/>
          <a:lstStyle/>
          <a:p>
            <a:pPr indent="0" marL="0">
              <a:buNone/>
            </a:pPr>
            <a:r>
              <a:rPr lang="en-US" sz="1350" i="1" dirty="0">
                <a:solidFill>
                  <a:srgbClr val="9FC3C4"/>
                </a:solidFill>
                <a:latin typeface="Calibri" pitchFamily="34" charset="0"/>
                <a:ea typeface="Calibri" pitchFamily="34" charset="-122"/>
                <a:cs typeface="Calibri" pitchFamily="34" charset="-120"/>
              </a:rPr>
              <a:t>Where Structured Streaming shows up in real data platforms.</a:t>
            </a:r>
            <a:endParaRPr lang="en-US" sz="1350" dirty="0"/>
          </a:p>
        </p:txBody>
      </p:sp>
      <p:sp>
        <p:nvSpPr>
          <p:cNvPr id="4" name="Shape 2"/>
          <p:cNvSpPr/>
          <p:nvPr/>
        </p:nvSpPr>
        <p:spPr>
          <a:xfrm>
            <a:off x="548640" y="1691640"/>
            <a:ext cx="3520440" cy="1920240"/>
          </a:xfrm>
          <a:prstGeom prst="roundRect">
            <a:avLst>
              <a:gd name="adj" fmla="val 4762"/>
            </a:avLst>
          </a:prstGeom>
          <a:solidFill>
            <a:srgbClr val="13303A"/>
          </a:solidFill>
          <a:ln w="12700">
            <a:solidFill>
              <a:srgbClr val="1D4E52"/>
            </a:solidFill>
            <a:prstDash val="solid"/>
          </a:ln>
        </p:spPr>
      </p:sp>
      <p:sp>
        <p:nvSpPr>
          <p:cNvPr id="5" name="Text 3"/>
          <p:cNvSpPr txBox="1"/>
          <p:nvPr/>
        </p:nvSpPr>
        <p:spPr>
          <a:xfrm>
            <a:off x="804672" y="1892808"/>
            <a:ext cx="3008376" cy="5029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Real-Time Dashboards</a:t>
            </a:r>
            <a:endParaRPr lang="en-US" sz="1400" dirty="0"/>
          </a:p>
        </p:txBody>
      </p:sp>
      <p:sp>
        <p:nvSpPr>
          <p:cNvPr id="6" name="Text 4"/>
          <p:cNvSpPr txBox="1"/>
          <p:nvPr/>
        </p:nvSpPr>
        <p:spPr>
          <a:xfrm>
            <a:off x="804672" y="2404872"/>
            <a:ext cx="3008376" cy="1097280"/>
          </a:xfrm>
          <a:prstGeom prst="rect">
            <a:avLst/>
          </a:prstGeom>
          <a:noFill/>
          <a:ln/>
        </p:spPr>
        <p:txBody>
          <a:bodyPr wrap="square" lIns="0" tIns="0" rIns="0" bIns="0" rtlCol="0" anchor="ctr"/>
          <a:lstStyle/>
          <a:p>
            <a:pPr indent="0" marL="0">
              <a:lnSpc>
                <a:spcPct val="120000"/>
              </a:lnSpc>
              <a:buNone/>
            </a:pPr>
            <a:r>
              <a:rPr lang="en-US" sz="1050" dirty="0">
                <a:solidFill>
                  <a:srgbClr val="EAF4F4"/>
                </a:solidFill>
                <a:latin typeface="Calibri" pitchFamily="34" charset="0"/>
                <a:ea typeface="Calibri" pitchFamily="34" charset="-122"/>
                <a:cs typeface="Calibri" pitchFamily="34" charset="-120"/>
              </a:rPr>
              <a:t>Streaming aggregations (counts, sums, averages) feed live dashboards so metrics update within seconds instead of overnight.</a:t>
            </a:r>
            <a:endParaRPr lang="en-US" sz="1050" dirty="0"/>
          </a:p>
        </p:txBody>
      </p:sp>
      <p:sp>
        <p:nvSpPr>
          <p:cNvPr id="7" name="Shape 5"/>
          <p:cNvSpPr/>
          <p:nvPr/>
        </p:nvSpPr>
        <p:spPr>
          <a:xfrm>
            <a:off x="4297680" y="1691640"/>
            <a:ext cx="3520440" cy="1920240"/>
          </a:xfrm>
          <a:prstGeom prst="roundRect">
            <a:avLst>
              <a:gd name="adj" fmla="val 4762"/>
            </a:avLst>
          </a:prstGeom>
          <a:solidFill>
            <a:srgbClr val="13303A"/>
          </a:solidFill>
          <a:ln w="12700">
            <a:solidFill>
              <a:srgbClr val="1D4E52"/>
            </a:solidFill>
            <a:prstDash val="solid"/>
          </a:ln>
        </p:spPr>
      </p:sp>
      <p:sp>
        <p:nvSpPr>
          <p:cNvPr id="8" name="Text 6"/>
          <p:cNvSpPr txBox="1"/>
          <p:nvPr/>
        </p:nvSpPr>
        <p:spPr>
          <a:xfrm>
            <a:off x="4553712" y="1892808"/>
            <a:ext cx="3008376" cy="5029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Fraud &amp; Anomaly Detection</a:t>
            </a:r>
            <a:endParaRPr lang="en-US" sz="1400" dirty="0"/>
          </a:p>
        </p:txBody>
      </p:sp>
      <p:sp>
        <p:nvSpPr>
          <p:cNvPr id="9" name="Text 7"/>
          <p:cNvSpPr txBox="1"/>
          <p:nvPr/>
        </p:nvSpPr>
        <p:spPr>
          <a:xfrm>
            <a:off x="4553712" y="2404872"/>
            <a:ext cx="3008376" cy="1097280"/>
          </a:xfrm>
          <a:prstGeom prst="rect">
            <a:avLst/>
          </a:prstGeom>
          <a:noFill/>
          <a:ln/>
        </p:spPr>
        <p:txBody>
          <a:bodyPr wrap="square" lIns="0" tIns="0" rIns="0" bIns="0" rtlCol="0" anchor="ctr"/>
          <a:lstStyle/>
          <a:p>
            <a:pPr indent="0" marL="0">
              <a:lnSpc>
                <a:spcPct val="120000"/>
              </a:lnSpc>
              <a:buNone/>
            </a:pPr>
            <a:r>
              <a:rPr lang="en-US" sz="1050" dirty="0">
                <a:solidFill>
                  <a:srgbClr val="EAF4F4"/>
                </a:solidFill>
                <a:latin typeface="Calibri" pitchFamily="34" charset="0"/>
                <a:ea typeface="Calibri" pitchFamily="34" charset="-122"/>
                <a:cs typeface="Calibri" pitchFamily="34" charset="-120"/>
              </a:rPr>
              <a:t>Stateful transformations flag suspicious patterns — like rapid repeated transactions — the moment they happen.</a:t>
            </a:r>
            <a:endParaRPr lang="en-US" sz="1050" dirty="0"/>
          </a:p>
        </p:txBody>
      </p:sp>
      <p:sp>
        <p:nvSpPr>
          <p:cNvPr id="10" name="Shape 8"/>
          <p:cNvSpPr/>
          <p:nvPr/>
        </p:nvSpPr>
        <p:spPr>
          <a:xfrm>
            <a:off x="8046720" y="1691640"/>
            <a:ext cx="3520440" cy="1920240"/>
          </a:xfrm>
          <a:prstGeom prst="roundRect">
            <a:avLst>
              <a:gd name="adj" fmla="val 4762"/>
            </a:avLst>
          </a:prstGeom>
          <a:solidFill>
            <a:srgbClr val="13303A"/>
          </a:solidFill>
          <a:ln w="12700">
            <a:solidFill>
              <a:srgbClr val="1D4E52"/>
            </a:solidFill>
            <a:prstDash val="solid"/>
          </a:ln>
        </p:spPr>
      </p:sp>
      <p:sp>
        <p:nvSpPr>
          <p:cNvPr id="11" name="Text 9"/>
          <p:cNvSpPr txBox="1"/>
          <p:nvPr/>
        </p:nvSpPr>
        <p:spPr>
          <a:xfrm>
            <a:off x="8302752" y="1892808"/>
            <a:ext cx="3008376" cy="5029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Log &amp; Event Pipelines</a:t>
            </a:r>
            <a:endParaRPr lang="en-US" sz="1400" dirty="0"/>
          </a:p>
        </p:txBody>
      </p:sp>
      <p:sp>
        <p:nvSpPr>
          <p:cNvPr id="12" name="Text 10"/>
          <p:cNvSpPr txBox="1"/>
          <p:nvPr/>
        </p:nvSpPr>
        <p:spPr>
          <a:xfrm>
            <a:off x="8302752" y="2404872"/>
            <a:ext cx="3008376" cy="1097280"/>
          </a:xfrm>
          <a:prstGeom prst="rect">
            <a:avLst/>
          </a:prstGeom>
          <a:noFill/>
          <a:ln/>
        </p:spPr>
        <p:txBody>
          <a:bodyPr wrap="square" lIns="0" tIns="0" rIns="0" bIns="0" rtlCol="0" anchor="ctr"/>
          <a:lstStyle/>
          <a:p>
            <a:pPr indent="0" marL="0">
              <a:lnSpc>
                <a:spcPct val="120000"/>
              </a:lnSpc>
              <a:buNone/>
            </a:pPr>
            <a:r>
              <a:rPr lang="en-US" sz="1050" dirty="0">
                <a:solidFill>
                  <a:srgbClr val="EAF4F4"/>
                </a:solidFill>
                <a:latin typeface="Calibri" pitchFamily="34" charset="0"/>
                <a:ea typeface="Calibri" pitchFamily="34" charset="-122"/>
                <a:cs typeface="Calibri" pitchFamily="34" charset="-120"/>
              </a:rPr>
              <a:t>readStream ingests application or IoT logs continuously, cleans them, and writes to a data lake or warehouse.</a:t>
            </a:r>
            <a:endParaRPr lang="en-US" sz="1050" dirty="0"/>
          </a:p>
        </p:txBody>
      </p:sp>
      <p:sp>
        <p:nvSpPr>
          <p:cNvPr id="13" name="Shape 11"/>
          <p:cNvSpPr/>
          <p:nvPr/>
        </p:nvSpPr>
        <p:spPr>
          <a:xfrm>
            <a:off x="548640" y="3840480"/>
            <a:ext cx="3520440" cy="1920240"/>
          </a:xfrm>
          <a:prstGeom prst="roundRect">
            <a:avLst>
              <a:gd name="adj" fmla="val 4762"/>
            </a:avLst>
          </a:prstGeom>
          <a:solidFill>
            <a:srgbClr val="13303A"/>
          </a:solidFill>
          <a:ln w="12700">
            <a:solidFill>
              <a:srgbClr val="1D4E52"/>
            </a:solidFill>
            <a:prstDash val="solid"/>
          </a:ln>
        </p:spPr>
      </p:sp>
      <p:sp>
        <p:nvSpPr>
          <p:cNvPr id="14" name="Text 12"/>
          <p:cNvSpPr txBox="1"/>
          <p:nvPr/>
        </p:nvSpPr>
        <p:spPr>
          <a:xfrm>
            <a:off x="804672" y="4041648"/>
            <a:ext cx="3008376" cy="5029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ETL / Incremental Loading</a:t>
            </a:r>
            <a:endParaRPr lang="en-US" sz="1400" dirty="0"/>
          </a:p>
        </p:txBody>
      </p:sp>
      <p:sp>
        <p:nvSpPr>
          <p:cNvPr id="15" name="Text 13"/>
          <p:cNvSpPr txBox="1"/>
          <p:nvPr/>
        </p:nvSpPr>
        <p:spPr>
          <a:xfrm>
            <a:off x="804672" y="4553712"/>
            <a:ext cx="3008376" cy="1097280"/>
          </a:xfrm>
          <a:prstGeom prst="rect">
            <a:avLst/>
          </a:prstGeom>
          <a:noFill/>
          <a:ln/>
        </p:spPr>
        <p:txBody>
          <a:bodyPr wrap="square" lIns="0" tIns="0" rIns="0" bIns="0" rtlCol="0" anchor="ctr"/>
          <a:lstStyle/>
          <a:p>
            <a:pPr indent="0" marL="0">
              <a:lnSpc>
                <a:spcPct val="120000"/>
              </a:lnSpc>
              <a:buNone/>
            </a:pPr>
            <a:r>
              <a:rPr lang="en-US" sz="1050" dirty="0">
                <a:solidFill>
                  <a:srgbClr val="EAF4F4"/>
                </a:solidFill>
                <a:latin typeface="Calibri" pitchFamily="34" charset="0"/>
                <a:ea typeface="Calibri" pitchFamily="34" charset="-122"/>
                <a:cs typeface="Calibri" pitchFamily="34" charset="-120"/>
              </a:rPr>
              <a:t>AvailableNow or ProcessingTime triggers turn Structured Streaming into a scheduled, incremental ETL job.</a:t>
            </a:r>
            <a:endParaRPr lang="en-US" sz="1050" dirty="0"/>
          </a:p>
        </p:txBody>
      </p:sp>
      <p:sp>
        <p:nvSpPr>
          <p:cNvPr id="16" name="Shape 14"/>
          <p:cNvSpPr/>
          <p:nvPr/>
        </p:nvSpPr>
        <p:spPr>
          <a:xfrm>
            <a:off x="4297680" y="3840480"/>
            <a:ext cx="3520440" cy="1920240"/>
          </a:xfrm>
          <a:prstGeom prst="roundRect">
            <a:avLst>
              <a:gd name="adj" fmla="val 4762"/>
            </a:avLst>
          </a:prstGeom>
          <a:solidFill>
            <a:srgbClr val="13303A"/>
          </a:solidFill>
          <a:ln w="12700">
            <a:solidFill>
              <a:srgbClr val="1D4E52"/>
            </a:solidFill>
            <a:prstDash val="solid"/>
          </a:ln>
        </p:spPr>
      </p:sp>
      <p:sp>
        <p:nvSpPr>
          <p:cNvPr id="17" name="Text 15"/>
          <p:cNvSpPr txBox="1"/>
          <p:nvPr/>
        </p:nvSpPr>
        <p:spPr>
          <a:xfrm>
            <a:off x="4553712" y="4041648"/>
            <a:ext cx="3008376" cy="5029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Kafka Integration</a:t>
            </a:r>
            <a:endParaRPr lang="en-US" sz="1400" dirty="0"/>
          </a:p>
        </p:txBody>
      </p:sp>
      <p:sp>
        <p:nvSpPr>
          <p:cNvPr id="18" name="Text 16"/>
          <p:cNvSpPr txBox="1"/>
          <p:nvPr/>
        </p:nvSpPr>
        <p:spPr>
          <a:xfrm>
            <a:off x="4553712" y="4553712"/>
            <a:ext cx="3008376" cy="1097280"/>
          </a:xfrm>
          <a:prstGeom prst="rect">
            <a:avLst/>
          </a:prstGeom>
          <a:noFill/>
          <a:ln/>
        </p:spPr>
        <p:txBody>
          <a:bodyPr wrap="square" lIns="0" tIns="0" rIns="0" bIns="0" rtlCol="0" anchor="ctr"/>
          <a:lstStyle/>
          <a:p>
            <a:pPr indent="0" marL="0">
              <a:lnSpc>
                <a:spcPct val="120000"/>
              </a:lnSpc>
              <a:buNone/>
            </a:pPr>
            <a:r>
              <a:rPr lang="en-US" sz="1050" dirty="0">
                <a:solidFill>
                  <a:srgbClr val="EAF4F4"/>
                </a:solidFill>
                <a:latin typeface="Calibri" pitchFamily="34" charset="0"/>
                <a:ea typeface="Calibri" pitchFamily="34" charset="-122"/>
                <a:cs typeface="Calibri" pitchFamily="34" charset="-120"/>
              </a:rPr>
              <a:t>Consuming from and producing to Kafka topics is a first-class source/sink, powering event-driven microservices.</a:t>
            </a:r>
            <a:endParaRPr lang="en-US" sz="1050" dirty="0"/>
          </a:p>
        </p:txBody>
      </p:sp>
      <p:sp>
        <p:nvSpPr>
          <p:cNvPr id="19" name="Shape 17"/>
          <p:cNvSpPr/>
          <p:nvPr/>
        </p:nvSpPr>
        <p:spPr>
          <a:xfrm>
            <a:off x="8046720" y="3840480"/>
            <a:ext cx="3520440" cy="1920240"/>
          </a:xfrm>
          <a:prstGeom prst="roundRect">
            <a:avLst>
              <a:gd name="adj" fmla="val 4762"/>
            </a:avLst>
          </a:prstGeom>
          <a:solidFill>
            <a:srgbClr val="13303A"/>
          </a:solidFill>
          <a:ln w="12700">
            <a:solidFill>
              <a:srgbClr val="1D4E52"/>
            </a:solidFill>
            <a:prstDash val="solid"/>
          </a:ln>
        </p:spPr>
      </p:sp>
      <p:sp>
        <p:nvSpPr>
          <p:cNvPr id="20" name="Text 18"/>
          <p:cNvSpPr txBox="1"/>
          <p:nvPr/>
        </p:nvSpPr>
        <p:spPr>
          <a:xfrm>
            <a:off x="8302752" y="4041648"/>
            <a:ext cx="3008376" cy="50292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Sessionization &amp; Analytics</a:t>
            </a:r>
            <a:endParaRPr lang="en-US" sz="1400" dirty="0"/>
          </a:p>
        </p:txBody>
      </p:sp>
      <p:sp>
        <p:nvSpPr>
          <p:cNvPr id="21" name="Text 19"/>
          <p:cNvSpPr txBox="1"/>
          <p:nvPr/>
        </p:nvSpPr>
        <p:spPr>
          <a:xfrm>
            <a:off x="8302752" y="4553712"/>
            <a:ext cx="3008376" cy="1097280"/>
          </a:xfrm>
          <a:prstGeom prst="rect">
            <a:avLst/>
          </a:prstGeom>
          <a:noFill/>
          <a:ln/>
        </p:spPr>
        <p:txBody>
          <a:bodyPr wrap="square" lIns="0" tIns="0" rIns="0" bIns="0" rtlCol="0" anchor="ctr"/>
          <a:lstStyle/>
          <a:p>
            <a:pPr indent="0" marL="0">
              <a:lnSpc>
                <a:spcPct val="120000"/>
              </a:lnSpc>
              <a:buNone/>
            </a:pPr>
            <a:r>
              <a:rPr lang="en-US" sz="1050" dirty="0">
                <a:solidFill>
                  <a:srgbClr val="EAF4F4"/>
                </a:solidFill>
                <a:latin typeface="Calibri" pitchFamily="34" charset="0"/>
                <a:ea typeface="Calibri" pitchFamily="34" charset="-122"/>
                <a:cs typeface="Calibri" pitchFamily="34" charset="-120"/>
              </a:rPr>
              <a:t>Session windows group user activity for engagement metrics, funnel analysis, and personalization.</a:t>
            </a:r>
            <a:endParaRPr lang="en-US" sz="1050" dirty="0"/>
          </a:p>
        </p:txBody>
      </p:sp>
      <p:sp>
        <p:nvSpPr>
          <p:cNvPr id="22" name="Text 20"/>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23" name="Text 21"/>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26"/>
        </a:solidFill>
      </p:bgPr>
    </p:bg>
    <p:spTree>
      <p:nvGrpSpPr>
        <p:cNvPr id="1" name=""/>
        <p:cNvGrpSpPr/>
        <p:nvPr/>
      </p:nvGrpSpPr>
      <p:grpSpPr>
        <a:xfrm>
          <a:off x="0" y="0"/>
          <a:ext cx="0" cy="0"/>
          <a:chOff x="0" y="0"/>
          <a:chExt cx="0" cy="0"/>
        </a:xfrm>
      </p:grpSpPr>
      <p:sp>
        <p:nvSpPr>
          <p:cNvPr id="2" name="Shape 0"/>
          <p:cNvSpPr/>
          <p:nvPr/>
        </p:nvSpPr>
        <p:spPr>
          <a:xfrm>
            <a:off x="-2011680" y="4114800"/>
            <a:ext cx="5943600" cy="5943600"/>
          </a:xfrm>
          <a:prstGeom prst="ellipse">
            <a:avLst/>
          </a:prstGeom>
          <a:ln w="19050">
            <a:solidFill>
              <a:srgbClr val="00A896">
                <a:alpha val="45000"/>
              </a:srgbClr>
            </a:solidFill>
            <a:prstDash val="solid"/>
          </a:ln>
        </p:spPr>
      </p:sp>
      <p:sp>
        <p:nvSpPr>
          <p:cNvPr id="3" name="Shape 1"/>
          <p:cNvSpPr/>
          <p:nvPr/>
        </p:nvSpPr>
        <p:spPr>
          <a:xfrm>
            <a:off x="-1371600" y="4754880"/>
            <a:ext cx="4663440" cy="4663440"/>
          </a:xfrm>
          <a:prstGeom prst="ellipse">
            <a:avLst/>
          </a:prstGeom>
          <a:ln w="19050">
            <a:solidFill>
              <a:srgbClr val="02C39A">
                <a:alpha val="60000"/>
              </a:srgbClr>
            </a:solidFill>
            <a:prstDash val="solid"/>
          </a:ln>
        </p:spPr>
      </p:sp>
      <p:sp>
        <p:nvSpPr>
          <p:cNvPr id="4" name="Text 2"/>
          <p:cNvSpPr txBox="1"/>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FFFFFF"/>
                </a:solidFill>
                <a:latin typeface="Century Schoolbook" pitchFamily="34" charset="0"/>
                <a:ea typeface="Century Schoolbook" pitchFamily="34" charset="-122"/>
                <a:cs typeface="Century Schoolbook" pitchFamily="34" charset="-120"/>
              </a:rPr>
              <a:t>Key Takeaways</a:t>
            </a:r>
            <a:endParaRPr lang="en-US" sz="3200" dirty="0"/>
          </a:p>
        </p:txBody>
      </p:sp>
      <p:sp>
        <p:nvSpPr>
          <p:cNvPr id="5" name="Shape 3"/>
          <p:cNvSpPr/>
          <p:nvPr/>
        </p:nvSpPr>
        <p:spPr>
          <a:xfrm>
            <a:off x="640080" y="1417320"/>
            <a:ext cx="365760" cy="365760"/>
          </a:xfrm>
          <a:prstGeom prst="ellipse">
            <a:avLst/>
          </a:prstGeom>
          <a:solidFill>
            <a:srgbClr val="02C39A"/>
          </a:solidFill>
          <a:ln/>
        </p:spPr>
      </p:sp>
      <p:sp>
        <p:nvSpPr>
          <p:cNvPr id="6" name="Text 4"/>
          <p:cNvSpPr txBox="1"/>
          <p:nvPr/>
        </p:nvSpPr>
        <p:spPr>
          <a:xfrm>
            <a:off x="640080" y="14173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1188720" y="13441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Structured Streaming reuses the DataFrame API — readStream/writeStream instead of read/write — so batch skills transfer directly.</a:t>
            </a:r>
            <a:endParaRPr lang="en-US" sz="1250" dirty="0"/>
          </a:p>
        </p:txBody>
      </p:sp>
      <p:sp>
        <p:nvSpPr>
          <p:cNvPr id="8" name="Shape 6"/>
          <p:cNvSpPr/>
          <p:nvPr/>
        </p:nvSpPr>
        <p:spPr>
          <a:xfrm>
            <a:off x="640080" y="2103120"/>
            <a:ext cx="365760" cy="365760"/>
          </a:xfrm>
          <a:prstGeom prst="ellipse">
            <a:avLst/>
          </a:prstGeom>
          <a:solidFill>
            <a:srgbClr val="02C39A"/>
          </a:solidFill>
          <a:ln/>
        </p:spPr>
      </p:sp>
      <p:sp>
        <p:nvSpPr>
          <p:cNvPr id="9" name="Text 7"/>
          <p:cNvSpPr txBox="1"/>
          <p:nvPr/>
        </p:nvSpPr>
        <p:spPr>
          <a:xfrm>
            <a:off x="640080" y="21031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10" name="Text 8"/>
          <p:cNvSpPr txBox="1"/>
          <p:nvPr/>
        </p:nvSpPr>
        <p:spPr>
          <a:xfrm>
            <a:off x="1188720" y="20299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Stateless transformations process each record independently; stateful ones remember prior data (running totals, aggregations).</a:t>
            </a:r>
            <a:endParaRPr lang="en-US" sz="1250" dirty="0"/>
          </a:p>
        </p:txBody>
      </p:sp>
      <p:sp>
        <p:nvSpPr>
          <p:cNvPr id="11" name="Shape 9"/>
          <p:cNvSpPr/>
          <p:nvPr/>
        </p:nvSpPr>
        <p:spPr>
          <a:xfrm>
            <a:off x="640080" y="2788920"/>
            <a:ext cx="365760" cy="365760"/>
          </a:xfrm>
          <a:prstGeom prst="ellipse">
            <a:avLst/>
          </a:prstGeom>
          <a:solidFill>
            <a:srgbClr val="02C39A"/>
          </a:solidFill>
          <a:ln/>
        </p:spPr>
      </p:sp>
      <p:sp>
        <p:nvSpPr>
          <p:cNvPr id="12" name="Text 10"/>
          <p:cNvSpPr txBox="1"/>
          <p:nvPr/>
        </p:nvSpPr>
        <p:spPr>
          <a:xfrm>
            <a:off x="640080" y="27889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188720" y="27157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Checkpoints store commits, offsets, source &amp; state so a query can recover exactly where it left off after a failure.</a:t>
            </a:r>
            <a:endParaRPr lang="en-US" sz="1250" dirty="0"/>
          </a:p>
        </p:txBody>
      </p:sp>
      <p:sp>
        <p:nvSpPr>
          <p:cNvPr id="14" name="Shape 12"/>
          <p:cNvSpPr/>
          <p:nvPr/>
        </p:nvSpPr>
        <p:spPr>
          <a:xfrm>
            <a:off x="640080" y="3474720"/>
            <a:ext cx="365760" cy="365760"/>
          </a:xfrm>
          <a:prstGeom prst="ellipse">
            <a:avLst/>
          </a:prstGeom>
          <a:solidFill>
            <a:srgbClr val="02C39A"/>
          </a:solidFill>
          <a:ln/>
        </p:spPr>
      </p:sp>
      <p:sp>
        <p:nvSpPr>
          <p:cNvPr id="15" name="Text 13"/>
          <p:cNvSpPr txBox="1"/>
          <p:nvPr/>
        </p:nvSpPr>
        <p:spPr>
          <a:xfrm>
            <a:off x="640080" y="34747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1188720" y="34015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Choose the output mode — append, complete, or update — to match stateless vs. stateful logic and your sink's capabilities.</a:t>
            </a:r>
            <a:endParaRPr lang="en-US" sz="1250" dirty="0"/>
          </a:p>
        </p:txBody>
      </p:sp>
      <p:sp>
        <p:nvSpPr>
          <p:cNvPr id="17" name="Shape 15"/>
          <p:cNvSpPr/>
          <p:nvPr/>
        </p:nvSpPr>
        <p:spPr>
          <a:xfrm>
            <a:off x="640080" y="4160520"/>
            <a:ext cx="365760" cy="365760"/>
          </a:xfrm>
          <a:prstGeom prst="ellipse">
            <a:avLst/>
          </a:prstGeom>
          <a:solidFill>
            <a:srgbClr val="02C39A"/>
          </a:solidFill>
          <a:ln/>
        </p:spPr>
      </p:sp>
      <p:sp>
        <p:nvSpPr>
          <p:cNvPr id="18" name="Text 16"/>
          <p:cNvSpPr txBox="1"/>
          <p:nvPr/>
        </p:nvSpPr>
        <p:spPr>
          <a:xfrm>
            <a:off x="640080" y="41605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1188720" y="40873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Triggers control cadence, from continuous low-latency processing to one-time Once/AvailableNow batches.</a:t>
            </a:r>
            <a:endParaRPr lang="en-US" sz="1250" dirty="0"/>
          </a:p>
        </p:txBody>
      </p:sp>
      <p:sp>
        <p:nvSpPr>
          <p:cNvPr id="20" name="Shape 18"/>
          <p:cNvSpPr/>
          <p:nvPr/>
        </p:nvSpPr>
        <p:spPr>
          <a:xfrm>
            <a:off x="640080" y="4846320"/>
            <a:ext cx="365760" cy="365760"/>
          </a:xfrm>
          <a:prstGeom prst="ellipse">
            <a:avLst/>
          </a:prstGeom>
          <a:solidFill>
            <a:srgbClr val="02C39A"/>
          </a:solidFill>
          <a:ln/>
        </p:spPr>
      </p:sp>
      <p:sp>
        <p:nvSpPr>
          <p:cNvPr id="21" name="Text 19"/>
          <p:cNvSpPr txBox="1"/>
          <p:nvPr/>
        </p:nvSpPr>
        <p:spPr>
          <a:xfrm>
            <a:off x="640080" y="48463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22" name="Text 20"/>
          <p:cNvSpPr txBox="1"/>
          <p:nvPr/>
        </p:nvSpPr>
        <p:spPr>
          <a:xfrm>
            <a:off x="1188720" y="47731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Windowing (tumbling, sliding, session) groups events by event time, not processing time — the two clocks can diverge.</a:t>
            </a:r>
            <a:endParaRPr lang="en-US" sz="1250" dirty="0"/>
          </a:p>
        </p:txBody>
      </p:sp>
      <p:sp>
        <p:nvSpPr>
          <p:cNvPr id="23" name="Shape 21"/>
          <p:cNvSpPr/>
          <p:nvPr/>
        </p:nvSpPr>
        <p:spPr>
          <a:xfrm>
            <a:off x="640080" y="5532120"/>
            <a:ext cx="365760" cy="365760"/>
          </a:xfrm>
          <a:prstGeom prst="ellipse">
            <a:avLst/>
          </a:prstGeom>
          <a:solidFill>
            <a:srgbClr val="02C39A"/>
          </a:solidFill>
          <a:ln/>
        </p:spPr>
      </p:sp>
      <p:sp>
        <p:nvSpPr>
          <p:cNvPr id="24" name="Text 22"/>
          <p:cNvSpPr txBox="1"/>
          <p:nvPr/>
        </p:nvSpPr>
        <p:spPr>
          <a:xfrm>
            <a:off x="640080" y="5532120"/>
            <a:ext cx="365760" cy="365760"/>
          </a:xfrm>
          <a:prstGeom prst="rect">
            <a:avLst/>
          </a:prstGeom>
          <a:noFill/>
          <a:ln/>
        </p:spPr>
        <p:txBody>
          <a:bodyPr wrap="square" lIns="0" tIns="0" rIns="0" bIns="0" rtlCol="0" anchor="ctr"/>
          <a:lstStyle/>
          <a:p>
            <a:pPr algn="ctr" indent="0" marL="0">
              <a:buNone/>
            </a:pPr>
            <a:r>
              <a:rPr lang="en-US" sz="1300" b="1" dirty="0">
                <a:solidFill>
                  <a:srgbClr val="0B1F26"/>
                </a:solidFill>
                <a:latin typeface="Calibri" pitchFamily="34" charset="0"/>
                <a:ea typeface="Calibri" pitchFamily="34" charset="-122"/>
                <a:cs typeface="Calibri" pitchFamily="34" charset="-120"/>
              </a:rPr>
              <a:t>✓</a:t>
            </a:r>
            <a:endParaRPr lang="en-US" sz="1300" dirty="0"/>
          </a:p>
        </p:txBody>
      </p:sp>
      <p:sp>
        <p:nvSpPr>
          <p:cNvPr id="25" name="Text 23"/>
          <p:cNvSpPr txBox="1"/>
          <p:nvPr/>
        </p:nvSpPr>
        <p:spPr>
          <a:xfrm>
            <a:off x="1188720" y="5458968"/>
            <a:ext cx="10332720" cy="594360"/>
          </a:xfrm>
          <a:prstGeom prst="rect">
            <a:avLst/>
          </a:prstGeom>
          <a:noFill/>
          <a:ln/>
        </p:spPr>
        <p:txBody>
          <a:bodyPr wrap="square" lIns="0" tIns="0" rIns="0" bIns="0" rtlCol="0" anchor="ctr"/>
          <a:lstStyle/>
          <a:p>
            <a:pPr indent="0" marL="0">
              <a:lnSpc>
                <a:spcPct val="115000"/>
              </a:lnSpc>
              <a:buNone/>
            </a:pPr>
            <a:r>
              <a:rPr lang="en-US" sz="1250" dirty="0">
                <a:solidFill>
                  <a:srgbClr val="EAF4F4"/>
                </a:solidFill>
                <a:latin typeface="Calibri" pitchFamily="34" charset="0"/>
                <a:ea typeface="Calibri" pitchFamily="34" charset="-122"/>
                <a:cs typeface="Calibri" pitchFamily="34" charset="-120"/>
              </a:rPr>
              <a:t>Watermarks bound how late data can be, letting Spark finalize windows and drop old state instead of growing forever.</a:t>
            </a:r>
            <a:endParaRPr lang="en-US" sz="1250" dirty="0"/>
          </a:p>
        </p:txBody>
      </p:sp>
      <p:sp>
        <p:nvSpPr>
          <p:cNvPr id="26" name="Text 24"/>
          <p:cNvSpPr/>
          <p:nvPr/>
        </p:nvSpPr>
        <p:spPr>
          <a:xfrm>
            <a:off x="457200" y="6537960"/>
            <a:ext cx="5486400" cy="274320"/>
          </a:xfrm>
          <a:prstGeom prst="rect">
            <a:avLst/>
          </a:prstGeom>
          <a:noFill/>
          <a:ln/>
        </p:spPr>
        <p:txBody>
          <a:bodyPr wrap="square" rtlCol="0" anchor="ctr"/>
          <a:lstStyle/>
          <a:p>
            <a:pPr algn="l" indent="0" marL="0">
              <a:buNone/>
            </a:pPr>
            <a:r>
              <a:rPr lang="en-US" sz="900" dirty="0">
                <a:solidFill>
                  <a:srgbClr val="9FC3C4"/>
                </a:solidFill>
                <a:latin typeface="Calibri" pitchFamily="34" charset="0"/>
                <a:ea typeface="Calibri" pitchFamily="34" charset="-122"/>
                <a:cs typeface="Calibri" pitchFamily="34" charset="-120"/>
              </a:rPr>
              <a:t>Spark Structured Streaming</a:t>
            </a:r>
            <a:endParaRPr lang="en-US" sz="900" dirty="0"/>
          </a:p>
        </p:txBody>
      </p:sp>
      <p:sp>
        <p:nvSpPr>
          <p:cNvPr id="27" name="Text 25"/>
          <p:cNvSpPr/>
          <p:nvPr/>
        </p:nvSpPr>
        <p:spPr>
          <a:xfrm>
            <a:off x="11430000" y="6537960"/>
            <a:ext cx="457200" cy="274320"/>
          </a:xfrm>
          <a:prstGeom prst="rect">
            <a:avLst/>
          </a:prstGeom>
          <a:noFill/>
          <a:ln/>
        </p:spPr>
        <p:txBody>
          <a:bodyPr wrap="square" rtlCol="0" anchor="ctr"/>
          <a:lstStyle/>
          <a:p>
            <a:pPr algn="r" indent="0" marL="0">
              <a:buNone/>
            </a:pPr>
            <a:r>
              <a:rPr lang="en-US" sz="900" dirty="0">
                <a:solidFill>
                  <a:srgbClr val="9FC3C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2026-08-27T00:18:39Z</dcterms:created>
  <dcterms:modified xsi:type="dcterms:W3CDTF">2026-08-27T00:18:39Z</dcterms:modified>
</cp:coreProperties>
</file>