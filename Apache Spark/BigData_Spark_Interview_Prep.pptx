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8" autoAdjust="0"/>
    <p:restoredTop sz="88000" autoAdjust="0"/>
  </p:normalViewPr>
  <p:slideViewPr>
    <p:cSldViewPr snapToGrid="0" snapToObjects="1">
      <p:cViewPr>
        <p:scale>
          <a:sx n="84" d="100"/>
          <a:sy n="84" d="100"/>
        </p:scale>
        <p:origin x="240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060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E23D2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206240"/>
            <a:ext cx="5029200" cy="5029200"/>
          </a:xfrm>
          <a:prstGeom prst="ellipse">
            <a:avLst/>
          </a:prstGeom>
          <a:solidFill>
            <a:srgbClr val="E23D28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4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Spark &amp; PySpark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interview-prep reference: Hadoop foundations, Spark's architecture and execution model, the full PySpark transformation toolkit, and a 50+ question interview bank.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00600"/>
            <a:ext cx="1504188" cy="384048"/>
          </a:xfrm>
          <a:prstGeom prst="roundRect">
            <a:avLst>
              <a:gd name="adj" fmla="val 50000"/>
            </a:avLst>
          </a:prstGeom>
          <a:solidFill>
            <a:srgbClr val="1C2735"/>
          </a:solidFill>
          <a:ln w="9525">
            <a:solidFill>
              <a:srgbClr val="E23D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15041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&amp; HDFS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91740" y="4800600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1C2735"/>
          </a:solidFill>
          <a:ln w="9525">
            <a:solidFill>
              <a:srgbClr val="E23D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1740" y="4800600"/>
            <a:ext cx="198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Architecture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40580" y="4800600"/>
            <a:ext cx="1696212" cy="384048"/>
          </a:xfrm>
          <a:prstGeom prst="roundRect">
            <a:avLst>
              <a:gd name="adj" fmla="val 50000"/>
            </a:avLst>
          </a:prstGeom>
          <a:solidFill>
            <a:srgbClr val="1C2735"/>
          </a:solidFill>
          <a:ln w="9525">
            <a:solidFill>
              <a:srgbClr val="E23D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0580" y="4800600"/>
            <a:ext cx="16962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&amp; DataFrame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01384" y="4800600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1C2735"/>
          </a:solidFill>
          <a:ln w="9525">
            <a:solidFill>
              <a:srgbClr val="E23D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4800600"/>
            <a:ext cx="198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Optimizer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50224" y="4800600"/>
            <a:ext cx="928116" cy="384048"/>
          </a:xfrm>
          <a:prstGeom prst="roundRect">
            <a:avLst>
              <a:gd name="adj" fmla="val 50000"/>
            </a:avLst>
          </a:prstGeom>
          <a:solidFill>
            <a:srgbClr val="1C2735"/>
          </a:solidFill>
          <a:ln w="9525">
            <a:solidFill>
              <a:srgbClr val="E23D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0224" y="4800600"/>
            <a:ext cx="928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742932" y="4800600"/>
            <a:ext cx="1888236" cy="384048"/>
          </a:xfrm>
          <a:prstGeom prst="roundRect">
            <a:avLst>
              <a:gd name="adj" fmla="val 50000"/>
            </a:avLst>
          </a:prstGeom>
          <a:solidFill>
            <a:srgbClr val="1C2735"/>
          </a:solidFill>
          <a:ln w="9525">
            <a:solidFill>
              <a:srgbClr val="E23D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42932" y="4800600"/>
            <a:ext cx="18882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Interview Q&amp;A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Basics · PySpark Transformations — Interview Prep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017520"/>
            <a:ext cx="4572000" cy="4572000"/>
          </a:xfrm>
          <a:prstGeom prst="ellipse">
            <a:avLst/>
          </a:prstGeom>
          <a:solidFill>
            <a:srgbClr val="E23D2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788920"/>
            <a:ext cx="640080" cy="73152"/>
          </a:xfrm>
          <a:prstGeom prst="rect">
            <a:avLst/>
          </a:prstGeom>
          <a:solidFill>
            <a:srgbClr val="E23D2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" y="292608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Spark Basics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concepts, architecture, and the execution model behind every Spark job — the foundation every other topic builds 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Big Data?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2984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that's too large, fast, or complex for traditional systems to store and process efficiently. Spark was built to handle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121A24"/>
          </a:solidFill>
          <a:ln/>
        </p:spPr>
      </p:sp>
      <p:sp>
        <p:nvSpPr>
          <p:cNvPr id="8" name="Shape 6"/>
          <p:cNvSpPr/>
          <p:nvPr/>
        </p:nvSpPr>
        <p:spPr>
          <a:xfrm>
            <a:off x="1965960" y="21945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23D28"/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amounts of data — often terabytes to petabytes.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87452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121A24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0720" y="21945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23D28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347472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at which data is generated and must be processed.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87452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121A24"/>
          </a:solidFill>
          <a:ln/>
        </p:spPr>
      </p:sp>
      <p:sp>
        <p:nvSpPr>
          <p:cNvPr id="18" name="Shape 16"/>
          <p:cNvSpPr/>
          <p:nvPr/>
        </p:nvSpPr>
        <p:spPr>
          <a:xfrm>
            <a:off x="9555480" y="21945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23D28"/>
          </a:solidFill>
          <a:ln/>
        </p:spPr>
      </p:sp>
      <p:sp>
        <p:nvSpPr>
          <p:cNvPr id="19" name="Text 17"/>
          <p:cNvSpPr/>
          <p:nvPr/>
        </p:nvSpPr>
        <p:spPr>
          <a:xfrm>
            <a:off x="95554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66760" y="3017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Variety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347472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types of data — structured, semi-structured, unstructured.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Hadoop Components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74920" cy="4480560"/>
          </a:xfrm>
          <a:prstGeom prst="roundRect">
            <a:avLst>
              <a:gd name="adj" fmla="val 1429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099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HDFS — Distributed File System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storage layer of Hadoop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98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divided into blocks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block size is 128 MB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508760"/>
            <a:ext cx="5074920" cy="4480560"/>
          </a:xfrm>
          <a:prstGeom prst="roundRect">
            <a:avLst>
              <a:gd name="adj" fmla="val 1429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7099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MapReduce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6364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model for processing large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798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processes very large datasets across multiple machines in a cluster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Apache Spark?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is up to 100x faster than MapReduce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56232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is an alternative to Hadoop MapReduce — not to Hadoop itself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9514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is a distributed computing engine that processes data in parallel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73405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unified engine: one engine handles many types of data processing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21608"/>
            <a:ext cx="2354580" cy="1097280"/>
          </a:xfrm>
          <a:prstGeom prst="roundRect">
            <a:avLst>
              <a:gd name="adj" fmla="val 5833"/>
            </a:avLst>
          </a:prstGeom>
          <a:solidFill>
            <a:srgbClr val="121A2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58768"/>
            <a:ext cx="2354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3D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270248"/>
            <a:ext cx="2354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51860" y="3721608"/>
            <a:ext cx="2354580" cy="1097280"/>
          </a:xfrm>
          <a:prstGeom prst="roundRect">
            <a:avLst>
              <a:gd name="adj" fmla="val 5833"/>
            </a:avLst>
          </a:prstGeom>
          <a:solidFill>
            <a:srgbClr val="121A24"/>
          </a:solidFill>
          <a:ln/>
        </p:spPr>
      </p:sp>
      <p:sp>
        <p:nvSpPr>
          <p:cNvPr id="15" name="Text 13"/>
          <p:cNvSpPr/>
          <p:nvPr/>
        </p:nvSpPr>
        <p:spPr>
          <a:xfrm>
            <a:off x="3451860" y="3858768"/>
            <a:ext cx="2354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3D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SQL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51860" y="4270248"/>
            <a:ext cx="2354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3721608"/>
            <a:ext cx="2354580" cy="1097280"/>
          </a:xfrm>
          <a:prstGeom prst="roundRect">
            <a:avLst>
              <a:gd name="adj" fmla="val 5833"/>
            </a:avLst>
          </a:prstGeom>
          <a:solidFill>
            <a:srgbClr val="121A24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3858768"/>
            <a:ext cx="2354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3D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MLlib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4270248"/>
            <a:ext cx="2354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09660" y="3721608"/>
            <a:ext cx="2354580" cy="1097280"/>
          </a:xfrm>
          <a:prstGeom prst="roundRect">
            <a:avLst>
              <a:gd name="adj" fmla="val 5833"/>
            </a:avLst>
          </a:prstGeom>
          <a:solidFill>
            <a:srgbClr val="121A24"/>
          </a:solidFill>
          <a:ln/>
        </p:spPr>
      </p:sp>
      <p:sp>
        <p:nvSpPr>
          <p:cNvPr id="21" name="Text 19"/>
          <p:cNvSpPr/>
          <p:nvPr/>
        </p:nvSpPr>
        <p:spPr>
          <a:xfrm>
            <a:off x="8709660" y="3858768"/>
            <a:ext cx="2354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3D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09660" y="4270248"/>
            <a:ext cx="2354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processing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— </a:t>
            </a: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interconnected machines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1856232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— </a:t>
            </a: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machine in the cluster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295144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Manager — </a:t>
            </a: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cluster resources; decides which worker nodes have available CPU and memory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734056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— </a:t>
            </a: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"brain" of Spark; controls the whole application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317296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— </a:t>
            </a: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that performs the actual processing; runs executors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— </a:t>
            </a: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JVM process on a worker node that executes tasks, stores data in memory/disk, and returns results to the driver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40507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Driver Controls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471416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SparkSession · builds the execution plan · divides work into tasks · sends tasks to executors · collects the results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SparkSession vs SparkContext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SparkContext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connection between your program and the Spark cluster; mainly used for RDDs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 for DataFrames, Spark SQL, and reading CSV/JSON/Parquet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contains a SparkContext internally — you rarely create SparkContext directly in modern Spark code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21A24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627632"/>
            <a:ext cx="4983480" cy="4187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SparkContext (legacy, RDDs)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 import SparkContext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 = SparkContext(master="local[*]")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SparkSession (modern, DataFrames)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 import SparkSession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 = SparkSession.builder \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.appName("MySparkApp") \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.master("local[*]") \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.getOrCreate()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Transformations: Narrow vs Wide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74920" cy="4480560"/>
          </a:xfrm>
          <a:prstGeom prst="roundRect">
            <a:avLst>
              <a:gd name="adj" fmla="val 1429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099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Transformation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output partition depends on only one input partition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98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movement / shuffle needed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map(), filter(), union(), flatMap(), mapPartitions()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508760"/>
            <a:ext cx="5074920" cy="4480560"/>
          </a:xfrm>
          <a:prstGeom prst="roundRect">
            <a:avLst>
              <a:gd name="adj" fmla="val 1429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7099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 Transformation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6364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partition depends on multiple input partitions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798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shuffling data between partitions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31012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groupBy(), join(), distinct(), orderBy(), repartition()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Lazy Evaluation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doesn't execute code until an action is called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show(), collect(), count(), head(), first(), write.csv(), save()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lets Spark see the whole chain and optimize the plan, reducing unnecessary work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21A24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627632"/>
            <a:ext cx="4983480" cy="4187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df_f = df.filter(df.salary &gt; 4500)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 = df_f.select("name", "salary")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print("No execution yet!")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Action -&gt; triggers execution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df_s.show()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Catalyst Optimizer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optimization framework that makes SQL and DataFrame queries execute more efficiently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1856232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your code/query through several stages to produce an optimized execution plan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229514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71576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query execution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CPU and memory usage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593592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data read from storage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403250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45312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df.explain() </a:t>
            </a: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plan · df.explain(True) shows parsed, analyzed, optimized, and physical plans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RDDs — Resilient Distributed Datasets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of Apache Spark — its core data structure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1856232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immutable collection of data, with no schema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295144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— </a:t>
            </a: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fault-tolerant; if a partition is lost, Spark recomputes it using lineage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734056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— </a:t>
            </a: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spread across many executors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31729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DataFrame Instead of Raw RDD?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593592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RDDs have no schema, so Catalyst can't optimize them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032504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DataFrame API lets Spark generate the most efficient code itself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4471416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— </a:t>
            </a: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recorded history of transformations that lets Spark rebuild a lost RDD without replicating all the data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Job, Stage &amp; Task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— the highest execution unit; Spark creates one job every time an action is executed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— a job is divided into stages; a stage is a group of operations that run without a shuffle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414016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— the smallest execution unit; each task processes exactly one partition, on one executor core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07238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21A2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72384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E23D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of thumb:  Action → creates a Job   ·   Shuffle → creates a new Stage   ·   Partition → creates a Task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Submit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command-line tool used to launch a Spark application on local machines, standalone clusters, YARN, Kubernetes, or Mesos.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3383280"/>
          </a:xfrm>
          <a:prstGeom prst="roundRect">
            <a:avLst>
              <a:gd name="adj" fmla="val 2162"/>
            </a:avLst>
          </a:prstGeom>
          <a:solidFill>
            <a:srgbClr val="121A2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39112"/>
            <a:ext cx="1060704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spark-submit \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--master yarn \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--deploy-mode cluster \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--num-executors 10 \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--executor-cores 4 \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--executor-memory 8G \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--driver-memory 4G \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word_count.py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starts the driver -&gt; creates the SparkSession -&gt; connects to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cluster -&gt; requests executors -&gt; sends tasks -&gt; monitors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executors -&gt; stops the application when finished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Coalesce vs Repartition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74920" cy="4480560"/>
          </a:xfrm>
          <a:prstGeom prst="roundRect">
            <a:avLst>
              <a:gd name="adj" fmla="val 1429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099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repartition()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increase or decrease partitions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98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transformation — always shuffles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rebalancing before a join or aggregation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508760"/>
            <a:ext cx="5074920" cy="4480560"/>
          </a:xfrm>
          <a:prstGeom prst="roundRect">
            <a:avLst>
              <a:gd name="adj" fmla="val 1429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7099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coalesce()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6364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used to reduce partitions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798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transformation — no shuffle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31012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when you only need fewer partitions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Query 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2984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builds a plan, optimizes it, then executes — it never runs your code immediately.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Performs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Unresolved Logical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Parses the query; tables/columns not yet verified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Parser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 (Analyzed) Logical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Verifies tables/columns exist, resolves types, checks semantic 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Catalyst Analyzer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 Logical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Predicate pushdown, column pruning, constant folding, join optimization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Catalyst 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Chooses the actual execution strategy — scans, join algorithms — then executes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Planner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017520"/>
            <a:ext cx="4572000" cy="4572000"/>
          </a:xfrm>
          <a:prstGeom prst="ellipse">
            <a:avLst/>
          </a:prstGeom>
          <a:solidFill>
            <a:srgbClr val="E23D2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788920"/>
            <a:ext cx="640080" cy="73152"/>
          </a:xfrm>
          <a:prstGeom prst="rect">
            <a:avLst/>
          </a:prstGeom>
          <a:solidFill>
            <a:srgbClr val="E23D2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BANK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" y="292608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 Practice Questions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into 8 categories — from fundamentals to deployment — going beyond the core tutorial content above.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Fundamentals &amp; Ecosystem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Q1. Why is Spark preferred over MapReduce for iterative algorithms?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writes intermediate results to disk after every step, which is slow for iterative workloads like machine learning. Spark keeps intermediate data in memory across iterations, avoiding repeated disk I/O and making iterative jobs dramatically faster.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Q2. Is Spark a replacement for Hadoop?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1596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Spark replaces Hadoop's MapReduce processing engine, not Hadoop itself. Spark still commonly relies on HDFS for storage and YARN for cluster management — it's a processing engine that can run on top of Hadoop, standalone, or on Kubernetes.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Fundamentals &amp; Ecosystem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Q3. What are the main components of the Spark ecosystem?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Core (the engine), Spark SQL (structured data + Catalyst), Spark Structured Streaming (real-time processing), MLlib (machine learning), and GraphX (graph processing) — all built on the same core engine so they interoperate on the same DataFrame/RDD abstractions.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Q4. What is the difference between client and cluster deploy modes?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1596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client mode, the driver runs on the machine that submitted the job — useful for interactive work, but the driver dies if that machine disconnects. In cluster mode, the driver runs inside the cluster on a worker node, making it more resilient for production/scheduled jobs.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RDD vs DataFrame vs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Q5. What's the difference between RDD, DataFrame, and Dataset?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is the low-level, schema-less, immutable distributed collection — full control but no Catalyst optimization. DataFrame is organized into named columns with a schema, benefiting from Catalyst and Tungsten. Dataset (Scala/Java only) adds compile-time type safety; PySpark's DataFrame is effectively Dataset[Row].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Q6. When would you still use RDDs instead of DataFrames?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1596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fine-grained control over partitioning/physical execution, are working with unstructured data that doesn't fit a schema, or need custom low-level transformations the DataFrame API doesn't expose.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RDD vs DataFrame vs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4251960"/>
          </a:xfrm>
          <a:prstGeom prst="roundRect">
            <a:avLst>
              <a:gd name="adj" fmla="val 1505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Q7. What is Tungsten in Spark?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Tungsten is Spark's execution engine optimization initiative focused on CPU and memory efficiency — off-heap binary memory management, whole-stage code generation, and cache-aware computation — working alongside Catalyst to speed up DataFrame/Dataset execution.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Transformations, Actions &amp; Lazy Evaluation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Q8. Why does Spark use lazy evaluation instead of executing each line immediately?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Laziness lets Catalyst see the entire chain of transformations before running anything, so it can reorder operations, prune unused columns, combine steps, and avoid unnecessary computation — producing a globally optimized plan.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Q9. Give an example of an operation that is sometimes narrow and sometimes wide.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1596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followed by an aggregation is typically wide (requires a shuffle). However, if data is already partitioned/co-located by the grouping key, Spark can sometimes avoid a full shuffle for the aggregation.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Transformations, Actions &amp; Lazy Evaluation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Q10. What's the difference between cache() and persist()?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cache() is shorthand for persist() with the default storage level (MEMORY_AND_DISK in recent Spark). persist() lets you explicitly choose the storage level — e.g. MEMORY_ONLY, DISK_ONLY, or serialized variants.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Q11. Why should you call .cache() before reusing a DataFrame multiple times?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1596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caching, Spark recomputes the entire lineage from source every time an action is called. Caching materializes the result once so subsequent actions reuse it instead of re-reading and re-transforming from scratch.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 &amp; Shuffling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Q12. What is a broadcast join and when should you use it?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broadcast join sends a small DataFrame in full to every executor, avoiding a shuffle of the large table entirely. Ideal when one side fits in executor memory (spark.sql.autoBroadcastJoinThreshold defaults to 10MB).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Q13. What is a Sort-Merge Join?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1596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Spark's default strategy for joining two large DataFrames: both sides are shuffled so matching keys land on the same partition, each partition is sorted by the join key, and matching rows are merged.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 &amp; Shuffling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Q14. What is data skew and how do you handle it?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skew happens when certain keys have disproportionately more rows, causing straggler tasks. Fixes: salting the skewed key, broadcasting the smaller side of the join, or using Adaptive Query Execution (AQE).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Q15. What is Adaptive Query Execution (AQE)?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1596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Spark SQL feature that re-optimizes the query plan at runtime using actual shuffle statistics — it can coalesce shuffle partitions, switch to a broadcast join, and handle skewed joins automatically.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Partitioning &amp; Performance Tuning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Q16. How do you decide the right number of partitions?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rule of thumb is 2-3 tasks per CPU core across the cluster, with partition sizes around 100-200MB. Too few partitions under-utilizes the cluster; too many creates scheduling overhead from tiny tasks.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Q17. What is spark.sql.shuffle.partitions and why does its default matter?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1596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many partitions Spark uses after a shuffle in SQL/DataFrame operations — default is 200. Too many for small data creates overhead; too few for large data limits parallelism. AQE can auto-tune this.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Partitioning &amp; Performance Tuning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Q18. What is predicate pushdown?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optimization where Catalyst pushes filter conditions as close to the data source as possible, so only matching rows are actually read from disk — reducing I/O rather than reading everything and filtering in memory.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Q19. Why is Parquet generally preferred over CSV for large-scale Spark workloads?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1596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is columnar, compressed, and has an embedded schema and statistics, enabling column pruning and predicate pushdown. CSV is row-based, uncompressed, and schema-less — Spark must infer types and read entire rows.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Partitioning &amp; Performance Tuning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4251960"/>
          </a:xfrm>
          <a:prstGeom prst="roundRect">
            <a:avLst>
              <a:gd name="adj" fmla="val 1505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Q20. repartition(n, col) vs write.partitionBy(col) — what's the difference?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repartition(col) redistributes data across in-memory partitions for the current job. write.partitionBy(col) writes separate folders per distinct value on disk, letting future reads skip entire folders when filtering (partition pruning).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Tolerance &amp; Execution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Q21. How does Spark recover from a lost executor or partition?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tracks lineage — the DAG of transformations — for every RDD/DataFrame. If a partition is lost, Spark recomputes just that partition from its original source or last checkpoint, without restarting the whole job.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Q22. What is checkpointing, and how is it different from caching?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1596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 writes data to reliable storage and truncates lineage, so recovery doesn't replay a long chain. Caching keeps data in memory/disk but keeps the full lineage — a lost cached partition is recomputed, a checkpointed one is re-read.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Tolerance &amp; Execution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4251960"/>
          </a:xfrm>
          <a:prstGeom prst="roundRect">
            <a:avLst>
              <a:gd name="adj" fmla="val 1505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Q23. What happens if the driver fails?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holds the SparkContext and application state, so if it fails the whole application typically fails — unless running in cluster mode with supervision, where the cluster manager can restart it. Executor failures, by contrast, Spark recovers automatically via lineage.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SQL &amp; Catalyst Internals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Q24. Walk through what happens when you run df.explain(True).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prints four plans in sequence: the parsed/unresolved logical plan, the analyzed logical plan (columns/types validated), the optimized logical plan (Catalyst rules applied), and the final physical plan (concrete join/scan strategies).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Q25. What is column pruning?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1596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optimization where Catalyst removes columns that are never referenced downstream, so Spark only reads the columns it actually needs — especially impactful with columnar formats like Parquet.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SQL &amp; Catalyst Internals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Q26. Why can a user-defined function (UDF) hurt performance vs built-in functions?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functions run inside the JVM/Tungsten engine and are visible to Catalyst, which can optimize around them. Python UDFs require serializing data row-by-row out to a Python process (unless vectorized), adding overhead and blocking optimizations.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Q27. What is a Pandas UDF (vectorized UDF) and why is it faster?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1596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Pandas UDF operates on batches of rows as Pandas Series/DataFrames using Apache Arrow for efficient data transfer, instead of row-by-row serialization — significantly reducing overhead vs a traditional Python UDF.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Cluster Managers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Q28. What cluster managers can Spark run on?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Spark's own Standalone manager, Hadoop YARN, Kubernetes, and historically Apache Mesos. The cluster manager allocates resources — deciding which nodes have available CPU/memory — while Spark schedules tasks within those resources.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Q29. --num-executors vs --executor-cores vs --executor-memory?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1596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--num-executors sets how many executor processes launch, --executor-cores sets cores (and concurrent tasks) per executor, and --executor-memory sets the JVM heap per executor. Together they determine total parallelism and memory budget.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Cluster Managers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4251960"/>
          </a:xfrm>
          <a:prstGeom prst="roundRect">
            <a:avLst>
              <a:gd name="adj" fmla="val 1505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Q30. What is dynamic allocation in Spark?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that scales the number of executors up or down automatically during a job based on workload, instead of a fixed number set at submit time — useful for shared clusters with uneven resource needs over a job's lifetime.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Rapid-Fire / Conceptual Traps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Q31. True or false: calling .filter() immediately scans and filters the data.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False. .filter() is a transformation — it only builds up the logical plan. Nothing runs until an action like .show() or .count() is called.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638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Q32. Does repartition() always cause a shuffle, even to reduce partitions?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58444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repartition() is always a wide transformation that triggers a full shuffle, regardless of direction. To reduce partitions without a shuffle, use coalesce() instead.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7640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Q33. How many Spark jobs does df.count(); df.show() trigger?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18464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jobs — each action triggers its own job, and by default Spark recomputes the DataFrame's transformations from scratch for each one unless it was cached beforehand.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19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Rapid-Fire / Conceptual Traps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BANK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636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Q34. Is an RDD mutable once created?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RDDs are immutable — any transformation produces a brand-new RDD rather than modifying the original. This immutability is central to how Spark achieves fault tolerance through lineage.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Q35. Does a narrow transformation ever start a new stage?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1596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Narrow transformations (map, filter, union, etc.) never require a shuffle, so they're pipelined into the current stage. Only a wide transformation creates a new stage boundary.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19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017520"/>
            <a:ext cx="4572000" cy="4572000"/>
          </a:xfrm>
          <a:prstGeom prst="ellipse">
            <a:avLst/>
          </a:prstGeom>
          <a:solidFill>
            <a:srgbClr val="E23D2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788920"/>
            <a:ext cx="640080" cy="73152"/>
          </a:xfrm>
          <a:prstGeom prst="rect">
            <a:avLst/>
          </a:prstGeom>
          <a:solidFill>
            <a:srgbClr val="E23D2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" y="292608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 Transformations — Foundations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data, defining schemas, and the core row/column transformations you'll use in almost every pipeline.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is the heart of Apache Spark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1856232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is the Python API for Apache Spark — it enables real-time, large-scale data processing in a distributed environment using Python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295144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supports all of Spark's features: Spark SQL, DataFrames, Structured Streaming, MLlib, pipelines, and Spark Core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734056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Pandas API is enabled on top of Spark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31729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Environment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593592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practiced and run on Databricks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1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Reading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header=True treats row 1 as column names · inferSchema=True auto-detects data types · load refers to the dataset path.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121A2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39112"/>
            <a:ext cx="1060704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spark.read.format("csv") \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.option("header", True) \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.option("inferSchema", True) \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.load("/path/gold.dim_customers.csv")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JSON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spark.read.format("json") \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.option("multiline", True).load("data.json")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Parquet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spark.read.format("parquet").load("customers.parquet")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JDBC (MySQL / Postgres / SQL Server / Oracle)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spark.read.jdbc(url=my_url, table="orders", properties=conn)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df.show()          </a:t>
            </a:r>
            <a:r>
              <a:rPr lang="en-US" sz="115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20 rows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df.printSchema()   </a:t>
            </a:r>
            <a:r>
              <a:rPr lang="en-US" sz="115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column names, types, nullability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2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Malformed Records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2984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Spark does when data doesn't match the expected schema (missing fields, invalid types, corruption).</a:t>
            </a:r>
            <a:endParaRPr lang="en-US" sz="12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PERMISSIVE (default)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fields become null; processing continues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production ETL pipelines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DROPMALFORMED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Malformed rows are discarded entirely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bad records can be safely ignored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fails on the very first malformed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data validation and quality enforcement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badRecordsPath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malformed records to a separate 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Auditing and debugging data quality issues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Schema for Raw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specifying column names, types, and nullability before reading — instead of letting Spark infer them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doesn't need to scan the data to guess types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quality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expected types, detects invalid records early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stays the same on every read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21A24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627632"/>
            <a:ext cx="4983480" cy="4187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pyspark.sql.types import *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= StructType([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StructField("customer_id", IntegerType(), False),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StructField("name", StringType(), True),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StructField("age", IntegerType(), True),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StructField("salary", DoubleType(), True)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spark.read.schema(schema) \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.option("header", True).csv("customers.csv")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4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Transformation &amp; Alias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select() chooses specific columns; it can also rename columns, create new ones from expressions, and run calculations. An alias is a temporary name for the current query only.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3017520"/>
          </a:xfrm>
          <a:prstGeom prst="roundRect">
            <a:avLst>
              <a:gd name="adj" fmla="val 2424"/>
            </a:avLst>
          </a:prstGeom>
          <a:solidFill>
            <a:srgbClr val="121A2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39112"/>
            <a:ext cx="1060704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Select one or more columns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df.select("name", "salary").show()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Select all columns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df.select("*").show()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Alias — temporary name for a column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df.select(col("salary").alias("employee_salary")).show()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Transformation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the rows that satisfy a condition. It's a lazy, narrow transformation — no shuffle, and nothing executes until an action is called.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121A2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39112"/>
            <a:ext cx="1060704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df.filter(df.age &gt; 30).show()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df.filter(col("salary").isNull()).show()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df.filter((df.age &lt; 30) | (df.salary &gt; 7500)).show()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df.filter((df.age &gt; 30) &amp; (df.salary &gt;= 7000)).show()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df.filter(col("department").isin("IT", "HR")).show()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withColumn(), withColumnRenamed() &amp; lit()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withColumn() adds or replaces a column · withColumnRenamed() renames a column · lit() creates a column holding a constant value for every row. All are lazy transformations.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3566160"/>
          </a:xfrm>
          <a:prstGeom prst="roundRect">
            <a:avLst>
              <a:gd name="adj" fmla="val 2051"/>
            </a:avLst>
          </a:prstGeom>
          <a:solidFill>
            <a:srgbClr val="121A2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39112"/>
            <a:ext cx="10607040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withColumn — add / replace a column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df.withColumn("bonus", col("salary") * 0.10)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df.withColumn("salary", col("salary").cast("double"))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withColumnRenamed — rename a column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df.withColumnRenamed("fname", "first_name")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lit — constant value for every row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df.withColumn("country", lit("Egypt"))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df.withColumn("is_active", lit(True))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7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&amp; Numeric Functions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regexp_replace() edits text with a regex · concat_ws() joins strings with a separator and skips nulls · round() rounds numeric values.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121A2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39112"/>
            <a:ext cx="1060704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 all hyphens from a phone number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df.withColumn("phone", regexp_replace(col("phone"), "-", ""))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Join first + last name with a space, skipping nulls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df.withColumn("full_name", concat_ws(" ", "first_name", "last_name"))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Round to 2 decimal places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df.withColumn("price", round(col("price"), 2))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8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Casting Transformation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2984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 column from one data type to another — common after reading from CSV/JSON, where columns default to StringType.</a:t>
            </a:r>
            <a:endParaRPr lang="en-US" sz="125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"string"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"int" / "integer"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"long"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"double" / "float"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/ floating-point 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"boolean"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or 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"date" / "timestamp"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or date and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"decimal(10,2)"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Fixed-precision decimal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9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a DataFrame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and orderBy() are equivalent — both sort ascending or descending on one or more columns.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121A2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39112"/>
            <a:ext cx="1060704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df.sort("salary").show()                    </a:t>
            </a: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ascending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df.sort(col("salary").desc()).show()         </a:t>
            </a: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descending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df.sort("salary", "name").show()             </a:t>
            </a: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multi-column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df.sort(col("salary").desc(), col("name").asc()).show()  </a:t>
            </a: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mixed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df.orderBy("salary").show()                  </a:t>
            </a: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as sort()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10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limit()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74920" cy="4480560"/>
          </a:xfrm>
          <a:prstGeom prst="roundRect">
            <a:avLst>
              <a:gd name="adj" fmla="val 1429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099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first N rows of a DataFrame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98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used to preview a dataset or test queries on a small sample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1508760"/>
            <a:ext cx="5074920" cy="4480560"/>
          </a:xfrm>
          <a:prstGeom prst="roundRect">
            <a:avLst>
              <a:gd name="adj" fmla="val 1429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7099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6364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df.limit(3).show() — first 3 rows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2798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df.orderBy(col("salary").desc()).limit(3).show() — top 3 salaries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11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drop() &amp; dropDuplicates()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drop()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one or more columns (not rows)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dropDuplicates()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 rows, keeping one occurrence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duplicates based on specific columns only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subset, PySpark keeps an arbitrary row per unique value; use a window function to keep the latest/highest instead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21A24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627632"/>
            <a:ext cx="4983480" cy="4187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 columns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df.drop("age")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df.drop("id", "age")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 all duplicate rows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df.dropDuplicates()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Duplicates on a subset of columns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df.dropDuplicates(["id"])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12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union() &amp; unionByName()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74920" cy="4480560"/>
          </a:xfrm>
          <a:prstGeom prst="roundRect">
            <a:avLst>
              <a:gd name="adj" fmla="val 1429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099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union()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rows by column position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98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count, order &amp; types must match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remove duplicates — use distinct()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508760"/>
            <a:ext cx="5074920" cy="4480560"/>
          </a:xfrm>
          <a:prstGeom prst="roundRect">
            <a:avLst>
              <a:gd name="adj" fmla="val 1429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7099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unionByName()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6364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rows by column name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798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order doesn't matter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31012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&amp; types must still be compatible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13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&amp; Timestamp Functions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current_date() / current_timestamp()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date / current date and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to_date() / to_timestamp()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a string to DateType / TimestampType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date_format()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a date or timestamp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datediff() / months_between()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between two dates, in days /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date_add() / date_sub() / add_months()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or subtract days /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year(), month(), dayofmonth(), dayofweek()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individual date parts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last_day() / next_day()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day of the month / next occurrence of a weekday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14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017520"/>
            <a:ext cx="4572000" cy="4572000"/>
          </a:xfrm>
          <a:prstGeom prst="ellipse">
            <a:avLst/>
          </a:prstGeom>
          <a:solidFill>
            <a:srgbClr val="E23D2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788920"/>
            <a:ext cx="640080" cy="73152"/>
          </a:xfrm>
          <a:prstGeom prst="rect">
            <a:avLst/>
          </a:prstGeom>
          <a:solidFill>
            <a:srgbClr val="E23D2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" y="292608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 Transformations — Advanced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and numeric functions, arrays, grouping and pivoting, joins, window functions, UDFs, and writing data — including Delta.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Functions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PySpark's built-in text-cleaning toolkit: case &amp; whitespace, combining &amp; extracting, pattern matching, and boolean checks.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121A2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39112"/>
            <a:ext cx="1060704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Case &amp; whitespace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df.select(upper("name"), lower("name"), initcap("name"), trim("name"))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Combining &amp; extracting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df.select(concat_ws(" ", "first_name", "last_name").alias("full_name"))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df.select(substring("name", 1, 4), split("email", "@"))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matching &amp; replacement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df.select(regexp_replace("phone", "-", ""), instr("email", "@"))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Boolean checks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df.filter(col("email").contains("gmail"))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df.filter(col("name").like("J%"))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1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NULLs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 / isNotNull()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null / non-null values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 with nulls (whole row, a subset, or only if all null)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fillna()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nulls with a default value, per-column if needed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coalesce()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first non-null value across columns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when missing rows aren't useful, fillna() to preserve rows, coalesce() to combine columns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21A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627632"/>
            <a:ext cx="4983480" cy="4187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df.dropna(subset=["salary"])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df.fillna({"salary": 0, "city": "Unknown"})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df.select(coalesce("phone", "mobile").alias("contact"))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2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Functions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round() / bround()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to N decimals (bround = round half to even)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ceil() / floor()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up / down to the nearest 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greatest() / least()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/ smallest value across multiple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sqrt() / pow()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 root / raise to a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random values (testing / sample data)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3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&amp; Indexing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split() divides a string into an array on a pattern; square-bracket indexing accesses a specific element.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3566160"/>
          </a:xfrm>
          <a:prstGeom prst="roundRect">
            <a:avLst>
              <a:gd name="adj" fmla="val 2051"/>
            </a:avLst>
          </a:prstGeom>
          <a:solidFill>
            <a:srgbClr val="121A2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39112"/>
            <a:ext cx="10607040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df.withColumn("name_array", split("full_name", " "))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array elements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(df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.withColumn("first_name", split("full_name", " ")[0])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.withColumn("last_name",  split("full_name", " ")[1]))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username &amp; domain from an email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(df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.withColumn("username", split("email", "@")[0])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.withColumn("domain",   split("email", "@")[1]))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4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Arrays: explode() &amp; array_contains()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explode()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each array element (or map entry) into its own row — one row per value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array_contains()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an array column contains a value; returns a Boolean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a customer bought a product, find users with a skill, filter on values inside an array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 —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array_contains() only works on array columns — split() a delimited string first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21A24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627632"/>
            <a:ext cx="4983480" cy="4187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df.select("employee_id", explode("skills").alias("skill"))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df.select("name", array_contains("skills", "Python"))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df.filter(array_contains("skills", "Python")).show()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5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 &amp; Aggregations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groups rows sharing a value, usually followed by count(), sum(), avg(), min(), or max().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3383280"/>
          </a:xfrm>
          <a:prstGeom prst="roundRect">
            <a:avLst>
              <a:gd name="adj" fmla="val 2162"/>
            </a:avLst>
          </a:prstGeom>
          <a:solidFill>
            <a:srgbClr val="121A2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39112"/>
            <a:ext cx="1060704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df.groupBy("department").agg(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count("*").alias("employees"),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sum("salary").alias("total_salary"),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avg("salary").alias("avg_salary"),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max("salary").alias("highest_salary")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).show()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count() vs countDistinct() vs approx_count_distinct()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df.select(count("city"), countDistinct("city"))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6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collect_list() &amp; collect_set()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74920" cy="4480560"/>
          </a:xfrm>
          <a:prstGeom prst="roundRect">
            <a:avLst>
              <a:gd name="adj" fmla="val 1429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099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collect_list()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all values from a column into an array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98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duplicate values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not guaranteed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508760"/>
            <a:ext cx="5074920" cy="4480560"/>
          </a:xfrm>
          <a:prstGeom prst="roundRect">
            <a:avLst>
              <a:gd name="adj" fmla="val 1429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7099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collect_set()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6364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the unique values into an array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798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31012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not guaranteed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7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pivot()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row values into columns — like an Excel pivot table. Read it as: groupBy() defines the rows, pivot() creates new columns from distinct values, agg() calculates each cell.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3108960"/>
          </a:xfrm>
          <a:prstGeom prst="roundRect">
            <a:avLst>
              <a:gd name="adj" fmla="val 2353"/>
            </a:avLst>
          </a:prstGeom>
          <a:solidFill>
            <a:srgbClr val="121A2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39112"/>
            <a:ext cx="10607040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df.groupBy("region") \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.pivot("product") \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.agg(sum("sales")) \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.show()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Employees hired per year, per department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customers.withColumn("year", year("hire_date")) \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.groupBy("year").pivot("department").agg(count("*")).show()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8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when() / otherwise()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columns — like IF...ELSE or SQL's CASE WHEN. Chain multiple when() calls before a single otherwise(); unmatched rows get NULL if otherwise() is omitted.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121A2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39112"/>
            <a:ext cx="1060704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df.withColumn("salary_level",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when(df.salary &gt;= 7000, "High").otherwise("Low"))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df.withColumn("category",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when(df.age &lt; 18, "Child")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.when(df.age &lt; 60, "Adult")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.otherwise("Senior"))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9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2984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df1.join(df2, join_condition, join_type) — combines rows from two DataFrames on a common column or condition.</a:t>
            </a:r>
            <a:endParaRPr lang="en-US" sz="125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rows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/ right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rows from that side + matching rows from the other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(full)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rows from both DataFrames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left_semi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matching rows from the left DataFrame (no right columns)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left_anti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non-matching rows from the left DataFrame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combination of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10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Functions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across a group of rows without collapsing them. Unlike groupBy(), every original row is kept — need one row per group? use groupBy(). Need to keep every row? use a window function.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3840480"/>
          </a:xfrm>
          <a:prstGeom prst="roundRect">
            <a:avLst>
              <a:gd name="adj" fmla="val 1905"/>
            </a:avLst>
          </a:prstGeom>
          <a:solidFill>
            <a:srgbClr val="121A2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39112"/>
            <a:ext cx="1060704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pyspark.sql.window import Window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Window.partitionBy("department").orderBy("salary")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df.withColumn("rank", rank().over(w))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df.withColumn("prev_salary", lag("salary", 1).over(w))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Running total (cumulative sum)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w2 = Window.orderBy("employee_id") \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.rowsBetween(Window.unboundedPreceding, Window.currentRow)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df.withColumn("cumulative_salary", sum("salary").over(w2))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11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UDF &amp; UDTF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74920" cy="4480560"/>
          </a:xfrm>
          <a:prstGeom prst="roundRect">
            <a:avLst>
              <a:gd name="adj" fmla="val 1429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099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User-Defined Function (UDF)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your own Python function to a column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98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one value per row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built-in functions when possible — they're Catalyst-optimized and faster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508760"/>
            <a:ext cx="5074920" cy="4480560"/>
          </a:xfrm>
          <a:prstGeom prst="roundRect">
            <a:avLst>
              <a:gd name="adj" fmla="val 1429"/>
            </a:avLst>
          </a:prstGeom>
          <a:solidFill>
            <a:srgbClr val="F2F3F6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7099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2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User-Defined Table Function (UDTF)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6364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multiple rows and/or columns per input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798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 split text into rows, expand arrays, or flatten nested JSON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31012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skills "Python,SQL,Spark" -&gt; one row per skill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12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Writing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2984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df.write.mode("overwrite").parquet("output/employees") — the write mode works the same across CSV, Parquet, JSON, ORC, Hive tables, and JDBC.</a:t>
            </a:r>
            <a:endParaRPr lang="en-US" sz="125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2E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new data; keeps old data and adds new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overwrite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existing data — deletes old data 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nothing if output already exists; old data is kept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(default)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Throws an exception if the output already exists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13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E23D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48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 Format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25535" y="566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2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INTERVIEW PREP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is an open table format built on top of Parquet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Delta table = Parquet files (the actual data) + a _delta_log folder (transaction logs, metadata, schema, version history)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414016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log enables ACID transactions, time travel, UPDATE, DELETE, MERGE, and schema enforcement/evolution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889504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df.write.format("delta").mode("overwrite").save(path)  ·  spark.read.format("delta").load(path)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54787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21A2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47872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E23D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matters: Delta is the backbone of modern medallion (bronze / silver / gold) data-lake architectures.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14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5486400" cy="5486400"/>
          </a:xfrm>
          <a:prstGeom prst="ellipse">
            <a:avLst/>
          </a:prstGeom>
          <a:solidFill>
            <a:srgbClr val="E23D2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READY.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&amp; HDFS · Spark Architecture · RDDs &amp; DataFrames · Catalyst &amp; Tungsten · Joins &amp; Windows · 50+ interview questions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Basics · PySpark Transformations — Interview Prep Reference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6605</Words>
  <Application>Microsoft Office PowerPoint</Application>
  <PresentationFormat>Widescreen</PresentationFormat>
  <Paragraphs>824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Nady</cp:lastModifiedBy>
  <cp:revision>2</cp:revision>
  <dcterms:created xsi:type="dcterms:W3CDTF">2026-08-16T21:42:24Z</dcterms:created>
  <dcterms:modified xsi:type="dcterms:W3CDTF">2026-08-17T07:45:21Z</dcterms:modified>
</cp:coreProperties>
</file>